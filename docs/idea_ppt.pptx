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Lst>
  <p:sldSz cx="18288000" cy="10287000"/>
  <p:notesSz cx="6858000" cy="9144000"/>
  <p:embeddedFontLst>
    <p:embeddedFont>
      <p:font typeface="DM Serif Display" pitchFamily="2" charset="0"/>
      <p:regular r:id="rId9"/>
    </p:embeddedFont>
    <p:embeddedFont>
      <p:font typeface="Mokoto" panose="020B0604020202020204" charset="0"/>
      <p:regular r:id="rId10"/>
    </p:embeddedFont>
    <p:embeddedFont>
      <p:font typeface="Nunito" pitchFamily="2" charset="0"/>
      <p:regular r:id="rId11"/>
    </p:embeddedFont>
    <p:embeddedFont>
      <p:font typeface="Nunito Bold" panose="020B0604020202020204" charset="0"/>
      <p:regular r:id="rId12"/>
    </p:embeddedFont>
    <p:embeddedFont>
      <p:font typeface="Nunito Light" pitchFamily="2" charset="0"/>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8" d="100"/>
          <a:sy n="58" d="100"/>
        </p:scale>
        <p:origin x="514"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5.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4.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7.xml"/><Relationship Id="rId4" Type="http://schemas.openxmlformats.org/officeDocument/2006/relationships/image" Target="../media/image9.jpeg"/></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0157401" cy="1819117"/>
            <a:chOff x="0" y="0"/>
            <a:chExt cx="3435960" cy="615356"/>
          </a:xfrm>
        </p:grpSpPr>
        <p:sp>
          <p:nvSpPr>
            <p:cNvPr id="3" name="Freeform 3"/>
            <p:cNvSpPr/>
            <p:nvPr/>
          </p:nvSpPr>
          <p:spPr>
            <a:xfrm>
              <a:off x="0" y="0"/>
              <a:ext cx="3435960" cy="615356"/>
            </a:xfrm>
            <a:custGeom>
              <a:avLst/>
              <a:gdLst/>
              <a:ahLst/>
              <a:cxnLst/>
              <a:rect l="l" t="t" r="r" b="b"/>
              <a:pathLst>
                <a:path w="3435960" h="615356">
                  <a:moveTo>
                    <a:pt x="0" y="0"/>
                  </a:moveTo>
                  <a:lnTo>
                    <a:pt x="3435960" y="0"/>
                  </a:lnTo>
                  <a:lnTo>
                    <a:pt x="3435960" y="615356"/>
                  </a:lnTo>
                  <a:lnTo>
                    <a:pt x="0" y="615356"/>
                  </a:lnTo>
                  <a:close/>
                </a:path>
              </a:pathLst>
            </a:custGeom>
            <a:solidFill>
              <a:srgbClr val="F6F6F6"/>
            </a:solidFill>
          </p:spPr>
        </p:sp>
      </p:grpSp>
      <p:sp>
        <p:nvSpPr>
          <p:cNvPr id="4" name="AutoShape 4"/>
          <p:cNvSpPr/>
          <p:nvPr/>
        </p:nvSpPr>
        <p:spPr>
          <a:xfrm>
            <a:off x="10157401" y="9258300"/>
            <a:ext cx="8130599" cy="0"/>
          </a:xfrm>
          <a:prstGeom prst="line">
            <a:avLst/>
          </a:prstGeom>
          <a:ln w="9525" cap="flat">
            <a:solidFill>
              <a:srgbClr val="EBEBEB"/>
            </a:solidFill>
            <a:prstDash val="solid"/>
            <a:headEnd type="none" w="sm" len="sm"/>
            <a:tailEnd type="none" w="sm" len="sm"/>
          </a:ln>
        </p:spPr>
      </p:sp>
      <p:sp>
        <p:nvSpPr>
          <p:cNvPr id="5" name="Freeform 5"/>
          <p:cNvSpPr/>
          <p:nvPr/>
        </p:nvSpPr>
        <p:spPr>
          <a:xfrm>
            <a:off x="0" y="3265174"/>
            <a:ext cx="3611776" cy="3780084"/>
          </a:xfrm>
          <a:custGeom>
            <a:avLst/>
            <a:gdLst/>
            <a:ahLst/>
            <a:cxnLst/>
            <a:rect l="l" t="t" r="r" b="b"/>
            <a:pathLst>
              <a:path w="3611776" h="3780084">
                <a:moveTo>
                  <a:pt x="0" y="0"/>
                </a:moveTo>
                <a:lnTo>
                  <a:pt x="3611776" y="0"/>
                </a:lnTo>
                <a:lnTo>
                  <a:pt x="3611776" y="3780085"/>
                </a:lnTo>
                <a:lnTo>
                  <a:pt x="0" y="3780085"/>
                </a:lnTo>
                <a:lnTo>
                  <a:pt x="0" y="0"/>
                </a:lnTo>
                <a:close/>
              </a:path>
            </a:pathLst>
          </a:custGeom>
          <a:blipFill>
            <a:blip r:embed="rId2"/>
            <a:stretch>
              <a:fillRect l="-31856" t="-28490" r="-31790" b="-27870"/>
            </a:stretch>
          </a:blipFill>
        </p:spPr>
      </p:sp>
      <p:grpSp>
        <p:nvGrpSpPr>
          <p:cNvPr id="6" name="Group 6"/>
          <p:cNvGrpSpPr/>
          <p:nvPr/>
        </p:nvGrpSpPr>
        <p:grpSpPr>
          <a:xfrm>
            <a:off x="10157401" y="0"/>
            <a:ext cx="8130599" cy="10287000"/>
            <a:chOff x="0" y="0"/>
            <a:chExt cx="1259642" cy="1593725"/>
          </a:xfrm>
        </p:grpSpPr>
        <p:sp>
          <p:nvSpPr>
            <p:cNvPr id="7" name="Freeform 7"/>
            <p:cNvSpPr/>
            <p:nvPr/>
          </p:nvSpPr>
          <p:spPr>
            <a:xfrm>
              <a:off x="0" y="0"/>
              <a:ext cx="1259642" cy="1593725"/>
            </a:xfrm>
            <a:custGeom>
              <a:avLst/>
              <a:gdLst/>
              <a:ahLst/>
              <a:cxnLst/>
              <a:rect l="l" t="t" r="r" b="b"/>
              <a:pathLst>
                <a:path w="1259642" h="1593725">
                  <a:moveTo>
                    <a:pt x="0" y="0"/>
                  </a:moveTo>
                  <a:lnTo>
                    <a:pt x="1259642" y="0"/>
                  </a:lnTo>
                  <a:lnTo>
                    <a:pt x="1259642" y="1593725"/>
                  </a:lnTo>
                  <a:lnTo>
                    <a:pt x="0" y="1593725"/>
                  </a:lnTo>
                  <a:close/>
                </a:path>
              </a:pathLst>
            </a:custGeom>
            <a:blipFill>
              <a:blip r:embed="rId3"/>
              <a:stretch>
                <a:fillRect l="-54749" r="-35151"/>
              </a:stretch>
            </a:blipFill>
          </p:spPr>
        </p:sp>
      </p:grpSp>
      <p:sp>
        <p:nvSpPr>
          <p:cNvPr id="8" name="TextBox 8"/>
          <p:cNvSpPr txBox="1"/>
          <p:nvPr/>
        </p:nvSpPr>
        <p:spPr>
          <a:xfrm>
            <a:off x="3611776" y="4179730"/>
            <a:ext cx="7213967" cy="2458088"/>
          </a:xfrm>
          <a:prstGeom prst="rect">
            <a:avLst/>
          </a:prstGeom>
        </p:spPr>
        <p:txBody>
          <a:bodyPr lIns="0" tIns="0" rIns="0" bIns="0" rtlCol="0" anchor="t">
            <a:spAutoFit/>
          </a:bodyPr>
          <a:lstStyle/>
          <a:p>
            <a:pPr>
              <a:lnSpc>
                <a:spcPts val="9400"/>
              </a:lnSpc>
            </a:pPr>
            <a:r>
              <a:rPr lang="en-US" sz="9400">
                <a:solidFill>
                  <a:srgbClr val="2D2D2D"/>
                </a:solidFill>
                <a:latin typeface="Mokoto"/>
              </a:rPr>
              <a:t>FABRIC    FUSION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3540634" cy="10287000"/>
            <a:chOff x="0" y="0"/>
            <a:chExt cx="1197696" cy="3479800"/>
          </a:xfrm>
        </p:grpSpPr>
        <p:sp>
          <p:nvSpPr>
            <p:cNvPr id="3" name="Freeform 3"/>
            <p:cNvSpPr/>
            <p:nvPr/>
          </p:nvSpPr>
          <p:spPr>
            <a:xfrm>
              <a:off x="0" y="0"/>
              <a:ext cx="1197696" cy="3479800"/>
            </a:xfrm>
            <a:custGeom>
              <a:avLst/>
              <a:gdLst/>
              <a:ahLst/>
              <a:cxnLst/>
              <a:rect l="l" t="t" r="r" b="b"/>
              <a:pathLst>
                <a:path w="1197696" h="3479800">
                  <a:moveTo>
                    <a:pt x="0" y="0"/>
                  </a:moveTo>
                  <a:lnTo>
                    <a:pt x="1197696" y="0"/>
                  </a:lnTo>
                  <a:lnTo>
                    <a:pt x="1197696" y="3479800"/>
                  </a:lnTo>
                  <a:lnTo>
                    <a:pt x="0" y="3479800"/>
                  </a:lnTo>
                  <a:close/>
                </a:path>
              </a:pathLst>
            </a:custGeom>
            <a:solidFill>
              <a:srgbClr val="F6F6F6"/>
            </a:solidFill>
          </p:spPr>
        </p:sp>
      </p:grpSp>
      <p:grpSp>
        <p:nvGrpSpPr>
          <p:cNvPr id="4" name="Group 4"/>
          <p:cNvGrpSpPr/>
          <p:nvPr/>
        </p:nvGrpSpPr>
        <p:grpSpPr>
          <a:xfrm>
            <a:off x="0" y="0"/>
            <a:ext cx="3540634" cy="10287000"/>
            <a:chOff x="0" y="0"/>
            <a:chExt cx="548537" cy="1593725"/>
          </a:xfrm>
        </p:grpSpPr>
        <p:sp>
          <p:nvSpPr>
            <p:cNvPr id="5" name="Freeform 5"/>
            <p:cNvSpPr/>
            <p:nvPr/>
          </p:nvSpPr>
          <p:spPr>
            <a:xfrm>
              <a:off x="0" y="0"/>
              <a:ext cx="548537" cy="1593725"/>
            </a:xfrm>
            <a:custGeom>
              <a:avLst/>
              <a:gdLst/>
              <a:ahLst/>
              <a:cxnLst/>
              <a:rect l="l" t="t" r="r" b="b"/>
              <a:pathLst>
                <a:path w="548537" h="1593725">
                  <a:moveTo>
                    <a:pt x="0" y="0"/>
                  </a:moveTo>
                  <a:lnTo>
                    <a:pt x="548537" y="0"/>
                  </a:lnTo>
                  <a:lnTo>
                    <a:pt x="548537" y="1593725"/>
                  </a:lnTo>
                  <a:lnTo>
                    <a:pt x="0" y="1593725"/>
                  </a:lnTo>
                  <a:close/>
                </a:path>
              </a:pathLst>
            </a:custGeom>
            <a:blipFill>
              <a:blip r:embed="rId2"/>
              <a:stretch>
                <a:fillRect l="-244814" r="-91269"/>
              </a:stretch>
            </a:blipFill>
          </p:spPr>
        </p:sp>
      </p:grpSp>
      <p:sp>
        <p:nvSpPr>
          <p:cNvPr id="6" name="TextBox 6"/>
          <p:cNvSpPr txBox="1"/>
          <p:nvPr/>
        </p:nvSpPr>
        <p:spPr>
          <a:xfrm>
            <a:off x="4310151" y="1282725"/>
            <a:ext cx="6848808" cy="821055"/>
          </a:xfrm>
          <a:prstGeom prst="rect">
            <a:avLst/>
          </a:prstGeom>
        </p:spPr>
        <p:txBody>
          <a:bodyPr lIns="0" tIns="0" rIns="0" bIns="0" rtlCol="0" anchor="t">
            <a:spAutoFit/>
          </a:bodyPr>
          <a:lstStyle/>
          <a:p>
            <a:pPr>
              <a:lnSpc>
                <a:spcPts val="6719"/>
              </a:lnSpc>
            </a:pPr>
            <a:r>
              <a:rPr lang="en-US" sz="4800">
                <a:solidFill>
                  <a:srgbClr val="2D2D2D"/>
                </a:solidFill>
                <a:latin typeface="DM Serif Display Bold"/>
              </a:rPr>
              <a:t>Venture Description</a:t>
            </a:r>
          </a:p>
        </p:txBody>
      </p:sp>
      <p:sp>
        <p:nvSpPr>
          <p:cNvPr id="7" name="TextBox 7"/>
          <p:cNvSpPr txBox="1"/>
          <p:nvPr/>
        </p:nvSpPr>
        <p:spPr>
          <a:xfrm>
            <a:off x="5249476" y="3231077"/>
            <a:ext cx="9762595" cy="3112770"/>
          </a:xfrm>
          <a:prstGeom prst="rect">
            <a:avLst/>
          </a:prstGeom>
        </p:spPr>
        <p:txBody>
          <a:bodyPr lIns="0" tIns="0" rIns="0" bIns="0" rtlCol="0" anchor="t">
            <a:spAutoFit/>
          </a:bodyPr>
          <a:lstStyle/>
          <a:p>
            <a:pPr algn="just">
              <a:lnSpc>
                <a:spcPts val="4199"/>
              </a:lnSpc>
            </a:pPr>
            <a:r>
              <a:rPr lang="en-US" sz="2799">
                <a:solidFill>
                  <a:srgbClr val="2D2D2D"/>
                </a:solidFill>
                <a:latin typeface="Nunito Light"/>
              </a:rPr>
              <a:t>At Fabric Fusion, we redefine the art of personalized fashion by seamlessly blending cutting-edge technology with your unique sense of style. Our revolutionary approach combines the craftsmanship of fabric design with the power of Artificial Intelligence, giving you the ultimate platform to express yourself like never before.</a:t>
            </a:r>
          </a:p>
        </p:txBody>
      </p:sp>
      <p:sp>
        <p:nvSpPr>
          <p:cNvPr id="8" name="TextBox 8"/>
          <p:cNvSpPr txBox="1"/>
          <p:nvPr/>
        </p:nvSpPr>
        <p:spPr>
          <a:xfrm>
            <a:off x="16561556" y="9201150"/>
            <a:ext cx="773608" cy="537845"/>
          </a:xfrm>
          <a:prstGeom prst="rect">
            <a:avLst/>
          </a:prstGeom>
        </p:spPr>
        <p:txBody>
          <a:bodyPr lIns="0" tIns="0" rIns="0" bIns="0" rtlCol="0" anchor="t">
            <a:spAutoFit/>
          </a:bodyPr>
          <a:lstStyle/>
          <a:p>
            <a:pPr algn="ctr">
              <a:lnSpc>
                <a:spcPts val="4480"/>
              </a:lnSpc>
            </a:pPr>
            <a:r>
              <a:rPr lang="en-US" sz="3200">
                <a:solidFill>
                  <a:srgbClr val="EBEBEB"/>
                </a:solidFill>
                <a:latin typeface="Nunito Bold"/>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grpSp>
        <p:nvGrpSpPr>
          <p:cNvPr id="2" name="Group 2"/>
          <p:cNvGrpSpPr/>
          <p:nvPr/>
        </p:nvGrpSpPr>
        <p:grpSpPr>
          <a:xfrm>
            <a:off x="15646940" y="0"/>
            <a:ext cx="2641060" cy="10287000"/>
            <a:chOff x="0" y="0"/>
            <a:chExt cx="893395" cy="3479800"/>
          </a:xfrm>
        </p:grpSpPr>
        <p:sp>
          <p:nvSpPr>
            <p:cNvPr id="3" name="Freeform 3"/>
            <p:cNvSpPr/>
            <p:nvPr/>
          </p:nvSpPr>
          <p:spPr>
            <a:xfrm>
              <a:off x="0" y="0"/>
              <a:ext cx="893395" cy="3479800"/>
            </a:xfrm>
            <a:custGeom>
              <a:avLst/>
              <a:gdLst/>
              <a:ahLst/>
              <a:cxnLst/>
              <a:rect l="l" t="t" r="r" b="b"/>
              <a:pathLst>
                <a:path w="893395" h="3479800">
                  <a:moveTo>
                    <a:pt x="0" y="0"/>
                  </a:moveTo>
                  <a:lnTo>
                    <a:pt x="893395" y="0"/>
                  </a:lnTo>
                  <a:lnTo>
                    <a:pt x="893395" y="3479800"/>
                  </a:lnTo>
                  <a:lnTo>
                    <a:pt x="0" y="3479800"/>
                  </a:lnTo>
                  <a:close/>
                </a:path>
              </a:pathLst>
            </a:custGeom>
            <a:solidFill>
              <a:srgbClr val="F6F6F6"/>
            </a:solidFill>
          </p:spPr>
        </p:sp>
      </p:grpSp>
      <p:grpSp>
        <p:nvGrpSpPr>
          <p:cNvPr id="4" name="Group 4"/>
          <p:cNvGrpSpPr/>
          <p:nvPr/>
        </p:nvGrpSpPr>
        <p:grpSpPr>
          <a:xfrm>
            <a:off x="16174752" y="8785808"/>
            <a:ext cx="1547216" cy="1501192"/>
            <a:chOff x="0" y="0"/>
            <a:chExt cx="523379" cy="507811"/>
          </a:xfrm>
        </p:grpSpPr>
        <p:sp>
          <p:nvSpPr>
            <p:cNvPr id="5" name="Freeform 5"/>
            <p:cNvSpPr/>
            <p:nvPr/>
          </p:nvSpPr>
          <p:spPr>
            <a:xfrm>
              <a:off x="0" y="0"/>
              <a:ext cx="523379" cy="507811"/>
            </a:xfrm>
            <a:custGeom>
              <a:avLst/>
              <a:gdLst/>
              <a:ahLst/>
              <a:cxnLst/>
              <a:rect l="l" t="t" r="r" b="b"/>
              <a:pathLst>
                <a:path w="523379" h="507811">
                  <a:moveTo>
                    <a:pt x="0" y="0"/>
                  </a:moveTo>
                  <a:lnTo>
                    <a:pt x="523379" y="0"/>
                  </a:lnTo>
                  <a:lnTo>
                    <a:pt x="523379" y="507811"/>
                  </a:lnTo>
                  <a:lnTo>
                    <a:pt x="0" y="507811"/>
                  </a:lnTo>
                  <a:close/>
                </a:path>
              </a:pathLst>
            </a:custGeom>
            <a:solidFill>
              <a:srgbClr val="2D2D2D"/>
            </a:solidFill>
          </p:spPr>
        </p:sp>
      </p:grpSp>
      <p:grpSp>
        <p:nvGrpSpPr>
          <p:cNvPr id="6" name="Group 6"/>
          <p:cNvGrpSpPr/>
          <p:nvPr/>
        </p:nvGrpSpPr>
        <p:grpSpPr>
          <a:xfrm>
            <a:off x="14491770" y="0"/>
            <a:ext cx="3796230" cy="10287000"/>
            <a:chOff x="0" y="0"/>
            <a:chExt cx="628971" cy="1704382"/>
          </a:xfrm>
        </p:grpSpPr>
        <p:sp>
          <p:nvSpPr>
            <p:cNvPr id="7" name="Freeform 7"/>
            <p:cNvSpPr/>
            <p:nvPr/>
          </p:nvSpPr>
          <p:spPr>
            <a:xfrm>
              <a:off x="0" y="0"/>
              <a:ext cx="628971" cy="1704382"/>
            </a:xfrm>
            <a:custGeom>
              <a:avLst/>
              <a:gdLst/>
              <a:ahLst/>
              <a:cxnLst/>
              <a:rect l="l" t="t" r="r" b="b"/>
              <a:pathLst>
                <a:path w="628971" h="1704382">
                  <a:moveTo>
                    <a:pt x="0" y="0"/>
                  </a:moveTo>
                  <a:lnTo>
                    <a:pt x="628971" y="0"/>
                  </a:lnTo>
                  <a:lnTo>
                    <a:pt x="628971" y="1704382"/>
                  </a:lnTo>
                  <a:lnTo>
                    <a:pt x="0" y="1704382"/>
                  </a:lnTo>
                  <a:close/>
                </a:path>
              </a:pathLst>
            </a:custGeom>
            <a:blipFill>
              <a:blip r:embed="rId2"/>
              <a:stretch>
                <a:fillRect l="-130652" r="-130652"/>
              </a:stretch>
            </a:blipFill>
          </p:spPr>
        </p:sp>
      </p:grpSp>
      <p:sp>
        <p:nvSpPr>
          <p:cNvPr id="8" name="TextBox 8"/>
          <p:cNvSpPr txBox="1"/>
          <p:nvPr/>
        </p:nvSpPr>
        <p:spPr>
          <a:xfrm>
            <a:off x="1028700" y="933450"/>
            <a:ext cx="6848808" cy="821055"/>
          </a:xfrm>
          <a:prstGeom prst="rect">
            <a:avLst/>
          </a:prstGeom>
        </p:spPr>
        <p:txBody>
          <a:bodyPr lIns="0" tIns="0" rIns="0" bIns="0" rtlCol="0" anchor="t">
            <a:spAutoFit/>
          </a:bodyPr>
          <a:lstStyle/>
          <a:p>
            <a:pPr>
              <a:lnSpc>
                <a:spcPts val="6719"/>
              </a:lnSpc>
            </a:pPr>
            <a:r>
              <a:rPr lang="en-US" sz="4800">
                <a:solidFill>
                  <a:srgbClr val="2D2D2D"/>
                </a:solidFill>
                <a:latin typeface="DM Serif Display Bold"/>
              </a:rPr>
              <a:t>Problem Definition</a:t>
            </a:r>
          </a:p>
        </p:txBody>
      </p:sp>
      <p:sp>
        <p:nvSpPr>
          <p:cNvPr id="9" name="TextBox 9"/>
          <p:cNvSpPr txBox="1"/>
          <p:nvPr/>
        </p:nvSpPr>
        <p:spPr>
          <a:xfrm>
            <a:off x="1028700" y="2283180"/>
            <a:ext cx="11773623" cy="976630"/>
          </a:xfrm>
          <a:prstGeom prst="rect">
            <a:avLst/>
          </a:prstGeom>
        </p:spPr>
        <p:txBody>
          <a:bodyPr lIns="0" tIns="0" rIns="0" bIns="0" rtlCol="0" anchor="t">
            <a:spAutoFit/>
          </a:bodyPr>
          <a:lstStyle/>
          <a:p>
            <a:pPr marL="604519" lvl="1" indent="-302260" algn="just">
              <a:lnSpc>
                <a:spcPts val="3919"/>
              </a:lnSpc>
              <a:buFont typeface="Arial"/>
              <a:buChar char="•"/>
            </a:pPr>
            <a:r>
              <a:rPr lang="en-US" sz="2799">
                <a:solidFill>
                  <a:srgbClr val="2D2D2D"/>
                </a:solidFill>
                <a:latin typeface="Nunito"/>
              </a:rPr>
              <a:t> In today's market more time is being consumed for  designing   an  unique and attractive output</a:t>
            </a:r>
          </a:p>
        </p:txBody>
      </p:sp>
      <p:sp>
        <p:nvSpPr>
          <p:cNvPr id="10" name="TextBox 10"/>
          <p:cNvSpPr txBox="1"/>
          <p:nvPr/>
        </p:nvSpPr>
        <p:spPr>
          <a:xfrm>
            <a:off x="1028700" y="3793210"/>
            <a:ext cx="11773623" cy="976630"/>
          </a:xfrm>
          <a:prstGeom prst="rect">
            <a:avLst/>
          </a:prstGeom>
        </p:spPr>
        <p:txBody>
          <a:bodyPr lIns="0" tIns="0" rIns="0" bIns="0" rtlCol="0" anchor="t">
            <a:spAutoFit/>
          </a:bodyPr>
          <a:lstStyle/>
          <a:p>
            <a:pPr marL="604519" lvl="1" indent="-302260" algn="just">
              <a:lnSpc>
                <a:spcPts val="3919"/>
              </a:lnSpc>
              <a:buFont typeface="Arial"/>
              <a:buChar char="•"/>
            </a:pPr>
            <a:r>
              <a:rPr lang="en-US" sz="2799">
                <a:solidFill>
                  <a:srgbClr val="2D2D2D"/>
                </a:solidFill>
                <a:latin typeface="Nunito"/>
              </a:rPr>
              <a:t>Many of the designs are outdated, featuring old-fashioned styles and repetitive patterns that are used across multiple T-shirts.</a:t>
            </a:r>
          </a:p>
        </p:txBody>
      </p:sp>
      <p:sp>
        <p:nvSpPr>
          <p:cNvPr id="11" name="TextBox 11"/>
          <p:cNvSpPr txBox="1"/>
          <p:nvPr/>
        </p:nvSpPr>
        <p:spPr>
          <a:xfrm>
            <a:off x="1028700" y="5303240"/>
            <a:ext cx="11773623" cy="1471930"/>
          </a:xfrm>
          <a:prstGeom prst="rect">
            <a:avLst/>
          </a:prstGeom>
        </p:spPr>
        <p:txBody>
          <a:bodyPr lIns="0" tIns="0" rIns="0" bIns="0" rtlCol="0" anchor="t">
            <a:spAutoFit/>
          </a:bodyPr>
          <a:lstStyle/>
          <a:p>
            <a:pPr marL="604519" lvl="1" indent="-302260" algn="just">
              <a:lnSpc>
                <a:spcPts val="3919"/>
              </a:lnSpc>
              <a:buFont typeface="Arial"/>
              <a:buChar char="•"/>
            </a:pPr>
            <a:r>
              <a:rPr lang="en-US" sz="2799">
                <a:solidFill>
                  <a:srgbClr val="2D2D2D"/>
                </a:solidFill>
                <a:latin typeface="Nunito"/>
              </a:rPr>
              <a:t>Current fashion offerings restrict customers from freely mixing and matching designs, colors, and patterns to create a truly personalized look.</a:t>
            </a:r>
          </a:p>
        </p:txBody>
      </p:sp>
      <p:sp>
        <p:nvSpPr>
          <p:cNvPr id="12" name="TextBox 12"/>
          <p:cNvSpPr txBox="1"/>
          <p:nvPr/>
        </p:nvSpPr>
        <p:spPr>
          <a:xfrm>
            <a:off x="1028700" y="7308570"/>
            <a:ext cx="11773623" cy="976630"/>
          </a:xfrm>
          <a:prstGeom prst="rect">
            <a:avLst/>
          </a:prstGeom>
        </p:spPr>
        <p:txBody>
          <a:bodyPr lIns="0" tIns="0" rIns="0" bIns="0" rtlCol="0" anchor="t">
            <a:spAutoFit/>
          </a:bodyPr>
          <a:lstStyle/>
          <a:p>
            <a:pPr marL="604519" lvl="1" indent="-302260" algn="just">
              <a:lnSpc>
                <a:spcPts val="3919"/>
              </a:lnSpc>
              <a:buFont typeface="Arial"/>
              <a:buChar char="•"/>
            </a:pPr>
            <a:r>
              <a:rPr lang="en-US" sz="2799">
                <a:solidFill>
                  <a:srgbClr val="2D2D2D"/>
                </a:solidFill>
                <a:latin typeface="Nunito"/>
              </a:rPr>
              <a:t>The representation of Tamil fashion through dialogues are less compared to the popularity seen in comics and anime trends.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grpSp>
        <p:nvGrpSpPr>
          <p:cNvPr id="2" name="Group 2"/>
          <p:cNvGrpSpPr/>
          <p:nvPr/>
        </p:nvGrpSpPr>
        <p:grpSpPr>
          <a:xfrm>
            <a:off x="3542591" y="0"/>
            <a:ext cx="14745409" cy="2289996"/>
            <a:chOff x="0" y="0"/>
            <a:chExt cx="4987953" cy="774641"/>
          </a:xfrm>
        </p:grpSpPr>
        <p:sp>
          <p:nvSpPr>
            <p:cNvPr id="3" name="Freeform 3"/>
            <p:cNvSpPr/>
            <p:nvPr/>
          </p:nvSpPr>
          <p:spPr>
            <a:xfrm>
              <a:off x="0" y="0"/>
              <a:ext cx="4987953" cy="774641"/>
            </a:xfrm>
            <a:custGeom>
              <a:avLst/>
              <a:gdLst/>
              <a:ahLst/>
              <a:cxnLst/>
              <a:rect l="l" t="t" r="r" b="b"/>
              <a:pathLst>
                <a:path w="4987953" h="774641">
                  <a:moveTo>
                    <a:pt x="0" y="0"/>
                  </a:moveTo>
                  <a:lnTo>
                    <a:pt x="4987953" y="0"/>
                  </a:lnTo>
                  <a:lnTo>
                    <a:pt x="4987953" y="774641"/>
                  </a:lnTo>
                  <a:lnTo>
                    <a:pt x="0" y="774641"/>
                  </a:lnTo>
                  <a:close/>
                </a:path>
              </a:pathLst>
            </a:custGeom>
            <a:solidFill>
              <a:srgbClr val="F6F6F6"/>
            </a:solidFill>
          </p:spPr>
        </p:sp>
      </p:grpSp>
      <p:grpSp>
        <p:nvGrpSpPr>
          <p:cNvPr id="4" name="Group 4"/>
          <p:cNvGrpSpPr/>
          <p:nvPr/>
        </p:nvGrpSpPr>
        <p:grpSpPr>
          <a:xfrm>
            <a:off x="0" y="0"/>
            <a:ext cx="3542591" cy="10287000"/>
            <a:chOff x="0" y="0"/>
            <a:chExt cx="548840" cy="1593725"/>
          </a:xfrm>
        </p:grpSpPr>
        <p:sp>
          <p:nvSpPr>
            <p:cNvPr id="5" name="Freeform 5"/>
            <p:cNvSpPr/>
            <p:nvPr/>
          </p:nvSpPr>
          <p:spPr>
            <a:xfrm>
              <a:off x="0" y="0"/>
              <a:ext cx="548840" cy="1593725"/>
            </a:xfrm>
            <a:custGeom>
              <a:avLst/>
              <a:gdLst/>
              <a:ahLst/>
              <a:cxnLst/>
              <a:rect l="l" t="t" r="r" b="b"/>
              <a:pathLst>
                <a:path w="548840" h="1593725">
                  <a:moveTo>
                    <a:pt x="0" y="0"/>
                  </a:moveTo>
                  <a:lnTo>
                    <a:pt x="548840" y="0"/>
                  </a:lnTo>
                  <a:lnTo>
                    <a:pt x="548840" y="1593725"/>
                  </a:lnTo>
                  <a:lnTo>
                    <a:pt x="0" y="1593725"/>
                  </a:lnTo>
                  <a:close/>
                </a:path>
              </a:pathLst>
            </a:custGeom>
            <a:blipFill>
              <a:blip r:embed="rId2"/>
              <a:stretch>
                <a:fillRect l="-27188" r="-36206"/>
              </a:stretch>
            </a:blipFill>
          </p:spPr>
        </p:sp>
      </p:grpSp>
      <p:sp>
        <p:nvSpPr>
          <p:cNvPr id="6" name="TextBox 6"/>
          <p:cNvSpPr txBox="1"/>
          <p:nvPr/>
        </p:nvSpPr>
        <p:spPr>
          <a:xfrm>
            <a:off x="4066487" y="1095968"/>
            <a:ext cx="6848808" cy="821055"/>
          </a:xfrm>
          <a:prstGeom prst="rect">
            <a:avLst/>
          </a:prstGeom>
        </p:spPr>
        <p:txBody>
          <a:bodyPr lIns="0" tIns="0" rIns="0" bIns="0" rtlCol="0" anchor="t">
            <a:spAutoFit/>
          </a:bodyPr>
          <a:lstStyle/>
          <a:p>
            <a:pPr>
              <a:lnSpc>
                <a:spcPts val="6719"/>
              </a:lnSpc>
            </a:pPr>
            <a:r>
              <a:rPr lang="en-US" sz="4800">
                <a:solidFill>
                  <a:srgbClr val="2D2D2D"/>
                </a:solidFill>
                <a:latin typeface="DM Serif Display Bold"/>
              </a:rPr>
              <a:t>Solution</a:t>
            </a:r>
          </a:p>
        </p:txBody>
      </p:sp>
      <p:sp>
        <p:nvSpPr>
          <p:cNvPr id="7" name="TextBox 7"/>
          <p:cNvSpPr txBox="1"/>
          <p:nvPr/>
        </p:nvSpPr>
        <p:spPr>
          <a:xfrm>
            <a:off x="16561556" y="9201150"/>
            <a:ext cx="773608" cy="537845"/>
          </a:xfrm>
          <a:prstGeom prst="rect">
            <a:avLst/>
          </a:prstGeom>
        </p:spPr>
        <p:txBody>
          <a:bodyPr lIns="0" tIns="0" rIns="0" bIns="0" rtlCol="0" anchor="t">
            <a:spAutoFit/>
          </a:bodyPr>
          <a:lstStyle/>
          <a:p>
            <a:pPr algn="ctr">
              <a:lnSpc>
                <a:spcPts val="4480"/>
              </a:lnSpc>
            </a:pPr>
            <a:r>
              <a:rPr lang="en-US" sz="3200">
                <a:solidFill>
                  <a:srgbClr val="EBEBEB"/>
                </a:solidFill>
                <a:latin typeface="Nunito Bold"/>
              </a:rPr>
              <a:t>7</a:t>
            </a:r>
          </a:p>
        </p:txBody>
      </p:sp>
      <p:sp>
        <p:nvSpPr>
          <p:cNvPr id="8" name="TextBox 8"/>
          <p:cNvSpPr txBox="1"/>
          <p:nvPr/>
        </p:nvSpPr>
        <p:spPr>
          <a:xfrm>
            <a:off x="4258432" y="2739960"/>
            <a:ext cx="13313728" cy="1471930"/>
          </a:xfrm>
          <a:prstGeom prst="rect">
            <a:avLst/>
          </a:prstGeom>
        </p:spPr>
        <p:txBody>
          <a:bodyPr lIns="0" tIns="0" rIns="0" bIns="0" rtlCol="0" anchor="t">
            <a:spAutoFit/>
          </a:bodyPr>
          <a:lstStyle/>
          <a:p>
            <a:pPr marL="604519" lvl="1" indent="-302260" algn="just">
              <a:lnSpc>
                <a:spcPts val="3919"/>
              </a:lnSpc>
              <a:buFont typeface="Arial"/>
              <a:buChar char="•"/>
            </a:pPr>
            <a:r>
              <a:rPr lang="en-US" sz="2799">
                <a:solidFill>
                  <a:srgbClr val="000000"/>
                </a:solidFill>
                <a:latin typeface="Nunito"/>
              </a:rPr>
              <a:t>Designing unique and appealing outputs takes too long in today's market. Fabric Fusion solves this with AI integration, ensuring a quicker and efficient process for personalized designs.</a:t>
            </a:r>
          </a:p>
        </p:txBody>
      </p:sp>
      <p:sp>
        <p:nvSpPr>
          <p:cNvPr id="9" name="TextBox 9"/>
          <p:cNvSpPr txBox="1"/>
          <p:nvPr/>
        </p:nvSpPr>
        <p:spPr>
          <a:xfrm>
            <a:off x="4258432" y="6744007"/>
            <a:ext cx="13313728" cy="1471930"/>
          </a:xfrm>
          <a:prstGeom prst="rect">
            <a:avLst/>
          </a:prstGeom>
        </p:spPr>
        <p:txBody>
          <a:bodyPr lIns="0" tIns="0" rIns="0" bIns="0" rtlCol="0" anchor="t">
            <a:spAutoFit/>
          </a:bodyPr>
          <a:lstStyle/>
          <a:p>
            <a:pPr marL="604519" lvl="1" indent="-302260" algn="just">
              <a:lnSpc>
                <a:spcPts val="3919"/>
              </a:lnSpc>
              <a:buFont typeface="Arial"/>
              <a:buChar char="•"/>
            </a:pPr>
            <a:r>
              <a:rPr lang="en-US" sz="2799">
                <a:solidFill>
                  <a:srgbClr val="000000"/>
                </a:solidFill>
                <a:latin typeface="Nunito"/>
              </a:rPr>
              <a:t>Boost Tamil fashion representation in dialogues by creating captivating designs and promoting them widely to increase awareness and appreciation, addressing the current disparity compared to comics and anime trends.</a:t>
            </a:r>
          </a:p>
        </p:txBody>
      </p:sp>
      <p:sp>
        <p:nvSpPr>
          <p:cNvPr id="10" name="TextBox 10"/>
          <p:cNvSpPr txBox="1"/>
          <p:nvPr/>
        </p:nvSpPr>
        <p:spPr>
          <a:xfrm>
            <a:off x="4258432" y="4659565"/>
            <a:ext cx="13313728" cy="1471930"/>
          </a:xfrm>
          <a:prstGeom prst="rect">
            <a:avLst/>
          </a:prstGeom>
        </p:spPr>
        <p:txBody>
          <a:bodyPr lIns="0" tIns="0" rIns="0" bIns="0" rtlCol="0" anchor="t">
            <a:spAutoFit/>
          </a:bodyPr>
          <a:lstStyle/>
          <a:p>
            <a:pPr marL="604519" lvl="1" indent="-302260" algn="just">
              <a:lnSpc>
                <a:spcPts val="3919"/>
              </a:lnSpc>
              <a:buFont typeface="Arial"/>
              <a:buChar char="•"/>
            </a:pPr>
            <a:r>
              <a:rPr lang="en-US" sz="2799">
                <a:solidFill>
                  <a:srgbClr val="000000"/>
                </a:solidFill>
                <a:latin typeface="Nunito"/>
              </a:rPr>
              <a:t>Liberate fashion choices with Fabric Fusion's user-friendly platform, enabling effortless mix-and-match customization for a truly unique and personalized look.</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3540634" cy="10287000"/>
            <a:chOff x="0" y="0"/>
            <a:chExt cx="1197696" cy="3479800"/>
          </a:xfrm>
        </p:grpSpPr>
        <p:sp>
          <p:nvSpPr>
            <p:cNvPr id="3" name="Freeform 3"/>
            <p:cNvSpPr/>
            <p:nvPr/>
          </p:nvSpPr>
          <p:spPr>
            <a:xfrm>
              <a:off x="0" y="0"/>
              <a:ext cx="1197696" cy="3479800"/>
            </a:xfrm>
            <a:custGeom>
              <a:avLst/>
              <a:gdLst/>
              <a:ahLst/>
              <a:cxnLst/>
              <a:rect l="l" t="t" r="r" b="b"/>
              <a:pathLst>
                <a:path w="1197696" h="3479800">
                  <a:moveTo>
                    <a:pt x="0" y="0"/>
                  </a:moveTo>
                  <a:lnTo>
                    <a:pt x="1197696" y="0"/>
                  </a:lnTo>
                  <a:lnTo>
                    <a:pt x="1197696" y="3479800"/>
                  </a:lnTo>
                  <a:lnTo>
                    <a:pt x="0" y="3479800"/>
                  </a:lnTo>
                  <a:close/>
                </a:path>
              </a:pathLst>
            </a:custGeom>
            <a:solidFill>
              <a:srgbClr val="F6F6F6"/>
            </a:solidFill>
          </p:spPr>
        </p:sp>
      </p:grpSp>
      <p:grpSp>
        <p:nvGrpSpPr>
          <p:cNvPr id="4" name="Group 4"/>
          <p:cNvGrpSpPr/>
          <p:nvPr/>
        </p:nvGrpSpPr>
        <p:grpSpPr>
          <a:xfrm>
            <a:off x="0" y="0"/>
            <a:ext cx="3540634" cy="10287000"/>
            <a:chOff x="0" y="0"/>
            <a:chExt cx="548537" cy="1593725"/>
          </a:xfrm>
        </p:grpSpPr>
        <p:sp>
          <p:nvSpPr>
            <p:cNvPr id="5" name="Freeform 5"/>
            <p:cNvSpPr/>
            <p:nvPr/>
          </p:nvSpPr>
          <p:spPr>
            <a:xfrm>
              <a:off x="0" y="0"/>
              <a:ext cx="548537" cy="1593725"/>
            </a:xfrm>
            <a:custGeom>
              <a:avLst/>
              <a:gdLst/>
              <a:ahLst/>
              <a:cxnLst/>
              <a:rect l="l" t="t" r="r" b="b"/>
              <a:pathLst>
                <a:path w="548537" h="1593725">
                  <a:moveTo>
                    <a:pt x="0" y="0"/>
                  </a:moveTo>
                  <a:lnTo>
                    <a:pt x="548537" y="0"/>
                  </a:lnTo>
                  <a:lnTo>
                    <a:pt x="548537" y="1593725"/>
                  </a:lnTo>
                  <a:lnTo>
                    <a:pt x="0" y="1593725"/>
                  </a:lnTo>
                  <a:close/>
                </a:path>
              </a:pathLst>
            </a:custGeom>
            <a:blipFill>
              <a:blip r:embed="rId2"/>
              <a:stretch>
                <a:fillRect l="-30962" r="-32466"/>
              </a:stretch>
            </a:blipFill>
          </p:spPr>
        </p:sp>
      </p:grpSp>
      <p:sp>
        <p:nvSpPr>
          <p:cNvPr id="6" name="TextBox 6"/>
          <p:cNvSpPr txBox="1"/>
          <p:nvPr/>
        </p:nvSpPr>
        <p:spPr>
          <a:xfrm>
            <a:off x="4150422" y="933450"/>
            <a:ext cx="6848808" cy="821055"/>
          </a:xfrm>
          <a:prstGeom prst="rect">
            <a:avLst/>
          </a:prstGeom>
        </p:spPr>
        <p:txBody>
          <a:bodyPr lIns="0" tIns="0" rIns="0" bIns="0" rtlCol="0" anchor="t">
            <a:spAutoFit/>
          </a:bodyPr>
          <a:lstStyle/>
          <a:p>
            <a:pPr>
              <a:lnSpc>
                <a:spcPts val="6719"/>
              </a:lnSpc>
            </a:pPr>
            <a:r>
              <a:rPr lang="en-US" sz="4800">
                <a:solidFill>
                  <a:srgbClr val="2D2D2D"/>
                </a:solidFill>
                <a:latin typeface="DM Serif Display Bold"/>
              </a:rPr>
              <a:t>About Us</a:t>
            </a:r>
          </a:p>
        </p:txBody>
      </p:sp>
      <p:sp>
        <p:nvSpPr>
          <p:cNvPr id="7" name="TextBox 7"/>
          <p:cNvSpPr txBox="1"/>
          <p:nvPr/>
        </p:nvSpPr>
        <p:spPr>
          <a:xfrm>
            <a:off x="4414154" y="2763202"/>
            <a:ext cx="12664343" cy="4684395"/>
          </a:xfrm>
          <a:prstGeom prst="rect">
            <a:avLst/>
          </a:prstGeom>
        </p:spPr>
        <p:txBody>
          <a:bodyPr lIns="0" tIns="0" rIns="0" bIns="0" rtlCol="0" anchor="t">
            <a:spAutoFit/>
          </a:bodyPr>
          <a:lstStyle/>
          <a:p>
            <a:pPr algn="just">
              <a:lnSpc>
                <a:spcPts val="4199"/>
              </a:lnSpc>
            </a:pPr>
            <a:r>
              <a:rPr lang="en-US" sz="2799">
                <a:solidFill>
                  <a:srgbClr val="2D2D2D"/>
                </a:solidFill>
                <a:latin typeface="Nunito Light"/>
              </a:rPr>
              <a:t>As three passionate IT students, we, under the banner of Fabric Fusion, are on a mission to redefine fashion. With a keen eye for design and a drive for innovation, we're committed to reshaping personal expression through uniquely crafted T-shirts. </a:t>
            </a:r>
          </a:p>
          <a:p>
            <a:pPr algn="just">
              <a:lnSpc>
                <a:spcPts val="4199"/>
              </a:lnSpc>
            </a:pPr>
            <a:endParaRPr lang="en-US" sz="2799">
              <a:solidFill>
                <a:srgbClr val="2D2D2D"/>
              </a:solidFill>
              <a:latin typeface="Nunito Light"/>
            </a:endParaRPr>
          </a:p>
          <a:p>
            <a:pPr algn="just">
              <a:lnSpc>
                <a:spcPts val="4199"/>
              </a:lnSpc>
            </a:pPr>
            <a:endParaRPr lang="en-US" sz="2799">
              <a:solidFill>
                <a:srgbClr val="2D2D2D"/>
              </a:solidFill>
              <a:latin typeface="Nunito Light"/>
            </a:endParaRPr>
          </a:p>
          <a:p>
            <a:pPr algn="just">
              <a:lnSpc>
                <a:spcPts val="4199"/>
              </a:lnSpc>
            </a:pPr>
            <a:r>
              <a:rPr lang="en-US" sz="2799">
                <a:solidFill>
                  <a:srgbClr val="2D2D2D"/>
                </a:solidFill>
                <a:latin typeface="Nunito Light"/>
              </a:rPr>
              <a:t>Fabric Fusion is not just a name; it's a promise to seamlessly integrate technology with creativity, ensuring that each printed design becomes a canvas for individuality and style. Join us at Fabric Fusion.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5143500"/>
            <a:chOff x="0" y="0"/>
            <a:chExt cx="6186311" cy="1739900"/>
          </a:xfrm>
        </p:grpSpPr>
        <p:sp>
          <p:nvSpPr>
            <p:cNvPr id="3" name="Freeform 3"/>
            <p:cNvSpPr/>
            <p:nvPr/>
          </p:nvSpPr>
          <p:spPr>
            <a:xfrm>
              <a:off x="0" y="0"/>
              <a:ext cx="6186311" cy="1739900"/>
            </a:xfrm>
            <a:custGeom>
              <a:avLst/>
              <a:gdLst/>
              <a:ahLst/>
              <a:cxnLst/>
              <a:rect l="l" t="t" r="r" b="b"/>
              <a:pathLst>
                <a:path w="6186311" h="1739900">
                  <a:moveTo>
                    <a:pt x="0" y="0"/>
                  </a:moveTo>
                  <a:lnTo>
                    <a:pt x="6186311" y="0"/>
                  </a:lnTo>
                  <a:lnTo>
                    <a:pt x="6186311" y="1739900"/>
                  </a:lnTo>
                  <a:lnTo>
                    <a:pt x="0" y="1739900"/>
                  </a:lnTo>
                  <a:close/>
                </a:path>
              </a:pathLst>
            </a:custGeom>
            <a:solidFill>
              <a:srgbClr val="F6F6F6"/>
            </a:solidFill>
          </p:spPr>
        </p:sp>
      </p:grpSp>
      <p:grpSp>
        <p:nvGrpSpPr>
          <p:cNvPr id="4" name="Group 4"/>
          <p:cNvGrpSpPr/>
          <p:nvPr/>
        </p:nvGrpSpPr>
        <p:grpSpPr>
          <a:xfrm>
            <a:off x="7105400" y="3012591"/>
            <a:ext cx="4077217" cy="4077201"/>
            <a:chOff x="0" y="0"/>
            <a:chExt cx="6350000" cy="6349975"/>
          </a:xfrm>
        </p:grpSpPr>
        <p:sp>
          <p:nvSpPr>
            <p:cNvPr id="5" name="Freeform 5"/>
            <p:cNvSpPr/>
            <p:nvPr/>
          </p:nvSpPr>
          <p:spPr>
            <a:xfrm>
              <a:off x="0" y="0"/>
              <a:ext cx="6350000" cy="6349975"/>
            </a:xfrm>
            <a:custGeom>
              <a:avLst/>
              <a:gdLst/>
              <a:ahLst/>
              <a:cxnLst/>
              <a:rect l="l" t="t" r="r" b="b"/>
              <a:pathLst>
                <a:path w="6350000" h="6349975">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2"/>
              <a:stretch>
                <a:fillRect t="-12532" b="-12532"/>
              </a:stretch>
            </a:blipFill>
          </p:spPr>
        </p:sp>
      </p:grpSp>
      <p:grpSp>
        <p:nvGrpSpPr>
          <p:cNvPr id="6" name="Group 6"/>
          <p:cNvGrpSpPr/>
          <p:nvPr/>
        </p:nvGrpSpPr>
        <p:grpSpPr>
          <a:xfrm>
            <a:off x="1991566" y="3012591"/>
            <a:ext cx="4077217" cy="4077201"/>
            <a:chOff x="0" y="0"/>
            <a:chExt cx="6350000" cy="6349975"/>
          </a:xfrm>
        </p:grpSpPr>
        <p:sp>
          <p:nvSpPr>
            <p:cNvPr id="7" name="Freeform 7"/>
            <p:cNvSpPr/>
            <p:nvPr/>
          </p:nvSpPr>
          <p:spPr>
            <a:xfrm>
              <a:off x="0" y="0"/>
              <a:ext cx="6350000" cy="6349975"/>
            </a:xfrm>
            <a:custGeom>
              <a:avLst/>
              <a:gdLst/>
              <a:ahLst/>
              <a:cxnLst/>
              <a:rect l="l" t="t" r="r" b="b"/>
              <a:pathLst>
                <a:path w="6350000" h="6349975">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3"/>
              <a:stretch>
                <a:fillRect l="-13106" r="-4023"/>
              </a:stretch>
            </a:blipFill>
          </p:spPr>
        </p:sp>
      </p:grpSp>
      <p:grpSp>
        <p:nvGrpSpPr>
          <p:cNvPr id="8" name="Group 8"/>
          <p:cNvGrpSpPr/>
          <p:nvPr/>
        </p:nvGrpSpPr>
        <p:grpSpPr>
          <a:xfrm>
            <a:off x="12219218" y="3012591"/>
            <a:ext cx="4077217" cy="4077201"/>
            <a:chOff x="0" y="0"/>
            <a:chExt cx="6350000" cy="6349975"/>
          </a:xfrm>
        </p:grpSpPr>
        <p:sp>
          <p:nvSpPr>
            <p:cNvPr id="9" name="Freeform 9"/>
            <p:cNvSpPr/>
            <p:nvPr/>
          </p:nvSpPr>
          <p:spPr>
            <a:xfrm>
              <a:off x="0" y="0"/>
              <a:ext cx="6350000" cy="6349975"/>
            </a:xfrm>
            <a:custGeom>
              <a:avLst/>
              <a:gdLst/>
              <a:ahLst/>
              <a:cxnLst/>
              <a:rect l="l" t="t" r="r" b="b"/>
              <a:pathLst>
                <a:path w="6350000" h="6349975">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4"/>
              <a:stretch>
                <a:fillRect t="-12643" b="-20690"/>
              </a:stretch>
            </a:blipFill>
          </p:spPr>
        </p:sp>
      </p:grpSp>
      <p:sp>
        <p:nvSpPr>
          <p:cNvPr id="10" name="TextBox 10"/>
          <p:cNvSpPr txBox="1"/>
          <p:nvPr/>
        </p:nvSpPr>
        <p:spPr>
          <a:xfrm>
            <a:off x="1028700" y="933450"/>
            <a:ext cx="6848808" cy="821055"/>
          </a:xfrm>
          <a:prstGeom prst="rect">
            <a:avLst/>
          </a:prstGeom>
        </p:spPr>
        <p:txBody>
          <a:bodyPr lIns="0" tIns="0" rIns="0" bIns="0" rtlCol="0" anchor="t">
            <a:spAutoFit/>
          </a:bodyPr>
          <a:lstStyle/>
          <a:p>
            <a:pPr>
              <a:lnSpc>
                <a:spcPts val="6719"/>
              </a:lnSpc>
            </a:pPr>
            <a:r>
              <a:rPr lang="en-US" sz="4800">
                <a:solidFill>
                  <a:srgbClr val="2D2D2D"/>
                </a:solidFill>
                <a:latin typeface="DM Serif Display Bold"/>
              </a:rPr>
              <a:t>Our Team</a:t>
            </a:r>
          </a:p>
        </p:txBody>
      </p:sp>
      <p:sp>
        <p:nvSpPr>
          <p:cNvPr id="11" name="TextBox 11"/>
          <p:cNvSpPr txBox="1"/>
          <p:nvPr/>
        </p:nvSpPr>
        <p:spPr>
          <a:xfrm>
            <a:off x="2053197" y="7704101"/>
            <a:ext cx="3953953" cy="613410"/>
          </a:xfrm>
          <a:prstGeom prst="rect">
            <a:avLst/>
          </a:prstGeom>
        </p:spPr>
        <p:txBody>
          <a:bodyPr lIns="0" tIns="0" rIns="0" bIns="0" rtlCol="0" anchor="t">
            <a:spAutoFit/>
          </a:bodyPr>
          <a:lstStyle/>
          <a:p>
            <a:pPr algn="ctr">
              <a:lnSpc>
                <a:spcPts val="5040"/>
              </a:lnSpc>
            </a:pPr>
            <a:r>
              <a:rPr lang="en-US" sz="3600">
                <a:solidFill>
                  <a:srgbClr val="2D2D2D"/>
                </a:solidFill>
                <a:latin typeface="Nunito Bold"/>
              </a:rPr>
              <a:t>Thahir</a:t>
            </a:r>
          </a:p>
        </p:txBody>
      </p:sp>
      <p:sp>
        <p:nvSpPr>
          <p:cNvPr id="12" name="TextBox 12"/>
          <p:cNvSpPr txBox="1"/>
          <p:nvPr/>
        </p:nvSpPr>
        <p:spPr>
          <a:xfrm>
            <a:off x="2053197" y="8230182"/>
            <a:ext cx="3953953" cy="555625"/>
          </a:xfrm>
          <a:prstGeom prst="rect">
            <a:avLst/>
          </a:prstGeom>
        </p:spPr>
        <p:txBody>
          <a:bodyPr lIns="0" tIns="0" rIns="0" bIns="0" rtlCol="0" anchor="t">
            <a:spAutoFit/>
          </a:bodyPr>
          <a:lstStyle/>
          <a:p>
            <a:pPr algn="ctr">
              <a:lnSpc>
                <a:spcPts val="4759"/>
              </a:lnSpc>
            </a:pPr>
            <a:r>
              <a:rPr lang="en-US" sz="2799">
                <a:solidFill>
                  <a:srgbClr val="2D2D2D"/>
                </a:solidFill>
                <a:latin typeface="Nunito Light"/>
              </a:rPr>
              <a:t>CEO</a:t>
            </a:r>
          </a:p>
        </p:txBody>
      </p:sp>
      <p:sp>
        <p:nvSpPr>
          <p:cNvPr id="13" name="TextBox 13"/>
          <p:cNvSpPr txBox="1"/>
          <p:nvPr/>
        </p:nvSpPr>
        <p:spPr>
          <a:xfrm>
            <a:off x="7167031" y="7704101"/>
            <a:ext cx="3953953" cy="613410"/>
          </a:xfrm>
          <a:prstGeom prst="rect">
            <a:avLst/>
          </a:prstGeom>
        </p:spPr>
        <p:txBody>
          <a:bodyPr lIns="0" tIns="0" rIns="0" bIns="0" rtlCol="0" anchor="t">
            <a:spAutoFit/>
          </a:bodyPr>
          <a:lstStyle/>
          <a:p>
            <a:pPr algn="ctr">
              <a:lnSpc>
                <a:spcPts val="5040"/>
              </a:lnSpc>
            </a:pPr>
            <a:r>
              <a:rPr lang="en-US" sz="3600">
                <a:solidFill>
                  <a:srgbClr val="2D2D2D"/>
                </a:solidFill>
                <a:latin typeface="Nunito Bold"/>
              </a:rPr>
              <a:t>Noorul</a:t>
            </a:r>
          </a:p>
        </p:txBody>
      </p:sp>
      <p:sp>
        <p:nvSpPr>
          <p:cNvPr id="14" name="TextBox 14"/>
          <p:cNvSpPr txBox="1"/>
          <p:nvPr/>
        </p:nvSpPr>
        <p:spPr>
          <a:xfrm>
            <a:off x="7167031" y="8230182"/>
            <a:ext cx="3953953" cy="569387"/>
          </a:xfrm>
          <a:prstGeom prst="rect">
            <a:avLst/>
          </a:prstGeom>
        </p:spPr>
        <p:txBody>
          <a:bodyPr lIns="0" tIns="0" rIns="0" bIns="0" rtlCol="0" anchor="t">
            <a:spAutoFit/>
          </a:bodyPr>
          <a:lstStyle/>
          <a:p>
            <a:pPr algn="ctr">
              <a:lnSpc>
                <a:spcPts val="4759"/>
              </a:lnSpc>
            </a:pPr>
            <a:r>
              <a:rPr lang="en-US" sz="2799" dirty="0">
                <a:solidFill>
                  <a:srgbClr val="2D2D2D"/>
                </a:solidFill>
                <a:latin typeface="Nunito Light"/>
              </a:rPr>
              <a:t>COO</a:t>
            </a:r>
          </a:p>
        </p:txBody>
      </p:sp>
      <p:sp>
        <p:nvSpPr>
          <p:cNvPr id="15" name="TextBox 15"/>
          <p:cNvSpPr txBox="1"/>
          <p:nvPr/>
        </p:nvSpPr>
        <p:spPr>
          <a:xfrm>
            <a:off x="12280849" y="7704101"/>
            <a:ext cx="3953953" cy="613410"/>
          </a:xfrm>
          <a:prstGeom prst="rect">
            <a:avLst/>
          </a:prstGeom>
        </p:spPr>
        <p:txBody>
          <a:bodyPr lIns="0" tIns="0" rIns="0" bIns="0" rtlCol="0" anchor="t">
            <a:spAutoFit/>
          </a:bodyPr>
          <a:lstStyle/>
          <a:p>
            <a:pPr algn="ctr">
              <a:lnSpc>
                <a:spcPts val="5040"/>
              </a:lnSpc>
            </a:pPr>
            <a:r>
              <a:rPr lang="en-US" sz="3600">
                <a:solidFill>
                  <a:srgbClr val="2D2D2D"/>
                </a:solidFill>
                <a:latin typeface="Nunito Bold"/>
              </a:rPr>
              <a:t>Hamzah</a:t>
            </a:r>
          </a:p>
        </p:txBody>
      </p:sp>
      <p:sp>
        <p:nvSpPr>
          <p:cNvPr id="16" name="TextBox 16"/>
          <p:cNvSpPr txBox="1"/>
          <p:nvPr/>
        </p:nvSpPr>
        <p:spPr>
          <a:xfrm>
            <a:off x="12280849" y="8230182"/>
            <a:ext cx="3953953" cy="555625"/>
          </a:xfrm>
          <a:prstGeom prst="rect">
            <a:avLst/>
          </a:prstGeom>
        </p:spPr>
        <p:txBody>
          <a:bodyPr lIns="0" tIns="0" rIns="0" bIns="0" rtlCol="0" anchor="t">
            <a:spAutoFit/>
          </a:bodyPr>
          <a:lstStyle/>
          <a:p>
            <a:pPr algn="ctr">
              <a:lnSpc>
                <a:spcPts val="4759"/>
              </a:lnSpc>
            </a:pPr>
            <a:r>
              <a:rPr lang="en-US" sz="2799">
                <a:solidFill>
                  <a:srgbClr val="2D2D2D"/>
                </a:solidFill>
                <a:latin typeface="Nunito Light"/>
              </a:rPr>
              <a:t>member</a:t>
            </a:r>
          </a:p>
        </p:txBody>
      </p:sp>
      <p:sp>
        <p:nvSpPr>
          <p:cNvPr id="17" name="TextBox 17"/>
          <p:cNvSpPr txBox="1"/>
          <p:nvPr/>
        </p:nvSpPr>
        <p:spPr>
          <a:xfrm>
            <a:off x="16561556" y="9201150"/>
            <a:ext cx="773608" cy="537845"/>
          </a:xfrm>
          <a:prstGeom prst="rect">
            <a:avLst/>
          </a:prstGeom>
        </p:spPr>
        <p:txBody>
          <a:bodyPr lIns="0" tIns="0" rIns="0" bIns="0" rtlCol="0" anchor="t">
            <a:spAutoFit/>
          </a:bodyPr>
          <a:lstStyle/>
          <a:p>
            <a:pPr algn="ctr">
              <a:lnSpc>
                <a:spcPts val="4480"/>
              </a:lnSpc>
            </a:pPr>
            <a:r>
              <a:rPr lang="en-US" sz="3200">
                <a:solidFill>
                  <a:srgbClr val="EBEBEB"/>
                </a:solidFill>
                <a:latin typeface="Nunito Bold"/>
              </a:rPr>
              <a:t>4</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Freeform 2"/>
          <p:cNvSpPr/>
          <p:nvPr/>
        </p:nvSpPr>
        <p:spPr>
          <a:xfrm>
            <a:off x="10157401" y="0"/>
            <a:ext cx="8130599" cy="10287000"/>
          </a:xfrm>
          <a:custGeom>
            <a:avLst/>
            <a:gdLst/>
            <a:ahLst/>
            <a:cxnLst/>
            <a:rect l="l" t="t" r="r" b="b"/>
            <a:pathLst>
              <a:path w="8130599" h="10287000">
                <a:moveTo>
                  <a:pt x="0" y="0"/>
                </a:moveTo>
                <a:lnTo>
                  <a:pt x="8130599" y="0"/>
                </a:lnTo>
                <a:lnTo>
                  <a:pt x="8130599" y="10287000"/>
                </a:lnTo>
                <a:lnTo>
                  <a:pt x="0" y="10287000"/>
                </a:lnTo>
                <a:lnTo>
                  <a:pt x="0" y="0"/>
                </a:lnTo>
                <a:close/>
              </a:path>
            </a:pathLst>
          </a:custGeom>
          <a:blipFill>
            <a:blip r:embed="rId2"/>
            <a:stretch>
              <a:fillRect t="-18630"/>
            </a:stretch>
          </a:blipFill>
        </p:spPr>
      </p:sp>
      <p:grpSp>
        <p:nvGrpSpPr>
          <p:cNvPr id="3" name="Group 3"/>
          <p:cNvGrpSpPr/>
          <p:nvPr/>
        </p:nvGrpSpPr>
        <p:grpSpPr>
          <a:xfrm>
            <a:off x="0" y="0"/>
            <a:ext cx="10157401" cy="1819117"/>
            <a:chOff x="0" y="0"/>
            <a:chExt cx="3435960" cy="615356"/>
          </a:xfrm>
        </p:grpSpPr>
        <p:sp>
          <p:nvSpPr>
            <p:cNvPr id="4" name="Freeform 4"/>
            <p:cNvSpPr/>
            <p:nvPr/>
          </p:nvSpPr>
          <p:spPr>
            <a:xfrm>
              <a:off x="0" y="0"/>
              <a:ext cx="3435960" cy="615356"/>
            </a:xfrm>
            <a:custGeom>
              <a:avLst/>
              <a:gdLst/>
              <a:ahLst/>
              <a:cxnLst/>
              <a:rect l="l" t="t" r="r" b="b"/>
              <a:pathLst>
                <a:path w="3435960" h="615356">
                  <a:moveTo>
                    <a:pt x="0" y="0"/>
                  </a:moveTo>
                  <a:lnTo>
                    <a:pt x="3435960" y="0"/>
                  </a:lnTo>
                  <a:lnTo>
                    <a:pt x="3435960" y="615356"/>
                  </a:lnTo>
                  <a:lnTo>
                    <a:pt x="0" y="615356"/>
                  </a:lnTo>
                  <a:close/>
                </a:path>
              </a:pathLst>
            </a:custGeom>
            <a:solidFill>
              <a:srgbClr val="F6F6F6"/>
            </a:solidFill>
          </p:spPr>
        </p:sp>
      </p:grpSp>
      <p:sp>
        <p:nvSpPr>
          <p:cNvPr id="5" name="AutoShape 5"/>
          <p:cNvSpPr/>
          <p:nvPr/>
        </p:nvSpPr>
        <p:spPr>
          <a:xfrm>
            <a:off x="10157401" y="9258300"/>
            <a:ext cx="8130599" cy="0"/>
          </a:xfrm>
          <a:prstGeom prst="line">
            <a:avLst/>
          </a:prstGeom>
          <a:ln w="9525" cap="flat">
            <a:solidFill>
              <a:srgbClr val="EBEBEB"/>
            </a:solidFill>
            <a:prstDash val="solid"/>
            <a:headEnd type="none" w="sm" len="sm"/>
            <a:tailEnd type="none" w="sm" len="sm"/>
          </a:ln>
        </p:spPr>
      </p:sp>
      <p:grpSp>
        <p:nvGrpSpPr>
          <p:cNvPr id="6" name="Group 6"/>
          <p:cNvGrpSpPr/>
          <p:nvPr/>
        </p:nvGrpSpPr>
        <p:grpSpPr>
          <a:xfrm>
            <a:off x="10157401" y="0"/>
            <a:ext cx="8130599" cy="10287000"/>
            <a:chOff x="0" y="0"/>
            <a:chExt cx="812800" cy="1028371"/>
          </a:xfrm>
        </p:grpSpPr>
        <p:sp>
          <p:nvSpPr>
            <p:cNvPr id="7" name="Freeform 7"/>
            <p:cNvSpPr/>
            <p:nvPr/>
          </p:nvSpPr>
          <p:spPr>
            <a:xfrm>
              <a:off x="0" y="0"/>
              <a:ext cx="812800" cy="1028371"/>
            </a:xfrm>
            <a:custGeom>
              <a:avLst/>
              <a:gdLst/>
              <a:ahLst/>
              <a:cxnLst/>
              <a:rect l="l" t="t" r="r" b="b"/>
              <a:pathLst>
                <a:path w="812800" h="1028371">
                  <a:moveTo>
                    <a:pt x="0" y="0"/>
                  </a:moveTo>
                  <a:lnTo>
                    <a:pt x="812800" y="0"/>
                  </a:lnTo>
                  <a:lnTo>
                    <a:pt x="812800" y="1028371"/>
                  </a:lnTo>
                  <a:lnTo>
                    <a:pt x="0" y="1028371"/>
                  </a:lnTo>
                  <a:close/>
                </a:path>
              </a:pathLst>
            </a:custGeom>
            <a:blipFill>
              <a:blip r:embed="rId3"/>
              <a:stretch>
                <a:fillRect l="-3160" r="-86740"/>
              </a:stretch>
            </a:blipFill>
          </p:spPr>
        </p:sp>
      </p:grpSp>
      <p:sp>
        <p:nvSpPr>
          <p:cNvPr id="8" name="TextBox 8"/>
          <p:cNvSpPr txBox="1"/>
          <p:nvPr/>
        </p:nvSpPr>
        <p:spPr>
          <a:xfrm>
            <a:off x="1028700" y="4371530"/>
            <a:ext cx="8115300" cy="2597149"/>
          </a:xfrm>
          <a:prstGeom prst="rect">
            <a:avLst/>
          </a:prstGeom>
        </p:spPr>
        <p:txBody>
          <a:bodyPr lIns="0" tIns="0" rIns="0" bIns="0" rtlCol="0" anchor="t">
            <a:spAutoFit/>
          </a:bodyPr>
          <a:lstStyle/>
          <a:p>
            <a:pPr>
              <a:lnSpc>
                <a:spcPts val="9999"/>
              </a:lnSpc>
            </a:pPr>
            <a:r>
              <a:rPr lang="en-US" sz="9999">
                <a:solidFill>
                  <a:srgbClr val="2D2D2D"/>
                </a:solidFill>
                <a:latin typeface="DM Serif Display"/>
              </a:rPr>
              <a:t>Thank you</a:t>
            </a:r>
          </a:p>
          <a:p>
            <a:pPr>
              <a:lnSpc>
                <a:spcPts val="9999"/>
              </a:lnSpc>
            </a:pPr>
            <a:r>
              <a:rPr lang="en-US" sz="9999">
                <a:solidFill>
                  <a:srgbClr val="2D2D2D"/>
                </a:solidFill>
                <a:latin typeface="DM Serif Display"/>
              </a:rPr>
              <a:t>for listening!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320</Words>
  <Application>Microsoft Office PowerPoint</Application>
  <PresentationFormat>Custom</PresentationFormat>
  <Paragraphs>29</Paragraphs>
  <Slides>7</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vt:i4>
      </vt:variant>
    </vt:vector>
  </HeadingPairs>
  <TitlesOfParts>
    <vt:vector size="16" baseType="lpstr">
      <vt:lpstr>Mokoto</vt:lpstr>
      <vt:lpstr>Nunito Light</vt:lpstr>
      <vt:lpstr>Nunito Bold</vt:lpstr>
      <vt:lpstr>DM Serif Display</vt:lpstr>
      <vt:lpstr>Nunito</vt:lpstr>
      <vt:lpstr>Calibri</vt:lpstr>
      <vt:lpstr>Arial</vt:lpstr>
      <vt:lpstr>DM Serif Display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Fabric fusion</dc:title>
  <cp:lastModifiedBy>NOORUL HASSAN</cp:lastModifiedBy>
  <cp:revision>2</cp:revision>
  <dcterms:created xsi:type="dcterms:W3CDTF">2006-08-16T00:00:00Z</dcterms:created>
  <dcterms:modified xsi:type="dcterms:W3CDTF">2026-03-23T17:27:03Z</dcterms:modified>
  <dc:identifier>DAF8fy2DQCw</dc:identifier>
</cp:coreProperties>
</file>