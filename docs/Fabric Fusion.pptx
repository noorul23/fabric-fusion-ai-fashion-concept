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7" r:id="rId1"/>
  </p:sldMasterIdLst>
  <p:notesMasterIdLst>
    <p:notesMasterId r:id="rId28"/>
  </p:notesMasterIdLst>
  <p:sldIdLst>
    <p:sldId id="256" r:id="rId2"/>
    <p:sldId id="341" r:id="rId3"/>
    <p:sldId id="310" r:id="rId4"/>
    <p:sldId id="271" r:id="rId5"/>
    <p:sldId id="313" r:id="rId6"/>
    <p:sldId id="315" r:id="rId7"/>
    <p:sldId id="273" r:id="rId8"/>
    <p:sldId id="293" r:id="rId9"/>
    <p:sldId id="294" r:id="rId10"/>
    <p:sldId id="336" r:id="rId11"/>
    <p:sldId id="342" r:id="rId12"/>
    <p:sldId id="343" r:id="rId13"/>
    <p:sldId id="344" r:id="rId14"/>
    <p:sldId id="345" r:id="rId15"/>
    <p:sldId id="346" r:id="rId16"/>
    <p:sldId id="299" r:id="rId17"/>
    <p:sldId id="350" r:id="rId18"/>
    <p:sldId id="353" r:id="rId19"/>
    <p:sldId id="351" r:id="rId20"/>
    <p:sldId id="339" r:id="rId21"/>
    <p:sldId id="352" r:id="rId22"/>
    <p:sldId id="354" r:id="rId23"/>
    <p:sldId id="348" r:id="rId24"/>
    <p:sldId id="355" r:id="rId25"/>
    <p:sldId id="268" r:id="rId26"/>
    <p:sldId id="267" r:id="rId27"/>
  </p:sldIdLst>
  <p:sldSz cx="18288000" cy="10287000"/>
  <p:notesSz cx="6858000" cy="9144000"/>
  <p:embeddedFontLst>
    <p:embeddedFont>
      <p:font typeface="Antonio Bold" panose="020B0604020202020204" charset="0"/>
      <p:regular r:id="rId29"/>
      <p:bold r:id="rId30"/>
    </p:embeddedFont>
    <p:embeddedFont>
      <p:font typeface="Arimo" panose="020B0604020202020204" charset="0"/>
      <p:regular r:id="rId31"/>
    </p:embeddedFont>
    <p:embeddedFont>
      <p:font typeface="Avenir" panose="020B0604020202020204" charset="0"/>
      <p:regular r:id="rId32"/>
      <p:italic r:id="rId33"/>
    </p:embeddedFont>
    <p:embeddedFont>
      <p:font typeface="Barlow" panose="00000500000000000000" pitchFamily="2" charset="0"/>
      <p:regular r:id="rId34"/>
      <p:bold r:id="rId35"/>
      <p:italic r:id="rId36"/>
      <p:boldItalic r:id="rId37"/>
    </p:embeddedFont>
    <p:embeddedFont>
      <p:font typeface="Calibri" panose="020F0502020204030204" pitchFamily="34" charset="0"/>
      <p:regular r:id="rId38"/>
      <p:bold r:id="rId39"/>
      <p:italic r:id="rId40"/>
      <p:boldItalic r:id="rId41"/>
    </p:embeddedFont>
    <p:embeddedFont>
      <p:font typeface="charter" panose="020B0604020202020204" charset="0"/>
      <p:regular r:id="rId42"/>
      <p:bold r:id="rId43"/>
      <p:italic r:id="rId44"/>
      <p:boldItalic r:id="rId45"/>
    </p:embeddedFont>
    <p:embeddedFont>
      <p:font typeface="Lexend Deca" panose="020B0604020202020204" charset="0"/>
      <p:regular r:id="rId46"/>
      <p:bold r:id="rId47"/>
    </p:embeddedFont>
    <p:embeddedFont>
      <p:font typeface="Montserrat" panose="00000500000000000000" pitchFamily="2" charset="0"/>
      <p:regular r:id="rId48"/>
      <p:bold r:id="rId49"/>
      <p:italic r:id="rId50"/>
      <p:boldItalic r:id="rId51"/>
    </p:embeddedFont>
    <p:embeddedFont>
      <p:font typeface="Nunito" pitchFamily="2" charset="0"/>
      <p:regular r:id="rId52"/>
      <p:bold r:id="rId53"/>
      <p:italic r:id="rId54"/>
      <p:boldItalic r:id="rId55"/>
    </p:embeddedFont>
    <p:embeddedFont>
      <p:font typeface="Open Sans" panose="020B0606030504020204" pitchFamily="34" charset="0"/>
      <p:regular r:id="rId56"/>
      <p:bold r:id="rId57"/>
      <p:italic r:id="rId58"/>
      <p:boldItalic r:id="rId59"/>
    </p:embeddedFont>
    <p:embeddedFont>
      <p:font typeface="Raleway" pitchFamily="2" charset="0"/>
      <p:regular r:id="rId60"/>
      <p:bold r:id="rId61"/>
      <p:italic r:id="rId62"/>
      <p:boldItalic r:id="rId63"/>
    </p:embeddedFont>
    <p:embeddedFont>
      <p:font typeface="TT Rounds Condensed" panose="020B0604020202020204" charset="0"/>
      <p:regular r:id="rId64"/>
    </p:embeddedFont>
    <p:embeddedFont>
      <p:font typeface="Verdana" panose="020B0604030504040204" pitchFamily="34" charset="0"/>
      <p:regular r:id="rId65"/>
      <p:bold r:id="rId66"/>
      <p:italic r:id="rId67"/>
      <p:boldItalic r:id="rId68"/>
    </p:embeddedFont>
  </p:embeddedFontLst>
  <p:defaultTextStyle>
    <a:defPPr>
      <a:defRPr lang="en-US"/>
    </a:defPPr>
    <a:lvl1pPr marL="0" algn="l" defTabSz="914393" rtl="0" eaLnBrk="1" latinLnBrk="0" hangingPunct="1">
      <a:defRPr sz="1800" kern="1200">
        <a:solidFill>
          <a:schemeClr val="tx1"/>
        </a:solidFill>
        <a:latin typeface="+mn-lt"/>
        <a:ea typeface="+mn-ea"/>
        <a:cs typeface="+mn-cs"/>
      </a:defRPr>
    </a:lvl1pPr>
    <a:lvl2pPr marL="457196" algn="l" defTabSz="914393" rtl="0" eaLnBrk="1" latinLnBrk="0" hangingPunct="1">
      <a:defRPr sz="1800" kern="1200">
        <a:solidFill>
          <a:schemeClr val="tx1"/>
        </a:solidFill>
        <a:latin typeface="+mn-lt"/>
        <a:ea typeface="+mn-ea"/>
        <a:cs typeface="+mn-cs"/>
      </a:defRPr>
    </a:lvl2pPr>
    <a:lvl3pPr marL="914393" algn="l" defTabSz="914393" rtl="0" eaLnBrk="1" latinLnBrk="0" hangingPunct="1">
      <a:defRPr sz="1800" kern="1200">
        <a:solidFill>
          <a:schemeClr val="tx1"/>
        </a:solidFill>
        <a:latin typeface="+mn-lt"/>
        <a:ea typeface="+mn-ea"/>
        <a:cs typeface="+mn-cs"/>
      </a:defRPr>
    </a:lvl3pPr>
    <a:lvl4pPr marL="1371589" algn="l" defTabSz="914393" rtl="0" eaLnBrk="1" latinLnBrk="0" hangingPunct="1">
      <a:defRPr sz="1800" kern="1200">
        <a:solidFill>
          <a:schemeClr val="tx1"/>
        </a:solidFill>
        <a:latin typeface="+mn-lt"/>
        <a:ea typeface="+mn-ea"/>
        <a:cs typeface="+mn-cs"/>
      </a:defRPr>
    </a:lvl4pPr>
    <a:lvl5pPr marL="1828785" algn="l" defTabSz="914393" rtl="0" eaLnBrk="1" latinLnBrk="0" hangingPunct="1">
      <a:defRPr sz="1800" kern="1200">
        <a:solidFill>
          <a:schemeClr val="tx1"/>
        </a:solidFill>
        <a:latin typeface="+mn-lt"/>
        <a:ea typeface="+mn-ea"/>
        <a:cs typeface="+mn-cs"/>
      </a:defRPr>
    </a:lvl5pPr>
    <a:lvl6pPr marL="2285982" algn="l" defTabSz="914393" rtl="0" eaLnBrk="1" latinLnBrk="0" hangingPunct="1">
      <a:defRPr sz="1800" kern="1200">
        <a:solidFill>
          <a:schemeClr val="tx1"/>
        </a:solidFill>
        <a:latin typeface="+mn-lt"/>
        <a:ea typeface="+mn-ea"/>
        <a:cs typeface="+mn-cs"/>
      </a:defRPr>
    </a:lvl6pPr>
    <a:lvl7pPr marL="2743178" algn="l" defTabSz="914393" rtl="0" eaLnBrk="1" latinLnBrk="0" hangingPunct="1">
      <a:defRPr sz="1800" kern="1200">
        <a:solidFill>
          <a:schemeClr val="tx1"/>
        </a:solidFill>
        <a:latin typeface="+mn-lt"/>
        <a:ea typeface="+mn-ea"/>
        <a:cs typeface="+mn-cs"/>
      </a:defRPr>
    </a:lvl7pPr>
    <a:lvl8pPr marL="3200374" algn="l" defTabSz="914393" rtl="0" eaLnBrk="1" latinLnBrk="0" hangingPunct="1">
      <a:defRPr sz="1800" kern="1200">
        <a:solidFill>
          <a:schemeClr val="tx1"/>
        </a:solidFill>
        <a:latin typeface="+mn-lt"/>
        <a:ea typeface="+mn-ea"/>
        <a:cs typeface="+mn-cs"/>
      </a:defRPr>
    </a:lvl8pPr>
    <a:lvl9pPr marL="3657571" algn="l" defTabSz="91439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Bolton" initials="CB" lastIdx="1" clrIdx="0">
    <p:extLst>
      <p:ext uri="{19B8F6BF-5375-455C-9EA6-DF929625EA0E}">
        <p15:presenceInfo xmlns:p15="http://schemas.microsoft.com/office/powerpoint/2012/main" userId="42254106b65d6a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66"/>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4588" autoAdjust="0"/>
  </p:normalViewPr>
  <p:slideViewPr>
    <p:cSldViewPr>
      <p:cViewPr>
        <p:scale>
          <a:sx n="66" d="100"/>
          <a:sy n="66" d="100"/>
        </p:scale>
        <p:origin x="62"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14.fntdata"/><Relationship Id="rId47" Type="http://schemas.openxmlformats.org/officeDocument/2006/relationships/font" Target="fonts/font19.fntdata"/><Relationship Id="rId63" Type="http://schemas.openxmlformats.org/officeDocument/2006/relationships/font" Target="fonts/font35.fntdata"/><Relationship Id="rId68" Type="http://schemas.openxmlformats.org/officeDocument/2006/relationships/font" Target="fonts/font4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font" Target="fonts/font25.fntdata"/><Relationship Id="rId58" Type="http://schemas.openxmlformats.org/officeDocument/2006/relationships/font" Target="fonts/font30.fntdata"/><Relationship Id="rId66" Type="http://schemas.openxmlformats.org/officeDocument/2006/relationships/font" Target="fonts/font38.fntdata"/><Relationship Id="rId5" Type="http://schemas.openxmlformats.org/officeDocument/2006/relationships/slide" Target="slides/slide4.xml"/><Relationship Id="rId61" Type="http://schemas.openxmlformats.org/officeDocument/2006/relationships/font" Target="fonts/font3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56" Type="http://schemas.openxmlformats.org/officeDocument/2006/relationships/font" Target="fonts/font28.fntdata"/><Relationship Id="rId64" Type="http://schemas.openxmlformats.org/officeDocument/2006/relationships/font" Target="fonts/font36.fntdata"/><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font" Target="fonts/font23.fntdata"/><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font" Target="fonts/font31.fntdata"/><Relationship Id="rId67" Type="http://schemas.openxmlformats.org/officeDocument/2006/relationships/font" Target="fonts/font39.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font" Target="fonts/font26.fntdata"/><Relationship Id="rId62" Type="http://schemas.openxmlformats.org/officeDocument/2006/relationships/font" Target="fonts/font34.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 Id="rId57" Type="http://schemas.openxmlformats.org/officeDocument/2006/relationships/font" Target="fonts/font29.fntdata"/><Relationship Id="rId10" Type="http://schemas.openxmlformats.org/officeDocument/2006/relationships/slide" Target="slides/slide9.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font" Target="fonts/font24.fntdata"/><Relationship Id="rId60" Type="http://schemas.openxmlformats.org/officeDocument/2006/relationships/font" Target="fonts/font32.fntdata"/><Relationship Id="rId65" Type="http://schemas.openxmlformats.org/officeDocument/2006/relationships/font" Target="fonts/font37.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1.fntdata"/><Relationship Id="rId34" Type="http://schemas.openxmlformats.org/officeDocument/2006/relationships/font" Target="fonts/font6.fntdata"/><Relationship Id="rId50" Type="http://schemas.openxmlformats.org/officeDocument/2006/relationships/font" Target="fonts/font22.fntdata"/><Relationship Id="rId55" Type="http://schemas.openxmlformats.org/officeDocument/2006/relationships/font" Target="fonts/font27.fntdata"/><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44F1D-3325-40CB-A71F-A79307D22CED}" type="doc">
      <dgm:prSet loTypeId="urn:microsoft.com/office/officeart/2005/8/layout/venn2" loCatId="relationship" qsTypeId="urn:microsoft.com/office/officeart/2005/8/quickstyle/simple2" qsCatId="simple" csTypeId="urn:microsoft.com/office/officeart/2005/8/colors/accent1_4" csCatId="accent1" phldr="1"/>
      <dgm:spPr/>
      <dgm:t>
        <a:bodyPr/>
        <a:lstStyle/>
        <a:p>
          <a:endParaRPr lang="en-IN"/>
        </a:p>
      </dgm:t>
    </dgm:pt>
    <dgm:pt modelId="{746B4EF9-BF3A-40BA-AFB2-066011491528}">
      <dgm:prSet phldrT="[Text]"/>
      <dgm:spPr>
        <a:xfrm>
          <a:off x="1391698" y="0"/>
          <a:ext cx="3975621" cy="3975621"/>
        </a:xfrm>
      </dgm:spPr>
      <dgm:t>
        <a:bodyPr/>
        <a:lstStyle/>
        <a:p>
          <a:r>
            <a:rPr lang="en-US" dirty="0"/>
            <a:t>US$5.10bn</a:t>
          </a:r>
          <a:endParaRPr lang="en-IN" dirty="0">
            <a:latin typeface="Calibri" panose="020F0502020204030204"/>
            <a:ea typeface="+mn-ea"/>
            <a:cs typeface="+mn-cs"/>
          </a:endParaRPr>
        </a:p>
      </dgm:t>
    </dgm:pt>
    <dgm:pt modelId="{1954D69E-B74F-4B4C-92A9-ACC18C47A984}" type="parTrans" cxnId="{6915F751-B358-4E82-A29A-FC970199FF41}">
      <dgm:prSet/>
      <dgm:spPr/>
      <dgm:t>
        <a:bodyPr/>
        <a:lstStyle/>
        <a:p>
          <a:endParaRPr lang="en-IN"/>
        </a:p>
      </dgm:t>
    </dgm:pt>
    <dgm:pt modelId="{0B14DF90-4A8A-4E4D-9AD4-5A31ECC3D299}" type="sibTrans" cxnId="{6915F751-B358-4E82-A29A-FC970199FF41}">
      <dgm:prSet/>
      <dgm:spPr/>
      <dgm:t>
        <a:bodyPr/>
        <a:lstStyle/>
        <a:p>
          <a:endParaRPr lang="en-IN"/>
        </a:p>
      </dgm:t>
    </dgm:pt>
    <dgm:pt modelId="{C97EDADC-8ECD-42D4-89AC-847633F19078}">
      <dgm:prSet phldrT="[Text]"/>
      <dgm:spPr>
        <a:xfrm>
          <a:off x="1888651" y="993905"/>
          <a:ext cx="2981715" cy="2981715"/>
        </a:xfrm>
      </dgm:spPr>
      <dgm:t>
        <a:bodyPr/>
        <a:lstStyle/>
        <a:p>
          <a:r>
            <a:rPr lang="en-US" b="0" i="0" dirty="0"/>
            <a:t>US$5,920m</a:t>
          </a:r>
          <a:endParaRPr lang="en-IN" dirty="0">
            <a:latin typeface="Calibri" panose="020F0502020204030204"/>
            <a:ea typeface="+mn-ea"/>
            <a:cs typeface="+mn-cs"/>
          </a:endParaRPr>
        </a:p>
      </dgm:t>
    </dgm:pt>
    <dgm:pt modelId="{A3260F69-CA56-4346-A57E-769087C36739}" type="parTrans" cxnId="{3DEA3B12-D7FA-440A-BE79-775519D6910A}">
      <dgm:prSet/>
      <dgm:spPr/>
      <dgm:t>
        <a:bodyPr/>
        <a:lstStyle/>
        <a:p>
          <a:endParaRPr lang="en-IN"/>
        </a:p>
      </dgm:t>
    </dgm:pt>
    <dgm:pt modelId="{5909561E-9CA8-4668-901B-DE46BDCB26D4}" type="sibTrans" cxnId="{3DEA3B12-D7FA-440A-BE79-775519D6910A}">
      <dgm:prSet/>
      <dgm:spPr/>
      <dgm:t>
        <a:bodyPr/>
        <a:lstStyle/>
        <a:p>
          <a:endParaRPr lang="en-IN"/>
        </a:p>
      </dgm:t>
    </dgm:pt>
    <dgm:pt modelId="{E5EFF1E8-ABE4-4362-A50E-B875D125BD96}">
      <dgm:prSet phldrT="[Text]"/>
      <dgm:spPr>
        <a:xfrm>
          <a:off x="2385603" y="1987810"/>
          <a:ext cx="1987810" cy="1987810"/>
        </a:xfrm>
      </dgm:spPr>
      <dgm:t>
        <a:bodyPr/>
        <a:lstStyle/>
        <a:p>
          <a:r>
            <a:rPr lang="en-US" b="0" i="0" dirty="0"/>
            <a:t>US$10,000</a:t>
          </a:r>
          <a:endParaRPr lang="en-IN" dirty="0">
            <a:latin typeface="Calibri" panose="020F0502020204030204"/>
            <a:ea typeface="+mn-ea"/>
            <a:cs typeface="+mn-cs"/>
          </a:endParaRPr>
        </a:p>
      </dgm:t>
    </dgm:pt>
    <dgm:pt modelId="{14B6BEEE-EB27-4CAC-B0EE-383B99B876FC}" type="parTrans" cxnId="{154FA2CE-CAB5-4733-8C08-DDAE9106897D}">
      <dgm:prSet/>
      <dgm:spPr/>
      <dgm:t>
        <a:bodyPr/>
        <a:lstStyle/>
        <a:p>
          <a:endParaRPr lang="en-IN"/>
        </a:p>
      </dgm:t>
    </dgm:pt>
    <dgm:pt modelId="{D5317EF5-6EDB-436F-B2D4-C6A7CD409F02}" type="sibTrans" cxnId="{154FA2CE-CAB5-4733-8C08-DDAE9106897D}">
      <dgm:prSet/>
      <dgm:spPr/>
      <dgm:t>
        <a:bodyPr/>
        <a:lstStyle/>
        <a:p>
          <a:endParaRPr lang="en-IN"/>
        </a:p>
      </dgm:t>
    </dgm:pt>
    <dgm:pt modelId="{F2B9CC1C-BDE6-4CDB-A758-74CC86A3F31F}" type="pres">
      <dgm:prSet presAssocID="{DD344F1D-3325-40CB-A71F-A79307D22CED}" presName="Name0" presStyleCnt="0">
        <dgm:presLayoutVars>
          <dgm:chMax val="7"/>
          <dgm:resizeHandles val="exact"/>
        </dgm:presLayoutVars>
      </dgm:prSet>
      <dgm:spPr/>
    </dgm:pt>
    <dgm:pt modelId="{8451ED41-C590-464C-8723-134AEB39DBB3}" type="pres">
      <dgm:prSet presAssocID="{DD344F1D-3325-40CB-A71F-A79307D22CED}" presName="comp1" presStyleCnt="0"/>
      <dgm:spPr/>
    </dgm:pt>
    <dgm:pt modelId="{2BE2AAFC-BEAE-481D-B557-81DE68A237F7}" type="pres">
      <dgm:prSet presAssocID="{DD344F1D-3325-40CB-A71F-A79307D22CED}" presName="circle1" presStyleLbl="node1" presStyleIdx="0" presStyleCnt="3"/>
      <dgm:spPr>
        <a:prstGeom prst="ellipse">
          <a:avLst/>
        </a:prstGeom>
      </dgm:spPr>
    </dgm:pt>
    <dgm:pt modelId="{ED7C1346-0397-438A-9AAD-8BE2335EC6BB}" type="pres">
      <dgm:prSet presAssocID="{DD344F1D-3325-40CB-A71F-A79307D22CED}" presName="c1text" presStyleLbl="node1" presStyleIdx="0" presStyleCnt="3">
        <dgm:presLayoutVars>
          <dgm:bulletEnabled val="1"/>
        </dgm:presLayoutVars>
      </dgm:prSet>
      <dgm:spPr/>
    </dgm:pt>
    <dgm:pt modelId="{8F11973F-33EE-445B-8E28-2D5EAC0DA289}" type="pres">
      <dgm:prSet presAssocID="{DD344F1D-3325-40CB-A71F-A79307D22CED}" presName="comp2" presStyleCnt="0"/>
      <dgm:spPr/>
    </dgm:pt>
    <dgm:pt modelId="{5783AC22-EAAA-4B02-9505-F9F67BC8F71A}" type="pres">
      <dgm:prSet presAssocID="{DD344F1D-3325-40CB-A71F-A79307D22CED}" presName="circle2" presStyleLbl="node1" presStyleIdx="1" presStyleCnt="3"/>
      <dgm:spPr>
        <a:prstGeom prst="ellipse">
          <a:avLst/>
        </a:prstGeom>
      </dgm:spPr>
    </dgm:pt>
    <dgm:pt modelId="{4871E181-12FC-48FB-9E74-6BA476466234}" type="pres">
      <dgm:prSet presAssocID="{DD344F1D-3325-40CB-A71F-A79307D22CED}" presName="c2text" presStyleLbl="node1" presStyleIdx="1" presStyleCnt="3">
        <dgm:presLayoutVars>
          <dgm:bulletEnabled val="1"/>
        </dgm:presLayoutVars>
      </dgm:prSet>
      <dgm:spPr/>
    </dgm:pt>
    <dgm:pt modelId="{901532F9-DC54-486E-8432-B2395DAF1269}" type="pres">
      <dgm:prSet presAssocID="{DD344F1D-3325-40CB-A71F-A79307D22CED}" presName="comp3" presStyleCnt="0"/>
      <dgm:spPr/>
    </dgm:pt>
    <dgm:pt modelId="{0927306A-DE0F-4C43-94ED-305F00916AD7}" type="pres">
      <dgm:prSet presAssocID="{DD344F1D-3325-40CB-A71F-A79307D22CED}" presName="circle3" presStyleLbl="node1" presStyleIdx="2" presStyleCnt="3"/>
      <dgm:spPr>
        <a:prstGeom prst="ellipse">
          <a:avLst/>
        </a:prstGeom>
      </dgm:spPr>
    </dgm:pt>
    <dgm:pt modelId="{DFA2E1B6-C653-4ECD-AABA-E3551E5267D7}" type="pres">
      <dgm:prSet presAssocID="{DD344F1D-3325-40CB-A71F-A79307D22CED}" presName="c3text" presStyleLbl="node1" presStyleIdx="2" presStyleCnt="3">
        <dgm:presLayoutVars>
          <dgm:bulletEnabled val="1"/>
        </dgm:presLayoutVars>
      </dgm:prSet>
      <dgm:spPr/>
    </dgm:pt>
  </dgm:ptLst>
  <dgm:cxnLst>
    <dgm:cxn modelId="{3DEA3B12-D7FA-440A-BE79-775519D6910A}" srcId="{DD344F1D-3325-40CB-A71F-A79307D22CED}" destId="{C97EDADC-8ECD-42D4-89AC-847633F19078}" srcOrd="1" destOrd="0" parTransId="{A3260F69-CA56-4346-A57E-769087C36739}" sibTransId="{5909561E-9CA8-4668-901B-DE46BDCB26D4}"/>
    <dgm:cxn modelId="{69D89837-AE44-447D-BEBD-713B62821E4E}" type="presOf" srcId="{DD344F1D-3325-40CB-A71F-A79307D22CED}" destId="{F2B9CC1C-BDE6-4CDB-A758-74CC86A3F31F}" srcOrd="0" destOrd="0" presId="urn:microsoft.com/office/officeart/2005/8/layout/venn2"/>
    <dgm:cxn modelId="{5048B446-AC55-441E-A5AC-1FA804A23A0B}" type="presOf" srcId="{746B4EF9-BF3A-40BA-AFB2-066011491528}" destId="{2BE2AAFC-BEAE-481D-B557-81DE68A237F7}" srcOrd="0" destOrd="0" presId="urn:microsoft.com/office/officeart/2005/8/layout/venn2"/>
    <dgm:cxn modelId="{6EF22650-71F8-46AA-B2F3-3FB7C09D1771}" type="presOf" srcId="{C97EDADC-8ECD-42D4-89AC-847633F19078}" destId="{5783AC22-EAAA-4B02-9505-F9F67BC8F71A}" srcOrd="0" destOrd="0" presId="urn:microsoft.com/office/officeart/2005/8/layout/venn2"/>
    <dgm:cxn modelId="{6915F751-B358-4E82-A29A-FC970199FF41}" srcId="{DD344F1D-3325-40CB-A71F-A79307D22CED}" destId="{746B4EF9-BF3A-40BA-AFB2-066011491528}" srcOrd="0" destOrd="0" parTransId="{1954D69E-B74F-4B4C-92A9-ACC18C47A984}" sibTransId="{0B14DF90-4A8A-4E4D-9AD4-5A31ECC3D299}"/>
    <dgm:cxn modelId="{3E5E3453-8B05-494C-B7DD-8F789CE1047E}" type="presOf" srcId="{E5EFF1E8-ABE4-4362-A50E-B875D125BD96}" destId="{DFA2E1B6-C653-4ECD-AABA-E3551E5267D7}" srcOrd="1" destOrd="0" presId="urn:microsoft.com/office/officeart/2005/8/layout/venn2"/>
    <dgm:cxn modelId="{1D633193-84D8-41E9-9BEA-42E4AE88C1C3}" type="presOf" srcId="{746B4EF9-BF3A-40BA-AFB2-066011491528}" destId="{ED7C1346-0397-438A-9AAD-8BE2335EC6BB}" srcOrd="1" destOrd="0" presId="urn:microsoft.com/office/officeart/2005/8/layout/venn2"/>
    <dgm:cxn modelId="{154FA2CE-CAB5-4733-8C08-DDAE9106897D}" srcId="{DD344F1D-3325-40CB-A71F-A79307D22CED}" destId="{E5EFF1E8-ABE4-4362-A50E-B875D125BD96}" srcOrd="2" destOrd="0" parTransId="{14B6BEEE-EB27-4CAC-B0EE-383B99B876FC}" sibTransId="{D5317EF5-6EDB-436F-B2D4-C6A7CD409F02}"/>
    <dgm:cxn modelId="{BC82ABE1-F8A3-46C7-A8A9-E359E0C156F0}" type="presOf" srcId="{E5EFF1E8-ABE4-4362-A50E-B875D125BD96}" destId="{0927306A-DE0F-4C43-94ED-305F00916AD7}" srcOrd="0" destOrd="0" presId="urn:microsoft.com/office/officeart/2005/8/layout/venn2"/>
    <dgm:cxn modelId="{76C1ADE8-3E68-44A1-9298-A83070409F2A}" type="presOf" srcId="{C97EDADC-8ECD-42D4-89AC-847633F19078}" destId="{4871E181-12FC-48FB-9E74-6BA476466234}" srcOrd="1" destOrd="0" presId="urn:microsoft.com/office/officeart/2005/8/layout/venn2"/>
    <dgm:cxn modelId="{D86D7FDC-6353-4BA1-AE90-91314EE84F6A}" type="presParOf" srcId="{F2B9CC1C-BDE6-4CDB-A758-74CC86A3F31F}" destId="{8451ED41-C590-464C-8723-134AEB39DBB3}" srcOrd="0" destOrd="0" presId="urn:microsoft.com/office/officeart/2005/8/layout/venn2"/>
    <dgm:cxn modelId="{79A2FCE8-97C6-47B7-A077-3470F5B7CF5B}" type="presParOf" srcId="{8451ED41-C590-464C-8723-134AEB39DBB3}" destId="{2BE2AAFC-BEAE-481D-B557-81DE68A237F7}" srcOrd="0" destOrd="0" presId="urn:microsoft.com/office/officeart/2005/8/layout/venn2"/>
    <dgm:cxn modelId="{2001E8A0-D926-4888-A220-3D21930627E0}" type="presParOf" srcId="{8451ED41-C590-464C-8723-134AEB39DBB3}" destId="{ED7C1346-0397-438A-9AAD-8BE2335EC6BB}" srcOrd="1" destOrd="0" presId="urn:microsoft.com/office/officeart/2005/8/layout/venn2"/>
    <dgm:cxn modelId="{8227A953-9708-418C-850B-24986FB12064}" type="presParOf" srcId="{F2B9CC1C-BDE6-4CDB-A758-74CC86A3F31F}" destId="{8F11973F-33EE-445B-8E28-2D5EAC0DA289}" srcOrd="1" destOrd="0" presId="urn:microsoft.com/office/officeart/2005/8/layout/venn2"/>
    <dgm:cxn modelId="{63F99341-D2DC-4256-A8D3-412F66819B89}" type="presParOf" srcId="{8F11973F-33EE-445B-8E28-2D5EAC0DA289}" destId="{5783AC22-EAAA-4B02-9505-F9F67BC8F71A}" srcOrd="0" destOrd="0" presId="urn:microsoft.com/office/officeart/2005/8/layout/venn2"/>
    <dgm:cxn modelId="{0BD8D4D5-D41A-4F9B-88FD-86DA00EB0EF8}" type="presParOf" srcId="{8F11973F-33EE-445B-8E28-2D5EAC0DA289}" destId="{4871E181-12FC-48FB-9E74-6BA476466234}" srcOrd="1" destOrd="0" presId="urn:microsoft.com/office/officeart/2005/8/layout/venn2"/>
    <dgm:cxn modelId="{23E4EAB6-377C-4E17-A90D-6389D8FA740D}" type="presParOf" srcId="{F2B9CC1C-BDE6-4CDB-A758-74CC86A3F31F}" destId="{901532F9-DC54-486E-8432-B2395DAF1269}" srcOrd="2" destOrd="0" presId="urn:microsoft.com/office/officeart/2005/8/layout/venn2"/>
    <dgm:cxn modelId="{374D50A8-F5A5-43D6-9CD4-AD2528D84802}" type="presParOf" srcId="{901532F9-DC54-486E-8432-B2395DAF1269}" destId="{0927306A-DE0F-4C43-94ED-305F00916AD7}" srcOrd="0" destOrd="0" presId="urn:microsoft.com/office/officeart/2005/8/layout/venn2"/>
    <dgm:cxn modelId="{301AC02E-0AB1-4E55-A8F9-DF8BF733D4BC}" type="presParOf" srcId="{901532F9-DC54-486E-8432-B2395DAF1269}" destId="{DFA2E1B6-C653-4ECD-AABA-E3551E5267D7}"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C08995-0A06-4692-A667-D87FC34CAEDF}" type="doc">
      <dgm:prSet loTypeId="urn:microsoft.com/office/officeart/2005/8/layout/pyramid3" loCatId="pyramid" qsTypeId="urn:microsoft.com/office/officeart/2005/8/quickstyle/simple1" qsCatId="simple" csTypeId="urn:microsoft.com/office/officeart/2005/8/colors/accent2_1" csCatId="accent2" phldr="1"/>
      <dgm:spPr/>
    </dgm:pt>
    <dgm:pt modelId="{1B77F4E2-4054-44C5-8439-BAAC1D809E85}">
      <dgm:prSet phldrT="[Text]" custT="1"/>
      <dgm:spPr/>
      <dgm:t>
        <a:bodyPr/>
        <a:lstStyle/>
        <a:p>
          <a:r>
            <a:rPr lang="de-DE" sz="1800" b="1" dirty="0">
              <a:latin typeface="+mn-lt"/>
              <a:cs typeface="Arial" panose="020B0604020202020204" pitchFamily="34" charset="0"/>
            </a:rPr>
            <a:t>TARGET MARKET:</a:t>
          </a:r>
        </a:p>
        <a:p>
          <a:r>
            <a:rPr lang="de-DE" sz="1800" b="0" dirty="0">
              <a:latin typeface="+mn-lt"/>
              <a:cs typeface="Arial" panose="020B0604020202020204" pitchFamily="34" charset="0"/>
            </a:rPr>
            <a:t>15-30 age</a:t>
          </a:r>
        </a:p>
        <a:p>
          <a:r>
            <a:rPr lang="de-DE" sz="1800" dirty="0">
              <a:latin typeface="+mn-lt"/>
              <a:cs typeface="Arial" panose="020B0604020202020204" pitchFamily="34" charset="0"/>
            </a:rPr>
            <a:t> </a:t>
          </a:r>
        </a:p>
      </dgm:t>
    </dgm:pt>
    <dgm:pt modelId="{C067D827-58D6-4BB7-B862-87652879F687}" type="parTrans" cxnId="{6F7BCFFC-5685-445A-8A80-F7B3A816B052}">
      <dgm:prSet/>
      <dgm:spPr/>
      <dgm:t>
        <a:bodyPr/>
        <a:lstStyle/>
        <a:p>
          <a:endParaRPr lang="de-DE" sz="2400">
            <a:latin typeface="+mn-lt"/>
          </a:endParaRPr>
        </a:p>
      </dgm:t>
    </dgm:pt>
    <dgm:pt modelId="{DCC0FA10-27F4-428E-A55C-7BFE43B8D6A1}" type="sibTrans" cxnId="{6F7BCFFC-5685-445A-8A80-F7B3A816B052}">
      <dgm:prSet/>
      <dgm:spPr/>
      <dgm:t>
        <a:bodyPr/>
        <a:lstStyle/>
        <a:p>
          <a:endParaRPr lang="de-DE" sz="2400">
            <a:latin typeface="+mn-lt"/>
          </a:endParaRPr>
        </a:p>
      </dgm:t>
    </dgm:pt>
    <dgm:pt modelId="{89124381-D640-426D-B253-4D1A874C75B4}">
      <dgm:prSet phldrT="[Text]" custT="1"/>
      <dgm:spPr/>
      <dgm:t>
        <a:bodyPr/>
        <a:lstStyle/>
        <a:p>
          <a:pPr algn="ctr"/>
          <a:endParaRPr lang="de-DE" sz="1800" b="1" dirty="0">
            <a:latin typeface="+mn-lt"/>
            <a:cs typeface="Arial" panose="020B0604020202020204" pitchFamily="34" charset="0"/>
          </a:endParaRPr>
        </a:p>
        <a:p>
          <a:pPr algn="ctr"/>
          <a:r>
            <a:rPr lang="de-DE" sz="1800" b="1" dirty="0">
              <a:latin typeface="+mn-lt"/>
              <a:cs typeface="Arial" panose="020B0604020202020204" pitchFamily="34" charset="0"/>
            </a:rPr>
            <a:t>OPPORTUNITIES/PROSPECTS:</a:t>
          </a:r>
        </a:p>
        <a:p>
          <a:pPr algn="ctr"/>
          <a:r>
            <a:rPr lang="en-US" sz="1800" spc="0" dirty="0">
              <a:solidFill>
                <a:srgbClr val="000000"/>
              </a:solidFill>
              <a:latin typeface="Arimo"/>
            </a:rPr>
            <a:t>Over 55% of the citizens in cities</a:t>
          </a:r>
          <a:endParaRPr lang="de-DE" sz="1800" b="1" dirty="0">
            <a:latin typeface="+mn-lt"/>
            <a:cs typeface="Arial" panose="020B0604020202020204" pitchFamily="34" charset="0"/>
          </a:endParaRPr>
        </a:p>
        <a:p>
          <a:pPr algn="ctr"/>
          <a:r>
            <a:rPr lang="de-DE" sz="1800" b="1" dirty="0">
              <a:latin typeface="+mn-lt"/>
              <a:cs typeface="Arial" panose="020B0604020202020204" pitchFamily="34" charset="0"/>
            </a:rPr>
            <a:t> </a:t>
          </a:r>
        </a:p>
        <a:p>
          <a:pPr algn="ctr"/>
          <a:endParaRPr lang="de-DE" sz="1800" b="0" dirty="0">
            <a:latin typeface="+mn-lt"/>
            <a:cs typeface="Arial" panose="020B0604020202020204" pitchFamily="34" charset="0"/>
          </a:endParaRPr>
        </a:p>
      </dgm:t>
    </dgm:pt>
    <dgm:pt modelId="{E7A18DAA-BC05-4839-9C1F-A64F22600D8C}" type="parTrans" cxnId="{2255E916-F98E-4667-9893-DF40C3CF220E}">
      <dgm:prSet/>
      <dgm:spPr/>
      <dgm:t>
        <a:bodyPr/>
        <a:lstStyle/>
        <a:p>
          <a:endParaRPr lang="de-DE" sz="2400">
            <a:latin typeface="+mn-lt"/>
          </a:endParaRPr>
        </a:p>
      </dgm:t>
    </dgm:pt>
    <dgm:pt modelId="{5B0535CC-E61B-420F-921D-62F4C85520B5}" type="sibTrans" cxnId="{2255E916-F98E-4667-9893-DF40C3CF220E}">
      <dgm:prSet/>
      <dgm:spPr/>
      <dgm:t>
        <a:bodyPr/>
        <a:lstStyle/>
        <a:p>
          <a:endParaRPr lang="de-DE" sz="2400">
            <a:latin typeface="+mn-lt"/>
          </a:endParaRPr>
        </a:p>
      </dgm:t>
    </dgm:pt>
    <dgm:pt modelId="{D4302C08-0B0E-4DFF-B831-670196B8A703}">
      <dgm:prSet phldrT="[Text]" custT="1"/>
      <dgm:spPr/>
      <dgm:t>
        <a:bodyPr/>
        <a:lstStyle/>
        <a:p>
          <a:pPr algn="ctr">
            <a:lnSpc>
              <a:spcPct val="100000"/>
            </a:lnSpc>
          </a:pPr>
          <a:r>
            <a:rPr lang="de-DE" sz="1800" b="1" dirty="0">
              <a:latin typeface="+mn-lt"/>
              <a:cs typeface="Arial" panose="020B0604020202020204" pitchFamily="34" charset="0"/>
            </a:rPr>
            <a:t>CUSTOMER:</a:t>
          </a:r>
        </a:p>
        <a:p>
          <a:pPr algn="ctr">
            <a:lnSpc>
              <a:spcPct val="100000"/>
            </a:lnSpc>
          </a:pPr>
          <a:r>
            <a:rPr lang="de-DE" sz="1800" b="0" dirty="0">
              <a:latin typeface="+mn-lt"/>
              <a:cs typeface="Arial" panose="020B0604020202020204" pitchFamily="34" charset="0"/>
            </a:rPr>
            <a:t>3000</a:t>
          </a:r>
          <a:r>
            <a:rPr lang="de-DE" sz="1800" b="1" dirty="0">
              <a:latin typeface="+mn-lt"/>
              <a:cs typeface="Arial" panose="020B0604020202020204" pitchFamily="34" charset="0"/>
            </a:rPr>
            <a:t> </a:t>
          </a:r>
        </a:p>
        <a:p>
          <a:pPr algn="ctr">
            <a:lnSpc>
              <a:spcPct val="100000"/>
            </a:lnSpc>
          </a:pPr>
          <a:endParaRPr lang="de-DE" sz="1800" b="1" dirty="0">
            <a:latin typeface="+mn-lt"/>
            <a:cs typeface="Arial" panose="020B0604020202020204" pitchFamily="34" charset="0"/>
          </a:endParaRPr>
        </a:p>
        <a:p>
          <a:pPr algn="ctr">
            <a:lnSpc>
              <a:spcPct val="100000"/>
            </a:lnSpc>
          </a:pPr>
          <a:endParaRPr lang="de-DE" sz="1800" b="1" dirty="0">
            <a:latin typeface="+mn-lt"/>
            <a:cs typeface="Arial" panose="020B0604020202020204" pitchFamily="34" charset="0"/>
          </a:endParaRPr>
        </a:p>
        <a:p>
          <a:pPr algn="ctr">
            <a:lnSpc>
              <a:spcPct val="90000"/>
            </a:lnSpc>
          </a:pPr>
          <a:endParaRPr lang="de-DE" sz="1800" dirty="0">
            <a:latin typeface="+mn-lt"/>
            <a:cs typeface="Arial" panose="020B0604020202020204" pitchFamily="34" charset="0"/>
          </a:endParaRPr>
        </a:p>
      </dgm:t>
    </dgm:pt>
    <dgm:pt modelId="{34BF3499-FD55-441F-AF06-BBB55804704C}" type="parTrans" cxnId="{D13609CC-BF64-4283-B375-996ED0D6E430}">
      <dgm:prSet/>
      <dgm:spPr/>
      <dgm:t>
        <a:bodyPr/>
        <a:lstStyle/>
        <a:p>
          <a:endParaRPr lang="de-DE" sz="2400">
            <a:latin typeface="+mn-lt"/>
          </a:endParaRPr>
        </a:p>
      </dgm:t>
    </dgm:pt>
    <dgm:pt modelId="{95A280FD-9DD1-42AB-82EC-4058973521FC}" type="sibTrans" cxnId="{D13609CC-BF64-4283-B375-996ED0D6E430}">
      <dgm:prSet/>
      <dgm:spPr/>
      <dgm:t>
        <a:bodyPr/>
        <a:lstStyle/>
        <a:p>
          <a:endParaRPr lang="de-DE" sz="2400">
            <a:latin typeface="+mn-lt"/>
          </a:endParaRPr>
        </a:p>
      </dgm:t>
    </dgm:pt>
    <dgm:pt modelId="{11880C8A-DE3B-4D4A-BB2A-56AB99C538BE}">
      <dgm:prSet phldrT="[Text]" custT="1"/>
      <dgm:spPr/>
      <dgm:t>
        <a:bodyPr/>
        <a:lstStyle/>
        <a:p>
          <a:pPr algn="ctr"/>
          <a:endParaRPr lang="de-DE" sz="1800" b="1" dirty="0">
            <a:latin typeface="+mn-lt"/>
            <a:cs typeface="Arial" panose="020B0604020202020204" pitchFamily="34" charset="0"/>
          </a:endParaRPr>
        </a:p>
        <a:p>
          <a:pPr algn="ctr"/>
          <a:r>
            <a:rPr lang="de-DE" sz="1800" b="1" dirty="0">
              <a:latin typeface="+mn-lt"/>
              <a:cs typeface="Arial" panose="020B0604020202020204" pitchFamily="34" charset="0"/>
            </a:rPr>
            <a:t>LEADS:</a:t>
          </a:r>
        </a:p>
        <a:p>
          <a:pPr algn="ctr"/>
          <a:r>
            <a:rPr lang="en-US" sz="1800" spc="-1" dirty="0">
              <a:solidFill>
                <a:srgbClr val="000000"/>
              </a:solidFill>
              <a:latin typeface="Arimo"/>
            </a:rPr>
            <a:t>Over 7000+ through social media </a:t>
          </a:r>
          <a:endParaRPr lang="de-DE" sz="1800" b="1" dirty="0">
            <a:latin typeface="+mn-lt"/>
            <a:cs typeface="Arial" panose="020B0604020202020204" pitchFamily="34" charset="0"/>
          </a:endParaRPr>
        </a:p>
        <a:p>
          <a:pPr algn="ctr"/>
          <a:endParaRPr lang="de-DE" sz="1800" b="0" dirty="0">
            <a:latin typeface="+mn-lt"/>
            <a:cs typeface="Arial" panose="020B0604020202020204" pitchFamily="34" charset="0"/>
          </a:endParaRPr>
        </a:p>
      </dgm:t>
    </dgm:pt>
    <dgm:pt modelId="{ED62723E-6919-451D-A1CC-9607B26064A4}" type="parTrans" cxnId="{1E291445-3153-461C-AB66-06E1B7809C99}">
      <dgm:prSet/>
      <dgm:spPr/>
      <dgm:t>
        <a:bodyPr/>
        <a:lstStyle/>
        <a:p>
          <a:endParaRPr lang="de-DE" sz="2400">
            <a:latin typeface="+mn-lt"/>
          </a:endParaRPr>
        </a:p>
      </dgm:t>
    </dgm:pt>
    <dgm:pt modelId="{31871C92-E695-4083-AA22-764C465EC697}" type="sibTrans" cxnId="{1E291445-3153-461C-AB66-06E1B7809C99}">
      <dgm:prSet/>
      <dgm:spPr/>
      <dgm:t>
        <a:bodyPr/>
        <a:lstStyle/>
        <a:p>
          <a:endParaRPr lang="de-DE" sz="2400">
            <a:latin typeface="+mn-lt"/>
          </a:endParaRPr>
        </a:p>
      </dgm:t>
    </dgm:pt>
    <dgm:pt modelId="{D8783527-D5E7-4F04-B0F3-E1AEFA6F2585}" type="pres">
      <dgm:prSet presAssocID="{68C08995-0A06-4692-A667-D87FC34CAEDF}" presName="Name0" presStyleCnt="0">
        <dgm:presLayoutVars>
          <dgm:dir/>
          <dgm:animLvl val="lvl"/>
          <dgm:resizeHandles val="exact"/>
        </dgm:presLayoutVars>
      </dgm:prSet>
      <dgm:spPr/>
    </dgm:pt>
    <dgm:pt modelId="{0AC996AF-C876-4ABA-893C-DD32AC8BC5F9}" type="pres">
      <dgm:prSet presAssocID="{1B77F4E2-4054-44C5-8439-BAAC1D809E85}" presName="Name8" presStyleCnt="0"/>
      <dgm:spPr/>
    </dgm:pt>
    <dgm:pt modelId="{7C2B6F5A-5F5A-42A7-BB03-8526EC8ECB0E}" type="pres">
      <dgm:prSet presAssocID="{1B77F4E2-4054-44C5-8439-BAAC1D809E85}" presName="level" presStyleLbl="node1" presStyleIdx="0" presStyleCnt="4" custLinFactNeighborX="-63949" custLinFactNeighborY="3106">
        <dgm:presLayoutVars>
          <dgm:chMax val="1"/>
          <dgm:bulletEnabled val="1"/>
        </dgm:presLayoutVars>
      </dgm:prSet>
      <dgm:spPr/>
    </dgm:pt>
    <dgm:pt modelId="{60E5429C-6DFB-41DC-A7D6-2B3DF2243655}" type="pres">
      <dgm:prSet presAssocID="{1B77F4E2-4054-44C5-8439-BAAC1D809E85}" presName="levelTx" presStyleLbl="revTx" presStyleIdx="0" presStyleCnt="0">
        <dgm:presLayoutVars>
          <dgm:chMax val="1"/>
          <dgm:bulletEnabled val="1"/>
        </dgm:presLayoutVars>
      </dgm:prSet>
      <dgm:spPr/>
    </dgm:pt>
    <dgm:pt modelId="{CFBD61D2-733F-48B8-B975-93303805372D}" type="pres">
      <dgm:prSet presAssocID="{11880C8A-DE3B-4D4A-BB2A-56AB99C538BE}" presName="Name8" presStyleCnt="0"/>
      <dgm:spPr/>
    </dgm:pt>
    <dgm:pt modelId="{E7BA9A3F-62F1-4C8A-9110-30A46B9CC3D7}" type="pres">
      <dgm:prSet presAssocID="{11880C8A-DE3B-4D4A-BB2A-56AB99C538BE}" presName="level" presStyleLbl="node1" presStyleIdx="1" presStyleCnt="4">
        <dgm:presLayoutVars>
          <dgm:chMax val="1"/>
          <dgm:bulletEnabled val="1"/>
        </dgm:presLayoutVars>
      </dgm:prSet>
      <dgm:spPr/>
    </dgm:pt>
    <dgm:pt modelId="{C3CAF407-6D4B-4D01-83B9-AA702E086A23}" type="pres">
      <dgm:prSet presAssocID="{11880C8A-DE3B-4D4A-BB2A-56AB99C538BE}" presName="levelTx" presStyleLbl="revTx" presStyleIdx="0" presStyleCnt="0">
        <dgm:presLayoutVars>
          <dgm:chMax val="1"/>
          <dgm:bulletEnabled val="1"/>
        </dgm:presLayoutVars>
      </dgm:prSet>
      <dgm:spPr/>
    </dgm:pt>
    <dgm:pt modelId="{92629B2F-F5EF-490D-9F78-E72B81C8853D}" type="pres">
      <dgm:prSet presAssocID="{89124381-D640-426D-B253-4D1A874C75B4}" presName="Name8" presStyleCnt="0"/>
      <dgm:spPr/>
    </dgm:pt>
    <dgm:pt modelId="{DE969564-BBE0-4263-AB30-F2604A7E43AA}" type="pres">
      <dgm:prSet presAssocID="{89124381-D640-426D-B253-4D1A874C75B4}" presName="level" presStyleLbl="node1" presStyleIdx="2" presStyleCnt="4" custScaleY="162146" custLinFactNeighborX="-160" custLinFactNeighborY="-888">
        <dgm:presLayoutVars>
          <dgm:chMax val="1"/>
          <dgm:bulletEnabled val="1"/>
        </dgm:presLayoutVars>
      </dgm:prSet>
      <dgm:spPr/>
    </dgm:pt>
    <dgm:pt modelId="{F194EA57-6578-4F08-8E05-068A297086B1}" type="pres">
      <dgm:prSet presAssocID="{89124381-D640-426D-B253-4D1A874C75B4}" presName="levelTx" presStyleLbl="revTx" presStyleIdx="0" presStyleCnt="0">
        <dgm:presLayoutVars>
          <dgm:chMax val="1"/>
          <dgm:bulletEnabled val="1"/>
        </dgm:presLayoutVars>
      </dgm:prSet>
      <dgm:spPr/>
    </dgm:pt>
    <dgm:pt modelId="{FB8D457D-B452-4DE6-AF3A-0A701F05EF3B}" type="pres">
      <dgm:prSet presAssocID="{D4302C08-0B0E-4DFF-B831-670196B8A703}" presName="Name8" presStyleCnt="0"/>
      <dgm:spPr/>
    </dgm:pt>
    <dgm:pt modelId="{39C83C79-88BF-48E6-B687-122D3FA17668}" type="pres">
      <dgm:prSet presAssocID="{D4302C08-0B0E-4DFF-B831-670196B8A703}" presName="level" presStyleLbl="node1" presStyleIdx="3" presStyleCnt="4" custScaleY="187455">
        <dgm:presLayoutVars>
          <dgm:chMax val="1"/>
          <dgm:bulletEnabled val="1"/>
        </dgm:presLayoutVars>
      </dgm:prSet>
      <dgm:spPr/>
    </dgm:pt>
    <dgm:pt modelId="{0F60B76B-398B-45B6-9BE6-BDA64C0F093D}" type="pres">
      <dgm:prSet presAssocID="{D4302C08-0B0E-4DFF-B831-670196B8A703}" presName="levelTx" presStyleLbl="revTx" presStyleIdx="0" presStyleCnt="0">
        <dgm:presLayoutVars>
          <dgm:chMax val="1"/>
          <dgm:bulletEnabled val="1"/>
        </dgm:presLayoutVars>
      </dgm:prSet>
      <dgm:spPr/>
    </dgm:pt>
  </dgm:ptLst>
  <dgm:cxnLst>
    <dgm:cxn modelId="{2255E916-F98E-4667-9893-DF40C3CF220E}" srcId="{68C08995-0A06-4692-A667-D87FC34CAEDF}" destId="{89124381-D640-426D-B253-4D1A874C75B4}" srcOrd="2" destOrd="0" parTransId="{E7A18DAA-BC05-4839-9C1F-A64F22600D8C}" sibTransId="{5B0535CC-E61B-420F-921D-62F4C85520B5}"/>
    <dgm:cxn modelId="{51A0D222-941D-4FB5-A328-468F2F5CDC12}" type="presOf" srcId="{89124381-D640-426D-B253-4D1A874C75B4}" destId="{DE969564-BBE0-4263-AB30-F2604A7E43AA}" srcOrd="0" destOrd="0" presId="urn:microsoft.com/office/officeart/2005/8/layout/pyramid3"/>
    <dgm:cxn modelId="{5A0BA52F-5C34-4EE2-B04D-9A7AE83FCF68}" type="presOf" srcId="{89124381-D640-426D-B253-4D1A874C75B4}" destId="{F194EA57-6578-4F08-8E05-068A297086B1}" srcOrd="1" destOrd="0" presId="urn:microsoft.com/office/officeart/2005/8/layout/pyramid3"/>
    <dgm:cxn modelId="{1E291445-3153-461C-AB66-06E1B7809C99}" srcId="{68C08995-0A06-4692-A667-D87FC34CAEDF}" destId="{11880C8A-DE3B-4D4A-BB2A-56AB99C538BE}" srcOrd="1" destOrd="0" parTransId="{ED62723E-6919-451D-A1CC-9607B26064A4}" sibTransId="{31871C92-E695-4083-AA22-764C465EC697}"/>
    <dgm:cxn modelId="{1D277A4C-9745-40BB-AE94-1F72656204D2}" type="presOf" srcId="{68C08995-0A06-4692-A667-D87FC34CAEDF}" destId="{D8783527-D5E7-4F04-B0F3-E1AEFA6F2585}" srcOrd="0" destOrd="0" presId="urn:microsoft.com/office/officeart/2005/8/layout/pyramid3"/>
    <dgm:cxn modelId="{160DBD7D-DED5-4C39-A009-75CFF1B78622}" type="presOf" srcId="{D4302C08-0B0E-4DFF-B831-670196B8A703}" destId="{0F60B76B-398B-45B6-9BE6-BDA64C0F093D}" srcOrd="1" destOrd="0" presId="urn:microsoft.com/office/officeart/2005/8/layout/pyramid3"/>
    <dgm:cxn modelId="{2559F681-0269-492E-B9B5-054676E12BC2}" type="presOf" srcId="{1B77F4E2-4054-44C5-8439-BAAC1D809E85}" destId="{60E5429C-6DFB-41DC-A7D6-2B3DF2243655}" srcOrd="1" destOrd="0" presId="urn:microsoft.com/office/officeart/2005/8/layout/pyramid3"/>
    <dgm:cxn modelId="{626E3B87-7369-48F5-BA52-CB3CC15B3AB4}" type="presOf" srcId="{11880C8A-DE3B-4D4A-BB2A-56AB99C538BE}" destId="{E7BA9A3F-62F1-4C8A-9110-30A46B9CC3D7}" srcOrd="0" destOrd="0" presId="urn:microsoft.com/office/officeart/2005/8/layout/pyramid3"/>
    <dgm:cxn modelId="{D13609CC-BF64-4283-B375-996ED0D6E430}" srcId="{68C08995-0A06-4692-A667-D87FC34CAEDF}" destId="{D4302C08-0B0E-4DFF-B831-670196B8A703}" srcOrd="3" destOrd="0" parTransId="{34BF3499-FD55-441F-AF06-BBB55804704C}" sibTransId="{95A280FD-9DD1-42AB-82EC-4058973521FC}"/>
    <dgm:cxn modelId="{AA7722EC-B4A1-4700-B11C-068B084FC693}" type="presOf" srcId="{1B77F4E2-4054-44C5-8439-BAAC1D809E85}" destId="{7C2B6F5A-5F5A-42A7-BB03-8526EC8ECB0E}" srcOrd="0" destOrd="0" presId="urn:microsoft.com/office/officeart/2005/8/layout/pyramid3"/>
    <dgm:cxn modelId="{352B50F2-515B-468D-B9E0-80AFBFE3C89A}" type="presOf" srcId="{11880C8A-DE3B-4D4A-BB2A-56AB99C538BE}" destId="{C3CAF407-6D4B-4D01-83B9-AA702E086A23}" srcOrd="1" destOrd="0" presId="urn:microsoft.com/office/officeart/2005/8/layout/pyramid3"/>
    <dgm:cxn modelId="{804B3AFA-B2BB-4EE9-A456-D781CEA2595F}" type="presOf" srcId="{D4302C08-0B0E-4DFF-B831-670196B8A703}" destId="{39C83C79-88BF-48E6-B687-122D3FA17668}" srcOrd="0" destOrd="0" presId="urn:microsoft.com/office/officeart/2005/8/layout/pyramid3"/>
    <dgm:cxn modelId="{6F7BCFFC-5685-445A-8A80-F7B3A816B052}" srcId="{68C08995-0A06-4692-A667-D87FC34CAEDF}" destId="{1B77F4E2-4054-44C5-8439-BAAC1D809E85}" srcOrd="0" destOrd="0" parTransId="{C067D827-58D6-4BB7-B862-87652879F687}" sibTransId="{DCC0FA10-27F4-428E-A55C-7BFE43B8D6A1}"/>
    <dgm:cxn modelId="{EAAFBB5E-35B5-410F-AF10-7FC0F635084F}" type="presParOf" srcId="{D8783527-D5E7-4F04-B0F3-E1AEFA6F2585}" destId="{0AC996AF-C876-4ABA-893C-DD32AC8BC5F9}" srcOrd="0" destOrd="0" presId="urn:microsoft.com/office/officeart/2005/8/layout/pyramid3"/>
    <dgm:cxn modelId="{5D5A3505-65DA-4631-9442-54E0B9DC1AD0}" type="presParOf" srcId="{0AC996AF-C876-4ABA-893C-DD32AC8BC5F9}" destId="{7C2B6F5A-5F5A-42A7-BB03-8526EC8ECB0E}" srcOrd="0" destOrd="0" presId="urn:microsoft.com/office/officeart/2005/8/layout/pyramid3"/>
    <dgm:cxn modelId="{97A2117A-EB7A-4BC0-B2FB-5870B696E56C}" type="presParOf" srcId="{0AC996AF-C876-4ABA-893C-DD32AC8BC5F9}" destId="{60E5429C-6DFB-41DC-A7D6-2B3DF2243655}" srcOrd="1" destOrd="0" presId="urn:microsoft.com/office/officeart/2005/8/layout/pyramid3"/>
    <dgm:cxn modelId="{28C0B70D-B779-40B5-912A-4104E2E8A077}" type="presParOf" srcId="{D8783527-D5E7-4F04-B0F3-E1AEFA6F2585}" destId="{CFBD61D2-733F-48B8-B975-93303805372D}" srcOrd="1" destOrd="0" presId="urn:microsoft.com/office/officeart/2005/8/layout/pyramid3"/>
    <dgm:cxn modelId="{BB68F354-BF69-4407-AEDA-CE1E522ACC21}" type="presParOf" srcId="{CFBD61D2-733F-48B8-B975-93303805372D}" destId="{E7BA9A3F-62F1-4C8A-9110-30A46B9CC3D7}" srcOrd="0" destOrd="0" presId="urn:microsoft.com/office/officeart/2005/8/layout/pyramid3"/>
    <dgm:cxn modelId="{844F77DF-4836-471B-9523-450BD476FD9E}" type="presParOf" srcId="{CFBD61D2-733F-48B8-B975-93303805372D}" destId="{C3CAF407-6D4B-4D01-83B9-AA702E086A23}" srcOrd="1" destOrd="0" presId="urn:microsoft.com/office/officeart/2005/8/layout/pyramid3"/>
    <dgm:cxn modelId="{C2466E5C-9F83-46AA-8C90-F1C5C4BEB33D}" type="presParOf" srcId="{D8783527-D5E7-4F04-B0F3-E1AEFA6F2585}" destId="{92629B2F-F5EF-490D-9F78-E72B81C8853D}" srcOrd="2" destOrd="0" presId="urn:microsoft.com/office/officeart/2005/8/layout/pyramid3"/>
    <dgm:cxn modelId="{E9F1C14F-6C43-44BE-B756-3374CAE2D54E}" type="presParOf" srcId="{92629B2F-F5EF-490D-9F78-E72B81C8853D}" destId="{DE969564-BBE0-4263-AB30-F2604A7E43AA}" srcOrd="0" destOrd="0" presId="urn:microsoft.com/office/officeart/2005/8/layout/pyramid3"/>
    <dgm:cxn modelId="{3BF7A85C-EC5C-4ADD-A53C-D7092EBAA177}" type="presParOf" srcId="{92629B2F-F5EF-490D-9F78-E72B81C8853D}" destId="{F194EA57-6578-4F08-8E05-068A297086B1}" srcOrd="1" destOrd="0" presId="urn:microsoft.com/office/officeart/2005/8/layout/pyramid3"/>
    <dgm:cxn modelId="{34886542-9432-4736-A3AC-68792368B32C}" type="presParOf" srcId="{D8783527-D5E7-4F04-B0F3-E1AEFA6F2585}" destId="{FB8D457D-B452-4DE6-AF3A-0A701F05EF3B}" srcOrd="3" destOrd="0" presId="urn:microsoft.com/office/officeart/2005/8/layout/pyramid3"/>
    <dgm:cxn modelId="{04D0AF78-B6CB-4C09-A500-35E0920293B1}" type="presParOf" srcId="{FB8D457D-B452-4DE6-AF3A-0A701F05EF3B}" destId="{39C83C79-88BF-48E6-B687-122D3FA17668}" srcOrd="0" destOrd="0" presId="urn:microsoft.com/office/officeart/2005/8/layout/pyramid3"/>
    <dgm:cxn modelId="{29D67A0C-4E06-4F21-B3BD-00C1431D8DFC}" type="presParOf" srcId="{FB8D457D-B452-4DE6-AF3A-0A701F05EF3B}" destId="{0F60B76B-398B-45B6-9BE6-BDA64C0F093D}"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2AAFC-BEAE-481D-B557-81DE68A237F7}">
      <dsp:nvSpPr>
        <dsp:cNvPr id="0" name=""/>
        <dsp:cNvSpPr/>
      </dsp:nvSpPr>
      <dsp:spPr>
        <a:xfrm>
          <a:off x="1069175" y="0"/>
          <a:ext cx="5481650" cy="5481650"/>
        </a:xfrm>
        <a:prstGeom prst="ellipse">
          <a:avLst/>
        </a:prstGeom>
        <a:solidFill>
          <a:schemeClr val="accent1">
            <a:shade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US$5.10bn</a:t>
          </a:r>
          <a:endParaRPr lang="en-IN" sz="2500" kern="1200" dirty="0">
            <a:latin typeface="Calibri" panose="020F0502020204030204"/>
            <a:ea typeface="+mn-ea"/>
            <a:cs typeface="+mn-cs"/>
          </a:endParaRPr>
        </a:p>
      </dsp:txBody>
      <dsp:txXfrm>
        <a:off x="2852081" y="274082"/>
        <a:ext cx="1915836" cy="822247"/>
      </dsp:txXfrm>
    </dsp:sp>
    <dsp:sp modelId="{5783AC22-EAAA-4B02-9505-F9F67BC8F71A}">
      <dsp:nvSpPr>
        <dsp:cNvPr id="0" name=""/>
        <dsp:cNvSpPr/>
      </dsp:nvSpPr>
      <dsp:spPr>
        <a:xfrm>
          <a:off x="1754381" y="1370412"/>
          <a:ext cx="4111237" cy="4111237"/>
        </a:xfrm>
        <a:prstGeom prst="ellipse">
          <a:avLst/>
        </a:prstGeom>
        <a:solidFill>
          <a:schemeClr val="accent1">
            <a:shade val="50000"/>
            <a:hueOff val="240958"/>
            <a:satOff val="-5040"/>
            <a:lumOff val="2804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0" i="0" kern="1200" dirty="0"/>
            <a:t>US$5,920m</a:t>
          </a:r>
          <a:endParaRPr lang="en-IN" sz="2500" kern="1200" dirty="0">
            <a:latin typeface="Calibri" panose="020F0502020204030204"/>
            <a:ea typeface="+mn-ea"/>
            <a:cs typeface="+mn-cs"/>
          </a:endParaRPr>
        </a:p>
      </dsp:txBody>
      <dsp:txXfrm>
        <a:off x="2852081" y="1627364"/>
        <a:ext cx="1915836" cy="770857"/>
      </dsp:txXfrm>
    </dsp:sp>
    <dsp:sp modelId="{0927306A-DE0F-4C43-94ED-305F00916AD7}">
      <dsp:nvSpPr>
        <dsp:cNvPr id="0" name=""/>
        <dsp:cNvSpPr/>
      </dsp:nvSpPr>
      <dsp:spPr>
        <a:xfrm>
          <a:off x="2439587" y="2740825"/>
          <a:ext cx="2740825" cy="2740825"/>
        </a:xfrm>
        <a:prstGeom prst="ellipse">
          <a:avLst/>
        </a:prstGeom>
        <a:solidFill>
          <a:schemeClr val="accent1">
            <a:shade val="50000"/>
            <a:hueOff val="240958"/>
            <a:satOff val="-5040"/>
            <a:lumOff val="2804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0" i="0" kern="1200" dirty="0"/>
            <a:t>US$10,000</a:t>
          </a:r>
          <a:endParaRPr lang="en-IN" sz="2500" kern="1200" dirty="0">
            <a:latin typeface="Calibri" panose="020F0502020204030204"/>
            <a:ea typeface="+mn-ea"/>
            <a:cs typeface="+mn-cs"/>
          </a:endParaRPr>
        </a:p>
      </dsp:txBody>
      <dsp:txXfrm>
        <a:off x="2840972" y="3426031"/>
        <a:ext cx="1938055" cy="1370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B6F5A-5F5A-42A7-BB03-8526EC8ECB0E}">
      <dsp:nvSpPr>
        <dsp:cNvPr id="0" name=""/>
        <dsp:cNvSpPr/>
      </dsp:nvSpPr>
      <dsp:spPr>
        <a:xfrm rot="10800000">
          <a:off x="0" y="34179"/>
          <a:ext cx="5665026" cy="1100423"/>
        </a:xfrm>
        <a:prstGeom prst="trapezoid">
          <a:avLst>
            <a:gd name="adj" fmla="val 46834"/>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TARGET MARKET:</a:t>
          </a:r>
        </a:p>
        <a:p>
          <a:pPr marL="0" lvl="0" indent="0" algn="ctr" defTabSz="800100">
            <a:lnSpc>
              <a:spcPct val="90000"/>
            </a:lnSpc>
            <a:spcBef>
              <a:spcPct val="0"/>
            </a:spcBef>
            <a:spcAft>
              <a:spcPct val="35000"/>
            </a:spcAft>
            <a:buNone/>
          </a:pPr>
          <a:r>
            <a:rPr lang="de-DE" sz="1800" b="0" kern="1200" dirty="0">
              <a:latin typeface="+mn-lt"/>
              <a:cs typeface="Arial" panose="020B0604020202020204" pitchFamily="34" charset="0"/>
            </a:rPr>
            <a:t>15-30 age</a:t>
          </a:r>
        </a:p>
        <a:p>
          <a:pPr marL="0" lvl="0" indent="0" algn="ctr" defTabSz="800100">
            <a:lnSpc>
              <a:spcPct val="90000"/>
            </a:lnSpc>
            <a:spcBef>
              <a:spcPct val="0"/>
            </a:spcBef>
            <a:spcAft>
              <a:spcPct val="35000"/>
            </a:spcAft>
            <a:buNone/>
          </a:pPr>
          <a:r>
            <a:rPr lang="de-DE" sz="1800" kern="1200" dirty="0">
              <a:latin typeface="+mn-lt"/>
              <a:cs typeface="Arial" panose="020B0604020202020204" pitchFamily="34" charset="0"/>
            </a:rPr>
            <a:t> </a:t>
          </a:r>
        </a:p>
      </dsp:txBody>
      <dsp:txXfrm rot="-10800000">
        <a:off x="991379" y="34179"/>
        <a:ext cx="3682267" cy="1100423"/>
      </dsp:txXfrm>
    </dsp:sp>
    <dsp:sp modelId="{E7BA9A3F-62F1-4C8A-9110-30A46B9CC3D7}">
      <dsp:nvSpPr>
        <dsp:cNvPr id="0" name=""/>
        <dsp:cNvSpPr/>
      </dsp:nvSpPr>
      <dsp:spPr>
        <a:xfrm rot="10800000">
          <a:off x="515376" y="1100423"/>
          <a:ext cx="4634274" cy="1100423"/>
        </a:xfrm>
        <a:prstGeom prst="trapezoid">
          <a:avLst>
            <a:gd name="adj" fmla="val 46834"/>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de-DE" sz="1800" b="1" kern="1200" dirty="0">
            <a:latin typeface="+mn-lt"/>
            <a:cs typeface="Arial" panose="020B0604020202020204" pitchFamily="34" charset="0"/>
          </a:endParaRPr>
        </a:p>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LEADS:</a:t>
          </a:r>
        </a:p>
        <a:p>
          <a:pPr marL="0" lvl="0" indent="0" algn="ctr" defTabSz="800100">
            <a:lnSpc>
              <a:spcPct val="90000"/>
            </a:lnSpc>
            <a:spcBef>
              <a:spcPct val="0"/>
            </a:spcBef>
            <a:spcAft>
              <a:spcPct val="35000"/>
            </a:spcAft>
            <a:buNone/>
          </a:pPr>
          <a:r>
            <a:rPr lang="en-US" sz="1800" kern="1200" spc="-1" dirty="0">
              <a:solidFill>
                <a:srgbClr val="000000"/>
              </a:solidFill>
              <a:latin typeface="Arimo"/>
            </a:rPr>
            <a:t>Over 7000+ through social media </a:t>
          </a:r>
          <a:endParaRPr lang="de-DE" sz="1800" b="1" kern="1200" dirty="0">
            <a:latin typeface="+mn-lt"/>
            <a:cs typeface="Arial" panose="020B0604020202020204" pitchFamily="34" charset="0"/>
          </a:endParaRPr>
        </a:p>
        <a:p>
          <a:pPr marL="0" lvl="0" indent="0" algn="ctr" defTabSz="800100">
            <a:lnSpc>
              <a:spcPct val="90000"/>
            </a:lnSpc>
            <a:spcBef>
              <a:spcPct val="0"/>
            </a:spcBef>
            <a:spcAft>
              <a:spcPct val="35000"/>
            </a:spcAft>
            <a:buNone/>
          </a:pPr>
          <a:endParaRPr lang="de-DE" sz="1800" b="0" kern="1200" dirty="0">
            <a:latin typeface="+mn-lt"/>
            <a:cs typeface="Arial" panose="020B0604020202020204" pitchFamily="34" charset="0"/>
          </a:endParaRPr>
        </a:p>
      </dsp:txBody>
      <dsp:txXfrm rot="-10800000">
        <a:off x="1326374" y="1100423"/>
        <a:ext cx="3012278" cy="1100423"/>
      </dsp:txXfrm>
    </dsp:sp>
    <dsp:sp modelId="{DE969564-BBE0-4263-AB30-F2604A7E43AA}">
      <dsp:nvSpPr>
        <dsp:cNvPr id="0" name=""/>
        <dsp:cNvSpPr/>
      </dsp:nvSpPr>
      <dsp:spPr>
        <a:xfrm rot="10800000">
          <a:off x="1024987" y="2191075"/>
          <a:ext cx="3603521" cy="1784292"/>
        </a:xfrm>
        <a:prstGeom prst="trapezoid">
          <a:avLst>
            <a:gd name="adj" fmla="val 46834"/>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de-DE" sz="1800" b="1" kern="1200" dirty="0">
            <a:latin typeface="+mn-lt"/>
            <a:cs typeface="Arial" panose="020B0604020202020204" pitchFamily="34" charset="0"/>
          </a:endParaRPr>
        </a:p>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OPPORTUNITIES/PROSPECTS:</a:t>
          </a:r>
        </a:p>
        <a:p>
          <a:pPr marL="0" lvl="0" indent="0" algn="ctr" defTabSz="800100">
            <a:lnSpc>
              <a:spcPct val="90000"/>
            </a:lnSpc>
            <a:spcBef>
              <a:spcPct val="0"/>
            </a:spcBef>
            <a:spcAft>
              <a:spcPct val="35000"/>
            </a:spcAft>
            <a:buNone/>
          </a:pPr>
          <a:r>
            <a:rPr lang="en-US" sz="1800" kern="1200" spc="0" dirty="0">
              <a:solidFill>
                <a:srgbClr val="000000"/>
              </a:solidFill>
              <a:latin typeface="Arimo"/>
            </a:rPr>
            <a:t>Over 55% of the citizens in cities</a:t>
          </a:r>
          <a:endParaRPr lang="de-DE" sz="1800" b="1" kern="1200" dirty="0">
            <a:latin typeface="+mn-lt"/>
            <a:cs typeface="Arial" panose="020B0604020202020204" pitchFamily="34" charset="0"/>
          </a:endParaRPr>
        </a:p>
        <a:p>
          <a:pPr marL="0" lvl="0" indent="0" algn="ctr" defTabSz="800100">
            <a:lnSpc>
              <a:spcPct val="90000"/>
            </a:lnSpc>
            <a:spcBef>
              <a:spcPct val="0"/>
            </a:spcBef>
            <a:spcAft>
              <a:spcPct val="35000"/>
            </a:spcAft>
            <a:buNone/>
          </a:pPr>
          <a:r>
            <a:rPr lang="de-DE" sz="1800" b="1" kern="1200" dirty="0">
              <a:latin typeface="+mn-lt"/>
              <a:cs typeface="Arial" panose="020B0604020202020204" pitchFamily="34" charset="0"/>
            </a:rPr>
            <a:t> </a:t>
          </a:r>
        </a:p>
        <a:p>
          <a:pPr marL="0" lvl="0" indent="0" algn="ctr" defTabSz="800100">
            <a:lnSpc>
              <a:spcPct val="90000"/>
            </a:lnSpc>
            <a:spcBef>
              <a:spcPct val="0"/>
            </a:spcBef>
            <a:spcAft>
              <a:spcPct val="35000"/>
            </a:spcAft>
            <a:buNone/>
          </a:pPr>
          <a:endParaRPr lang="de-DE" sz="1800" b="0" kern="1200" dirty="0">
            <a:latin typeface="+mn-lt"/>
            <a:cs typeface="Arial" panose="020B0604020202020204" pitchFamily="34" charset="0"/>
          </a:endParaRPr>
        </a:p>
      </dsp:txBody>
      <dsp:txXfrm rot="-10800000">
        <a:off x="1655603" y="2191075"/>
        <a:ext cx="2342289" cy="1784292"/>
      </dsp:txXfrm>
    </dsp:sp>
    <dsp:sp modelId="{39C83C79-88BF-48E6-B687-122D3FA17668}">
      <dsp:nvSpPr>
        <dsp:cNvPr id="0" name=""/>
        <dsp:cNvSpPr/>
      </dsp:nvSpPr>
      <dsp:spPr>
        <a:xfrm rot="10800000">
          <a:off x="1866414" y="3985139"/>
          <a:ext cx="1932197" cy="2062799"/>
        </a:xfrm>
        <a:prstGeom prst="trapezoid">
          <a:avLst>
            <a:gd name="adj" fmla="val 5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100000"/>
            </a:lnSpc>
            <a:spcBef>
              <a:spcPct val="0"/>
            </a:spcBef>
            <a:spcAft>
              <a:spcPct val="35000"/>
            </a:spcAft>
            <a:buNone/>
          </a:pPr>
          <a:r>
            <a:rPr lang="de-DE" sz="1800" b="1" kern="1200" dirty="0">
              <a:latin typeface="+mn-lt"/>
              <a:cs typeface="Arial" panose="020B0604020202020204" pitchFamily="34" charset="0"/>
            </a:rPr>
            <a:t>CUSTOMER:</a:t>
          </a:r>
        </a:p>
        <a:p>
          <a:pPr marL="0" lvl="0" indent="0" algn="ctr" defTabSz="800100">
            <a:lnSpc>
              <a:spcPct val="100000"/>
            </a:lnSpc>
            <a:spcBef>
              <a:spcPct val="0"/>
            </a:spcBef>
            <a:spcAft>
              <a:spcPct val="35000"/>
            </a:spcAft>
            <a:buNone/>
          </a:pPr>
          <a:r>
            <a:rPr lang="de-DE" sz="1800" b="0" kern="1200" dirty="0">
              <a:latin typeface="+mn-lt"/>
              <a:cs typeface="Arial" panose="020B0604020202020204" pitchFamily="34" charset="0"/>
            </a:rPr>
            <a:t>3000</a:t>
          </a:r>
          <a:r>
            <a:rPr lang="de-DE" sz="1800" b="1" kern="1200" dirty="0">
              <a:latin typeface="+mn-lt"/>
              <a:cs typeface="Arial" panose="020B0604020202020204" pitchFamily="34" charset="0"/>
            </a:rPr>
            <a:t> </a:t>
          </a:r>
        </a:p>
        <a:p>
          <a:pPr marL="0" lvl="0" indent="0" algn="ctr" defTabSz="800100">
            <a:lnSpc>
              <a:spcPct val="100000"/>
            </a:lnSpc>
            <a:spcBef>
              <a:spcPct val="0"/>
            </a:spcBef>
            <a:spcAft>
              <a:spcPct val="35000"/>
            </a:spcAft>
            <a:buNone/>
          </a:pPr>
          <a:endParaRPr lang="de-DE" sz="1800" b="1" kern="1200" dirty="0">
            <a:latin typeface="+mn-lt"/>
            <a:cs typeface="Arial" panose="020B0604020202020204" pitchFamily="34" charset="0"/>
          </a:endParaRPr>
        </a:p>
        <a:p>
          <a:pPr marL="0" lvl="0" indent="0" algn="ctr" defTabSz="800100">
            <a:lnSpc>
              <a:spcPct val="100000"/>
            </a:lnSpc>
            <a:spcBef>
              <a:spcPct val="0"/>
            </a:spcBef>
            <a:spcAft>
              <a:spcPct val="35000"/>
            </a:spcAft>
            <a:buNone/>
          </a:pPr>
          <a:endParaRPr lang="de-DE" sz="1800" b="1" kern="1200" dirty="0">
            <a:latin typeface="+mn-lt"/>
            <a:cs typeface="Arial" panose="020B0604020202020204" pitchFamily="34" charset="0"/>
          </a:endParaRPr>
        </a:p>
        <a:p>
          <a:pPr marL="0" lvl="0" indent="0" algn="ctr" defTabSz="800100">
            <a:lnSpc>
              <a:spcPct val="90000"/>
            </a:lnSpc>
            <a:spcBef>
              <a:spcPct val="0"/>
            </a:spcBef>
            <a:spcAft>
              <a:spcPct val="35000"/>
            </a:spcAft>
            <a:buNone/>
          </a:pPr>
          <a:endParaRPr lang="de-DE" sz="1800" kern="1200" dirty="0">
            <a:latin typeface="+mn-lt"/>
            <a:cs typeface="Arial" panose="020B0604020202020204" pitchFamily="34" charset="0"/>
          </a:endParaRPr>
        </a:p>
      </dsp:txBody>
      <dsp:txXfrm rot="-10800000">
        <a:off x="1866414" y="3985139"/>
        <a:ext cx="1932197" cy="2062799"/>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FBF9E8-1F40-410A-A1CC-60BC60DB98B3}" type="datetimeFigureOut">
              <a:rPr lang="en-IN" smtClean="0"/>
              <a:pPr/>
              <a:t>20-05-2024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FE411-3744-4059-A83F-482351BF9D8B}" type="slidenum">
              <a:rPr lang="en-IN" smtClean="0"/>
              <a:pPr/>
              <a:t>‹#›</a:t>
            </a:fld>
            <a:endParaRPr lang="en-IN"/>
          </a:p>
        </p:txBody>
      </p:sp>
    </p:spTree>
    <p:extLst>
      <p:ext uri="{BB962C8B-B14F-4D97-AF65-F5344CB8AC3E}">
        <p14:creationId xmlns:p14="http://schemas.microsoft.com/office/powerpoint/2010/main" val="3792907583"/>
      </p:ext>
    </p:extLst>
  </p:cSld>
  <p:clrMap bg1="lt1" tx1="dk1" bg2="lt2" tx2="dk2" accent1="accent1" accent2="accent2" accent3="accent3" accent4="accent4" accent5="accent5" accent6="accent6" hlink="hlink" folHlink="folHlink"/>
  <p:notesStyle>
    <a:lvl1pPr marL="0" algn="l" defTabSz="914393" rtl="0" eaLnBrk="1" latinLnBrk="0" hangingPunct="1">
      <a:defRPr sz="1200" kern="1200">
        <a:solidFill>
          <a:schemeClr val="tx1"/>
        </a:solidFill>
        <a:latin typeface="+mn-lt"/>
        <a:ea typeface="+mn-ea"/>
        <a:cs typeface="+mn-cs"/>
      </a:defRPr>
    </a:lvl1pPr>
    <a:lvl2pPr marL="457196" algn="l" defTabSz="914393" rtl="0" eaLnBrk="1" latinLnBrk="0" hangingPunct="1">
      <a:defRPr sz="1200" kern="1200">
        <a:solidFill>
          <a:schemeClr val="tx1"/>
        </a:solidFill>
        <a:latin typeface="+mn-lt"/>
        <a:ea typeface="+mn-ea"/>
        <a:cs typeface="+mn-cs"/>
      </a:defRPr>
    </a:lvl2pPr>
    <a:lvl3pPr marL="914393" algn="l" defTabSz="914393" rtl="0" eaLnBrk="1" latinLnBrk="0" hangingPunct="1">
      <a:defRPr sz="1200" kern="1200">
        <a:solidFill>
          <a:schemeClr val="tx1"/>
        </a:solidFill>
        <a:latin typeface="+mn-lt"/>
        <a:ea typeface="+mn-ea"/>
        <a:cs typeface="+mn-cs"/>
      </a:defRPr>
    </a:lvl3pPr>
    <a:lvl4pPr marL="1371589" algn="l" defTabSz="914393" rtl="0" eaLnBrk="1" latinLnBrk="0" hangingPunct="1">
      <a:defRPr sz="1200" kern="1200">
        <a:solidFill>
          <a:schemeClr val="tx1"/>
        </a:solidFill>
        <a:latin typeface="+mn-lt"/>
        <a:ea typeface="+mn-ea"/>
        <a:cs typeface="+mn-cs"/>
      </a:defRPr>
    </a:lvl4pPr>
    <a:lvl5pPr marL="1828785" algn="l" defTabSz="914393" rtl="0" eaLnBrk="1" latinLnBrk="0" hangingPunct="1">
      <a:defRPr sz="1200" kern="1200">
        <a:solidFill>
          <a:schemeClr val="tx1"/>
        </a:solidFill>
        <a:latin typeface="+mn-lt"/>
        <a:ea typeface="+mn-ea"/>
        <a:cs typeface="+mn-cs"/>
      </a:defRPr>
    </a:lvl5pPr>
    <a:lvl6pPr marL="2285982" algn="l" defTabSz="914393" rtl="0" eaLnBrk="1" latinLnBrk="0" hangingPunct="1">
      <a:defRPr sz="1200" kern="1200">
        <a:solidFill>
          <a:schemeClr val="tx1"/>
        </a:solidFill>
        <a:latin typeface="+mn-lt"/>
        <a:ea typeface="+mn-ea"/>
        <a:cs typeface="+mn-cs"/>
      </a:defRPr>
    </a:lvl6pPr>
    <a:lvl7pPr marL="2743178" algn="l" defTabSz="914393" rtl="0" eaLnBrk="1" latinLnBrk="0" hangingPunct="1">
      <a:defRPr sz="1200" kern="1200">
        <a:solidFill>
          <a:schemeClr val="tx1"/>
        </a:solidFill>
        <a:latin typeface="+mn-lt"/>
        <a:ea typeface="+mn-ea"/>
        <a:cs typeface="+mn-cs"/>
      </a:defRPr>
    </a:lvl7pPr>
    <a:lvl8pPr marL="3200374" algn="l" defTabSz="914393" rtl="0" eaLnBrk="1" latinLnBrk="0" hangingPunct="1">
      <a:defRPr sz="1200" kern="1200">
        <a:solidFill>
          <a:schemeClr val="tx1"/>
        </a:solidFill>
        <a:latin typeface="+mn-lt"/>
        <a:ea typeface="+mn-ea"/>
        <a:cs typeface="+mn-cs"/>
      </a:defRPr>
    </a:lvl8pPr>
    <a:lvl9pPr marL="3657571" algn="l" defTabSz="91439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Time:</a:t>
            </a:r>
            <a:r>
              <a:rPr lang="en-US" b="1" baseline="0" dirty="0"/>
              <a:t> 7 mins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Get students to brainstorm on the customer persona and VPC </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BEB79-93E1-4BD7-A47D-89BD4B7805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42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IN" b="1" dirty="0"/>
              <a:t>Evaluation Criteria</a:t>
            </a:r>
            <a:r>
              <a:rPr lang="en-IN" b="1" baseline="0" dirty="0"/>
              <a:t> for slides 8 and 9</a:t>
            </a:r>
          </a:p>
          <a:p>
            <a:endParaRPr lang="en-IN" b="0" i="1" baseline="0" dirty="0"/>
          </a:p>
          <a:p>
            <a:r>
              <a:rPr lang="en-US" sz="1200" b="0" i="1" u="none" strike="noStrike" kern="1200" dirty="0">
                <a:solidFill>
                  <a:schemeClr val="tx1"/>
                </a:solidFill>
                <a:effectLst/>
                <a:latin typeface="+mn-lt"/>
                <a:ea typeface="+mn-ea"/>
                <a:cs typeface="+mn-cs"/>
              </a:rPr>
              <a:t>Check the following on the correctness</a:t>
            </a:r>
            <a:r>
              <a:rPr lang="en-US" sz="1200" b="0" i="1" u="none" strike="noStrike" kern="1200" baseline="0" dirty="0">
                <a:solidFill>
                  <a:schemeClr val="tx1"/>
                </a:solidFill>
                <a:effectLst/>
                <a:latin typeface="+mn-lt"/>
                <a:ea typeface="+mn-ea"/>
                <a:cs typeface="+mn-cs"/>
              </a:rPr>
              <a:t> of VPC</a:t>
            </a:r>
            <a:r>
              <a:rPr lang="en-US" sz="1200" b="0" i="1" u="none" strike="noStrike" kern="1200" dirty="0">
                <a:solidFill>
                  <a:schemeClr val="tx1"/>
                </a:solidFill>
                <a:effectLst/>
                <a:latin typeface="+mn-lt"/>
                <a:ea typeface="+mn-ea"/>
                <a:cs typeface="+mn-cs"/>
              </a:rPr>
              <a:t>:</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a.  Have you identified the correct pains &amp; gains; pain relievers &amp; gain creators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b. Have you identified the correct Jobs-to-be-done?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c. Are the pain relievers addressing the customer pains?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d. Have you identified the right value proposition so that the solution makes the customer's life better? (1 mark)</a:t>
            </a:r>
            <a:r>
              <a:rPr lang="en-US" b="0" i="1" dirty="0"/>
              <a:t> </a:t>
            </a:r>
            <a:endParaRPr lang="en-IN" b="0" i="1" dirty="0"/>
          </a:p>
        </p:txBody>
      </p:sp>
      <p:sp>
        <p:nvSpPr>
          <p:cNvPr id="4" name="Slide Number Placeholder 3"/>
          <p:cNvSpPr>
            <a:spLocks noGrp="1"/>
          </p:cNvSpPr>
          <p:nvPr>
            <p:ph type="sldNum" sz="quarter" idx="10"/>
          </p:nvPr>
        </p:nvSpPr>
        <p:spPr/>
        <p:txBody>
          <a:bodyPr/>
          <a:lstStyle/>
          <a:p>
            <a:fld id="{565F787C-D8F9-4047-8CC8-08AC13C2A058}" type="slidenum">
              <a:rPr lang="en-US" smtClean="0"/>
              <a:pPr/>
              <a:t>8</a:t>
            </a:fld>
            <a:endParaRPr lang="en-US"/>
          </a:p>
        </p:txBody>
      </p:sp>
    </p:spTree>
    <p:extLst>
      <p:ext uri="{BB962C8B-B14F-4D97-AF65-F5344CB8AC3E}">
        <p14:creationId xmlns:p14="http://schemas.microsoft.com/office/powerpoint/2010/main" val="353826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Evaluation</a:t>
            </a:r>
            <a:r>
              <a:rPr lang="en-US" sz="1200" b="1" i="0" u="none" strike="noStrike" kern="1200" baseline="0">
                <a:solidFill>
                  <a:schemeClr val="tx1"/>
                </a:solidFill>
                <a:effectLst/>
                <a:latin typeface="+mn-lt"/>
                <a:ea typeface="+mn-ea"/>
                <a:cs typeface="+mn-cs"/>
              </a:rPr>
              <a:t> Criteria for slides 12 to 14</a:t>
            </a:r>
            <a:endParaRPr lang="en-US" sz="1200" b="1" i="0" u="none" strike="noStrike" kern="1200">
              <a:solidFill>
                <a:schemeClr val="tx1"/>
              </a:solidFill>
              <a:effectLst/>
              <a:latin typeface="+mn-lt"/>
              <a:ea typeface="+mn-ea"/>
              <a:cs typeface="+mn-cs"/>
            </a:endParaRPr>
          </a:p>
          <a:p>
            <a:endParaRPr lang="en-US" sz="1200" b="1" i="1" u="none" strike="noStrike" kern="1200">
              <a:solidFill>
                <a:schemeClr val="tx1"/>
              </a:solidFill>
              <a:effectLst/>
              <a:latin typeface="+mn-lt"/>
              <a:ea typeface="+mn-ea"/>
              <a:cs typeface="+mn-cs"/>
            </a:endParaRPr>
          </a:p>
          <a:p>
            <a:r>
              <a:rPr lang="en-US" sz="1200" b="0" i="1" u="none" strike="noStrike" kern="1200">
                <a:solidFill>
                  <a:schemeClr val="tx1"/>
                </a:solidFill>
                <a:effectLst/>
                <a:latin typeface="+mn-lt"/>
                <a:ea typeface="+mn-ea"/>
                <a:cs typeface="+mn-cs"/>
              </a:rPr>
              <a:t>Check the following on MVP?</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1. Does it look credible and </a:t>
            </a:r>
            <a:r>
              <a:rPr lang="en-US" sz="1200" b="0" i="1" u="none" strike="noStrike" kern="1200" err="1">
                <a:solidFill>
                  <a:schemeClr val="tx1"/>
                </a:solidFill>
                <a:effectLst/>
                <a:latin typeface="+mn-lt"/>
                <a:ea typeface="+mn-ea"/>
                <a:cs typeface="+mn-cs"/>
              </a:rPr>
              <a:t>showcasable</a:t>
            </a:r>
            <a:r>
              <a:rPr lang="en-US" sz="1200" b="0" i="1" u="none" strike="noStrike" kern="1200">
                <a:solidFill>
                  <a:schemeClr val="tx1"/>
                </a:solidFill>
                <a:effectLst/>
                <a:latin typeface="+mn-lt"/>
                <a:ea typeface="+mn-ea"/>
                <a:cs typeface="+mn-cs"/>
              </a:rPr>
              <a:t>? Add a picture/video of the MVP? (3 marks)</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2. Have you validated the product benefits and the price with real customers? Add the MVP interview records in a Google drive and add to the PPT. (1 + 1 marks)</a:t>
            </a:r>
            <a:r>
              <a:rPr lang="en-US" i="1"/>
              <a:t> </a:t>
            </a:r>
            <a:endParaRPr lang="en-IN" i="1"/>
          </a:p>
          <a:p>
            <a:endParaRPr lang="en-IN"/>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565F787C-D8F9-4047-8CC8-08AC13C2A058}" type="slidenum">
              <a:rPr lang="en-US" smtClean="0">
                <a:solidFill>
                  <a:prstClr val="black"/>
                </a:solidFill>
                <a:latin typeface="Calibri" panose="020F0502020204030204"/>
              </a:rPr>
              <a:pPr/>
              <a:t>16</a:t>
            </a:fld>
            <a:endParaRPr lang="en-US">
              <a:solidFill>
                <a:prstClr val="black"/>
              </a:solidFill>
              <a:latin typeface="Calibri" panose="020F0502020204030204"/>
            </a:endParaRPr>
          </a:p>
        </p:txBody>
      </p:sp>
    </p:spTree>
    <p:extLst>
      <p:ext uri="{BB962C8B-B14F-4D97-AF65-F5344CB8AC3E}">
        <p14:creationId xmlns:p14="http://schemas.microsoft.com/office/powerpoint/2010/main" val="3030988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i="0" dirty="0"/>
              <a:t>Evaluation Criteria for</a:t>
            </a:r>
            <a:r>
              <a:rPr lang="en-IN" b="1" i="0" baseline="0" dirty="0"/>
              <a:t> slide 20 to 22</a:t>
            </a:r>
          </a:p>
          <a:p>
            <a:endParaRPr lang="en-IN" baseline="0" dirty="0"/>
          </a:p>
          <a:p>
            <a:r>
              <a:rPr lang="en-US" sz="1200" b="0" i="1" u="none" strike="noStrike" kern="1200" dirty="0">
                <a:solidFill>
                  <a:schemeClr val="tx1"/>
                </a:solidFill>
                <a:effectLst/>
                <a:latin typeface="+mn-lt"/>
                <a:ea typeface="+mn-ea"/>
                <a:cs typeface="+mn-cs"/>
              </a:rPr>
              <a:t>1. Does the venture have a Sales projections sheet with monthly sales targets and customer funnel defined for the next one year?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2. Does the venture have an active social media presence, such as FB, </a:t>
            </a:r>
            <a:r>
              <a:rPr lang="en-US" sz="1200" b="0" i="1" u="none" strike="noStrike" kern="1200" dirty="0" err="1">
                <a:solidFill>
                  <a:schemeClr val="tx1"/>
                </a:solidFill>
                <a:effectLst/>
                <a:latin typeface="+mn-lt"/>
                <a:ea typeface="+mn-ea"/>
                <a:cs typeface="+mn-cs"/>
              </a:rPr>
              <a:t>Instagram</a:t>
            </a:r>
            <a:r>
              <a:rPr lang="en-US" sz="1200" b="0" i="1" u="none" strike="noStrike" kern="1200" dirty="0">
                <a:solidFill>
                  <a:schemeClr val="tx1"/>
                </a:solidFill>
                <a:effectLst/>
                <a:latin typeface="+mn-lt"/>
                <a:ea typeface="+mn-ea"/>
                <a:cs typeface="+mn-cs"/>
              </a:rPr>
              <a:t>, LinkedIn?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3. Do you have a well-thought out brand name, logo, and a Positioning statement?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4. Have you made an actual sale? (1 mark)</a:t>
            </a:r>
            <a:r>
              <a:rPr lang="en-US" i="1" dirty="0"/>
              <a:t> </a:t>
            </a:r>
            <a:endParaRPr lang="en-IN" i="1" dirty="0"/>
          </a:p>
        </p:txBody>
      </p:sp>
      <p:sp>
        <p:nvSpPr>
          <p:cNvPr id="4" name="Slide Number Placeholder 3"/>
          <p:cNvSpPr>
            <a:spLocks noGrp="1"/>
          </p:cNvSpPr>
          <p:nvPr>
            <p:ph type="sldNum" sz="quarter" idx="10"/>
          </p:nvPr>
        </p:nvSpPr>
        <p:spPr/>
        <p:txBody>
          <a:bodyPr/>
          <a:lstStyle/>
          <a:p>
            <a:fld id="{565F787C-D8F9-4047-8CC8-08AC13C2A058}"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898562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724927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146044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 for slide 24</a:t>
            </a:r>
          </a:p>
          <a:p>
            <a:endParaRPr lang="en-IN" i="1" dirty="0"/>
          </a:p>
          <a:p>
            <a:r>
              <a:rPr lang="en-US" sz="1200" b="0" i="1" u="none" strike="noStrike" kern="1200" dirty="0">
                <a:solidFill>
                  <a:schemeClr val="tx1"/>
                </a:solidFill>
                <a:effectLst/>
                <a:latin typeface="+mn-lt"/>
                <a:ea typeface="+mn-ea"/>
                <a:cs typeface="+mn-cs"/>
              </a:rPr>
              <a:t>1. Have you done their Unit Economics and come up with CAC, CLV, ARPU, Net and Gross Profit?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2. Do you have a plan on how to reduce their CAC and churn rate, and increase their CLV, ARPU, and Net Profit Margin?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3. Is the capital asked for as per the Funding plan in line with the business?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4. How long will it take you to return the investment? (1 mark)</a:t>
            </a:r>
            <a:r>
              <a:rPr lang="en-US" i="1" dirty="0"/>
              <a:t> </a:t>
            </a:r>
            <a:endParaRPr lang="en-IN" i="1" dirty="0"/>
          </a:p>
        </p:txBody>
      </p:sp>
      <p:sp>
        <p:nvSpPr>
          <p:cNvPr id="4" name="Slide Number Placeholder 3"/>
          <p:cNvSpPr>
            <a:spLocks noGrp="1"/>
          </p:cNvSpPr>
          <p:nvPr>
            <p:ph type="sldNum" sz="quarter" idx="10"/>
          </p:nvPr>
        </p:nvSpPr>
        <p:spPr/>
        <p:txBody>
          <a:bodyPr/>
          <a:lstStyle/>
          <a:p>
            <a:fld id="{565F787C-D8F9-4047-8CC8-08AC13C2A058}" type="slidenum">
              <a:rPr lang="en-US" smtClean="0"/>
              <a:t>20</a:t>
            </a:fld>
            <a:endParaRPr lang="en-US"/>
          </a:p>
        </p:txBody>
      </p:sp>
    </p:spTree>
    <p:extLst>
      <p:ext uri="{BB962C8B-B14F-4D97-AF65-F5344CB8AC3E}">
        <p14:creationId xmlns:p14="http://schemas.microsoft.com/office/powerpoint/2010/main" val="4140494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 for slide 24</a:t>
            </a:r>
          </a:p>
          <a:p>
            <a:endParaRPr lang="en-IN" i="1" dirty="0"/>
          </a:p>
          <a:p>
            <a:r>
              <a:rPr lang="en-US" sz="1200" b="0" i="1" u="none" strike="noStrike" kern="1200" dirty="0">
                <a:solidFill>
                  <a:schemeClr val="tx1"/>
                </a:solidFill>
                <a:effectLst/>
                <a:latin typeface="+mn-lt"/>
                <a:ea typeface="+mn-ea"/>
                <a:cs typeface="+mn-cs"/>
              </a:rPr>
              <a:t>1. Have you done their Unit Economics and come up with CAC, CLV, ARPU, Net and Gross Profit?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2. Do you have a plan on how to reduce their CAC and churn rate, and increase their CLV, ARPU, and Net Profit Margin?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3. Is the capital asked for as per the Funding plan in line with the business?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4. How long will it take you to return the investment? (1 mark)</a:t>
            </a:r>
            <a:r>
              <a:rPr lang="en-US" i="1" dirty="0"/>
              <a:t> </a:t>
            </a:r>
            <a:endParaRPr lang="en-IN" i="1" dirty="0"/>
          </a:p>
        </p:txBody>
      </p:sp>
      <p:sp>
        <p:nvSpPr>
          <p:cNvPr id="4" name="Slide Number Placeholder 3"/>
          <p:cNvSpPr>
            <a:spLocks noGrp="1"/>
          </p:cNvSpPr>
          <p:nvPr>
            <p:ph type="sldNum" sz="quarter" idx="10"/>
          </p:nvPr>
        </p:nvSpPr>
        <p:spPr/>
        <p:txBody>
          <a:bodyPr/>
          <a:lstStyle/>
          <a:p>
            <a:fld id="{565F787C-D8F9-4047-8CC8-08AC13C2A058}" type="slidenum">
              <a:rPr lang="en-US" smtClean="0"/>
              <a:t>21</a:t>
            </a:fld>
            <a:endParaRPr lang="en-US"/>
          </a:p>
        </p:txBody>
      </p:sp>
    </p:spTree>
    <p:extLst>
      <p:ext uri="{BB962C8B-B14F-4D97-AF65-F5344CB8AC3E}">
        <p14:creationId xmlns:p14="http://schemas.microsoft.com/office/powerpoint/2010/main" val="2112031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 for slide 24</a:t>
            </a:r>
          </a:p>
          <a:p>
            <a:endParaRPr lang="en-IN" i="1" dirty="0"/>
          </a:p>
          <a:p>
            <a:r>
              <a:rPr lang="en-US" sz="1200" b="0" i="1" u="none" strike="noStrike" kern="1200" dirty="0">
                <a:solidFill>
                  <a:schemeClr val="tx1"/>
                </a:solidFill>
                <a:effectLst/>
                <a:latin typeface="+mn-lt"/>
                <a:ea typeface="+mn-ea"/>
                <a:cs typeface="+mn-cs"/>
              </a:rPr>
              <a:t>1. Have you done their Unit Economics and come up with CAC, CLV, ARPU, Net and Gross Profit?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2. Do you have a plan on how to reduce their CAC and churn rate, and increase their CLV, ARPU, and Net Profit Margin?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3. Is the capital asked for as per the Funding plan in line with the business?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4. How long will it take you to return the investment? (1 mark)</a:t>
            </a:r>
            <a:r>
              <a:rPr lang="en-US" i="1" dirty="0"/>
              <a:t> </a:t>
            </a:r>
            <a:endParaRPr lang="en-IN" i="1" dirty="0"/>
          </a:p>
        </p:txBody>
      </p:sp>
      <p:sp>
        <p:nvSpPr>
          <p:cNvPr id="4" name="Slide Number Placeholder 3"/>
          <p:cNvSpPr>
            <a:spLocks noGrp="1"/>
          </p:cNvSpPr>
          <p:nvPr>
            <p:ph type="sldNum" sz="quarter" idx="10"/>
          </p:nvPr>
        </p:nvSpPr>
        <p:spPr/>
        <p:txBody>
          <a:bodyPr/>
          <a:lstStyle/>
          <a:p>
            <a:fld id="{565F787C-D8F9-4047-8CC8-08AC13C2A058}" type="slidenum">
              <a:rPr lang="en-US" smtClean="0"/>
              <a:t>22</a:t>
            </a:fld>
            <a:endParaRPr lang="en-US"/>
          </a:p>
        </p:txBody>
      </p:sp>
    </p:spTree>
    <p:extLst>
      <p:ext uri="{BB962C8B-B14F-4D97-AF65-F5344CB8AC3E}">
        <p14:creationId xmlns:p14="http://schemas.microsoft.com/office/powerpoint/2010/main" val="2507980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0FE411-3744-4059-A83F-482351BF9D8B}" type="slidenum">
              <a:rPr lang="en-IN" smtClean="0"/>
              <a:pPr/>
              <a:t>25</a:t>
            </a:fld>
            <a:endParaRPr lang="en-IN"/>
          </a:p>
        </p:txBody>
      </p:sp>
    </p:spTree>
    <p:extLst>
      <p:ext uri="{BB962C8B-B14F-4D97-AF65-F5344CB8AC3E}">
        <p14:creationId xmlns:p14="http://schemas.microsoft.com/office/powerpoint/2010/main" val="2650997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195641"/>
            <a:ext cx="15544800" cy="2205038"/>
          </a:xfrm>
        </p:spPr>
        <p:txBody>
          <a:bodyPr/>
          <a:lstStyle/>
          <a:p>
            <a:r>
              <a:rPr lang="en-US"/>
              <a:t>Click to edit Master title style</a:t>
            </a:r>
          </a:p>
        </p:txBody>
      </p:sp>
      <p:sp>
        <p:nvSpPr>
          <p:cNvPr id="3" name="Subtitle 2"/>
          <p:cNvSpPr>
            <a:spLocks noGrp="1"/>
          </p:cNvSpPr>
          <p:nvPr>
            <p:ph type="subTitle" idx="1"/>
          </p:nvPr>
        </p:nvSpPr>
        <p:spPr>
          <a:xfrm>
            <a:off x="2743200" y="5829300"/>
            <a:ext cx="12801600" cy="2628900"/>
          </a:xfrm>
        </p:spPr>
        <p:txBody>
          <a:bodyPr/>
          <a:lstStyle>
            <a:lvl1pPr marL="0" indent="0" algn="ctr">
              <a:buNone/>
              <a:defRPr>
                <a:solidFill>
                  <a:schemeClr val="tx1">
                    <a:tint val="75000"/>
                  </a:schemeClr>
                </a:solidFill>
              </a:defRPr>
            </a:lvl1pPr>
            <a:lvl2pPr marL="816408" indent="0" algn="ctr">
              <a:buNone/>
              <a:defRPr>
                <a:solidFill>
                  <a:schemeClr val="tx1">
                    <a:tint val="75000"/>
                  </a:schemeClr>
                </a:solidFill>
              </a:defRPr>
            </a:lvl2pPr>
            <a:lvl3pPr marL="1632819" indent="0" algn="ctr">
              <a:buNone/>
              <a:defRPr>
                <a:solidFill>
                  <a:schemeClr val="tx1">
                    <a:tint val="75000"/>
                  </a:schemeClr>
                </a:solidFill>
              </a:defRPr>
            </a:lvl3pPr>
            <a:lvl4pPr marL="2449227" indent="0" algn="ctr">
              <a:buNone/>
              <a:defRPr>
                <a:solidFill>
                  <a:schemeClr val="tx1">
                    <a:tint val="75000"/>
                  </a:schemeClr>
                </a:solidFill>
              </a:defRPr>
            </a:lvl4pPr>
            <a:lvl5pPr marL="3265635" indent="0" algn="ctr">
              <a:buNone/>
              <a:defRPr>
                <a:solidFill>
                  <a:schemeClr val="tx1">
                    <a:tint val="75000"/>
                  </a:schemeClr>
                </a:solidFill>
              </a:defRPr>
            </a:lvl5pPr>
            <a:lvl6pPr marL="4082046" indent="0" algn="ctr">
              <a:buNone/>
              <a:defRPr>
                <a:solidFill>
                  <a:schemeClr val="tx1">
                    <a:tint val="75000"/>
                  </a:schemeClr>
                </a:solidFill>
              </a:defRPr>
            </a:lvl6pPr>
            <a:lvl7pPr marL="4898454" indent="0" algn="ctr">
              <a:buNone/>
              <a:defRPr>
                <a:solidFill>
                  <a:schemeClr val="tx1">
                    <a:tint val="75000"/>
                  </a:schemeClr>
                </a:solidFill>
              </a:defRPr>
            </a:lvl7pPr>
            <a:lvl8pPr marL="5714861" indent="0" algn="ctr">
              <a:buNone/>
              <a:defRPr>
                <a:solidFill>
                  <a:schemeClr val="tx1">
                    <a:tint val="75000"/>
                  </a:schemeClr>
                </a:solidFill>
              </a:defRPr>
            </a:lvl8pPr>
            <a:lvl9pPr marL="653127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6610354"/>
            <a:ext cx="15544800" cy="2043113"/>
          </a:xfrm>
        </p:spPr>
        <p:txBody>
          <a:bodyPr anchor="t"/>
          <a:lstStyle>
            <a:lvl1pPr algn="l">
              <a:defRPr sz="7100" b="1" cap="all"/>
            </a:lvl1pPr>
          </a:lstStyle>
          <a:p>
            <a:r>
              <a:rPr lang="en-US"/>
              <a:t>Click to edit Master title style</a:t>
            </a:r>
          </a:p>
        </p:txBody>
      </p:sp>
      <p:sp>
        <p:nvSpPr>
          <p:cNvPr id="3" name="Text Placeholder 2"/>
          <p:cNvSpPr>
            <a:spLocks noGrp="1"/>
          </p:cNvSpPr>
          <p:nvPr>
            <p:ph type="body" idx="1"/>
          </p:nvPr>
        </p:nvSpPr>
        <p:spPr>
          <a:xfrm>
            <a:off x="1444626" y="4360073"/>
            <a:ext cx="15544800" cy="2250281"/>
          </a:xfrm>
        </p:spPr>
        <p:txBody>
          <a:bodyPr anchor="b"/>
          <a:lstStyle>
            <a:lvl1pPr marL="0" indent="0">
              <a:buNone/>
              <a:defRPr sz="3600">
                <a:solidFill>
                  <a:schemeClr val="tx1">
                    <a:tint val="75000"/>
                  </a:schemeClr>
                </a:solidFill>
              </a:defRPr>
            </a:lvl1pPr>
            <a:lvl2pPr marL="816408" indent="0">
              <a:buNone/>
              <a:defRPr sz="3200">
                <a:solidFill>
                  <a:schemeClr val="tx1">
                    <a:tint val="75000"/>
                  </a:schemeClr>
                </a:solidFill>
              </a:defRPr>
            </a:lvl2pPr>
            <a:lvl3pPr marL="1632819" indent="0">
              <a:buNone/>
              <a:defRPr sz="2900">
                <a:solidFill>
                  <a:schemeClr val="tx1">
                    <a:tint val="75000"/>
                  </a:schemeClr>
                </a:solidFill>
              </a:defRPr>
            </a:lvl3pPr>
            <a:lvl4pPr marL="2449227" indent="0">
              <a:buNone/>
              <a:defRPr sz="2500">
                <a:solidFill>
                  <a:schemeClr val="tx1">
                    <a:tint val="75000"/>
                  </a:schemeClr>
                </a:solidFill>
              </a:defRPr>
            </a:lvl4pPr>
            <a:lvl5pPr marL="3265635" indent="0">
              <a:buNone/>
              <a:defRPr sz="2500">
                <a:solidFill>
                  <a:schemeClr val="tx1">
                    <a:tint val="75000"/>
                  </a:schemeClr>
                </a:solidFill>
              </a:defRPr>
            </a:lvl5pPr>
            <a:lvl6pPr marL="4082046" indent="0">
              <a:buNone/>
              <a:defRPr sz="2500">
                <a:solidFill>
                  <a:schemeClr val="tx1">
                    <a:tint val="75000"/>
                  </a:schemeClr>
                </a:solidFill>
              </a:defRPr>
            </a:lvl6pPr>
            <a:lvl7pPr marL="4898454" indent="0">
              <a:buNone/>
              <a:defRPr sz="2500">
                <a:solidFill>
                  <a:schemeClr val="tx1">
                    <a:tint val="75000"/>
                  </a:schemeClr>
                </a:solidFill>
              </a:defRPr>
            </a:lvl7pPr>
            <a:lvl8pPr marL="5714861" indent="0">
              <a:buNone/>
              <a:defRPr sz="2500">
                <a:solidFill>
                  <a:schemeClr val="tx1">
                    <a:tint val="75000"/>
                  </a:schemeClr>
                </a:solidFill>
              </a:defRPr>
            </a:lvl8pPr>
            <a:lvl9pPr marL="6531273" indent="0">
              <a:buNone/>
              <a:defRPr sz="2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828800" y="3600450"/>
            <a:ext cx="16306800" cy="10184607"/>
          </a:xfrm>
        </p:spPr>
        <p:txBody>
          <a:bodyPr/>
          <a:lstStyle>
            <a:lvl1pPr>
              <a:defRPr sz="5000"/>
            </a:lvl1pPr>
            <a:lvl2pPr>
              <a:defRPr sz="43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8440400" y="3600450"/>
            <a:ext cx="16306800" cy="10184607"/>
          </a:xfrm>
        </p:spPr>
        <p:txBody>
          <a:bodyPr/>
          <a:lstStyle>
            <a:lvl1pPr>
              <a:defRPr sz="5000"/>
            </a:lvl1pPr>
            <a:lvl2pPr>
              <a:defRPr sz="43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2302671"/>
            <a:ext cx="8080376" cy="959643"/>
          </a:xfrm>
        </p:spPr>
        <p:txBody>
          <a:bodyPr anchor="b"/>
          <a:lstStyle>
            <a:lvl1pPr marL="0" indent="0">
              <a:buNone/>
              <a:defRPr sz="4300" b="1"/>
            </a:lvl1pPr>
            <a:lvl2pPr marL="816408" indent="0">
              <a:buNone/>
              <a:defRPr sz="3600" b="1"/>
            </a:lvl2pPr>
            <a:lvl3pPr marL="1632819" indent="0">
              <a:buNone/>
              <a:defRPr sz="3200" b="1"/>
            </a:lvl3pPr>
            <a:lvl4pPr marL="2449227" indent="0">
              <a:buNone/>
              <a:defRPr sz="2900" b="1"/>
            </a:lvl4pPr>
            <a:lvl5pPr marL="3265635" indent="0">
              <a:buNone/>
              <a:defRPr sz="2900" b="1"/>
            </a:lvl5pPr>
            <a:lvl6pPr marL="4082046" indent="0">
              <a:buNone/>
              <a:defRPr sz="2900" b="1"/>
            </a:lvl6pPr>
            <a:lvl7pPr marL="4898454" indent="0">
              <a:buNone/>
              <a:defRPr sz="2900" b="1"/>
            </a:lvl7pPr>
            <a:lvl8pPr marL="5714861" indent="0">
              <a:buNone/>
              <a:defRPr sz="2900" b="1"/>
            </a:lvl8pPr>
            <a:lvl9pPr marL="6531273" indent="0">
              <a:buNone/>
              <a:defRPr sz="2900" b="1"/>
            </a:lvl9pPr>
          </a:lstStyle>
          <a:p>
            <a:pPr lvl="0"/>
            <a:r>
              <a:rPr lang="en-US"/>
              <a:t>Click to edit Master text styles</a:t>
            </a:r>
          </a:p>
        </p:txBody>
      </p:sp>
      <p:sp>
        <p:nvSpPr>
          <p:cNvPr id="4" name="Content Placeholder 3"/>
          <p:cNvSpPr>
            <a:spLocks noGrp="1"/>
          </p:cNvSpPr>
          <p:nvPr>
            <p:ph sz="half" idx="2"/>
          </p:nvPr>
        </p:nvSpPr>
        <p:spPr>
          <a:xfrm>
            <a:off x="914400" y="3262313"/>
            <a:ext cx="8080376" cy="5926932"/>
          </a:xfrm>
        </p:spPr>
        <p:txBody>
          <a:bodyPr/>
          <a:lstStyle>
            <a:lvl1pPr>
              <a:defRPr sz="4300"/>
            </a:lvl1pPr>
            <a:lvl2pPr>
              <a:defRPr sz="36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5" y="2302671"/>
            <a:ext cx="8083550" cy="959643"/>
          </a:xfrm>
        </p:spPr>
        <p:txBody>
          <a:bodyPr anchor="b"/>
          <a:lstStyle>
            <a:lvl1pPr marL="0" indent="0">
              <a:buNone/>
              <a:defRPr sz="4300" b="1"/>
            </a:lvl1pPr>
            <a:lvl2pPr marL="816408" indent="0">
              <a:buNone/>
              <a:defRPr sz="3600" b="1"/>
            </a:lvl2pPr>
            <a:lvl3pPr marL="1632819" indent="0">
              <a:buNone/>
              <a:defRPr sz="3200" b="1"/>
            </a:lvl3pPr>
            <a:lvl4pPr marL="2449227" indent="0">
              <a:buNone/>
              <a:defRPr sz="2900" b="1"/>
            </a:lvl4pPr>
            <a:lvl5pPr marL="3265635" indent="0">
              <a:buNone/>
              <a:defRPr sz="2900" b="1"/>
            </a:lvl5pPr>
            <a:lvl6pPr marL="4082046" indent="0">
              <a:buNone/>
              <a:defRPr sz="2900" b="1"/>
            </a:lvl6pPr>
            <a:lvl7pPr marL="4898454" indent="0">
              <a:buNone/>
              <a:defRPr sz="2900" b="1"/>
            </a:lvl7pPr>
            <a:lvl8pPr marL="5714861" indent="0">
              <a:buNone/>
              <a:defRPr sz="2900" b="1"/>
            </a:lvl8pPr>
            <a:lvl9pPr marL="6531273" indent="0">
              <a:buNone/>
              <a:defRPr sz="2900" b="1"/>
            </a:lvl9pPr>
          </a:lstStyle>
          <a:p>
            <a:pPr lvl="0"/>
            <a:r>
              <a:rPr lang="en-US"/>
              <a:t>Click to edit Master text styles</a:t>
            </a:r>
          </a:p>
        </p:txBody>
      </p:sp>
      <p:sp>
        <p:nvSpPr>
          <p:cNvPr id="6" name="Content Placeholder 5"/>
          <p:cNvSpPr>
            <a:spLocks noGrp="1"/>
          </p:cNvSpPr>
          <p:nvPr>
            <p:ph sz="quarter" idx="4"/>
          </p:nvPr>
        </p:nvSpPr>
        <p:spPr>
          <a:xfrm>
            <a:off x="9290055" y="3262313"/>
            <a:ext cx="8083550" cy="5926932"/>
          </a:xfrm>
        </p:spPr>
        <p:txBody>
          <a:bodyPr/>
          <a:lstStyle>
            <a:lvl1pPr>
              <a:defRPr sz="4300"/>
            </a:lvl1pPr>
            <a:lvl2pPr>
              <a:defRPr sz="36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5" y="409575"/>
            <a:ext cx="6016626" cy="1743075"/>
          </a:xfrm>
        </p:spPr>
        <p:txBody>
          <a:bodyPr anchor="b"/>
          <a:lstStyle>
            <a:lvl1pPr algn="l">
              <a:defRPr sz="3600" b="1"/>
            </a:lvl1pPr>
          </a:lstStyle>
          <a:p>
            <a:r>
              <a:rPr lang="en-US"/>
              <a:t>Click to edit Master title style</a:t>
            </a:r>
          </a:p>
        </p:txBody>
      </p:sp>
      <p:sp>
        <p:nvSpPr>
          <p:cNvPr id="3" name="Content Placeholder 2"/>
          <p:cNvSpPr>
            <a:spLocks noGrp="1"/>
          </p:cNvSpPr>
          <p:nvPr>
            <p:ph idx="1"/>
          </p:nvPr>
        </p:nvSpPr>
        <p:spPr>
          <a:xfrm>
            <a:off x="7150100" y="409579"/>
            <a:ext cx="10223500" cy="8779670"/>
          </a:xfrm>
        </p:spPr>
        <p:txBody>
          <a:bodyPr/>
          <a:lstStyle>
            <a:lvl1pPr>
              <a:defRPr sz="5700"/>
            </a:lvl1pPr>
            <a:lvl2pPr>
              <a:defRPr sz="5000"/>
            </a:lvl2pPr>
            <a:lvl3pPr>
              <a:defRPr sz="43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5" y="2152654"/>
            <a:ext cx="6016626" cy="7036595"/>
          </a:xfrm>
        </p:spPr>
        <p:txBody>
          <a:bodyPr/>
          <a:lstStyle>
            <a:lvl1pPr marL="0" indent="0">
              <a:buNone/>
              <a:defRPr sz="2500"/>
            </a:lvl1pPr>
            <a:lvl2pPr marL="816408" indent="0">
              <a:buNone/>
              <a:defRPr sz="2100"/>
            </a:lvl2pPr>
            <a:lvl3pPr marL="1632819" indent="0">
              <a:buNone/>
              <a:defRPr sz="1800"/>
            </a:lvl3pPr>
            <a:lvl4pPr marL="2449227" indent="0">
              <a:buNone/>
              <a:defRPr sz="1600"/>
            </a:lvl4pPr>
            <a:lvl5pPr marL="3265635" indent="0">
              <a:buNone/>
              <a:defRPr sz="1600"/>
            </a:lvl5pPr>
            <a:lvl6pPr marL="4082046" indent="0">
              <a:buNone/>
              <a:defRPr sz="1600"/>
            </a:lvl6pPr>
            <a:lvl7pPr marL="4898454" indent="0">
              <a:buNone/>
              <a:defRPr sz="1600"/>
            </a:lvl7pPr>
            <a:lvl8pPr marL="5714861" indent="0">
              <a:buNone/>
              <a:defRPr sz="1600"/>
            </a:lvl8pPr>
            <a:lvl9pPr marL="6531273" indent="0">
              <a:buNone/>
              <a:defRPr sz="1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7200900"/>
            <a:ext cx="10972800" cy="850107"/>
          </a:xfrm>
        </p:spPr>
        <p:txBody>
          <a:bodyPr anchor="b"/>
          <a:lstStyle>
            <a:lvl1pPr algn="l">
              <a:defRPr sz="3600" b="1"/>
            </a:lvl1pPr>
          </a:lstStyle>
          <a:p>
            <a:r>
              <a:rPr lang="en-US"/>
              <a:t>Click to edit Master title style</a:t>
            </a:r>
          </a:p>
        </p:txBody>
      </p:sp>
      <p:sp>
        <p:nvSpPr>
          <p:cNvPr id="3" name="Picture Placeholder 2"/>
          <p:cNvSpPr>
            <a:spLocks noGrp="1"/>
          </p:cNvSpPr>
          <p:nvPr>
            <p:ph type="pic" idx="1"/>
          </p:nvPr>
        </p:nvSpPr>
        <p:spPr>
          <a:xfrm>
            <a:off x="3584576" y="919163"/>
            <a:ext cx="10972800" cy="6172200"/>
          </a:xfrm>
        </p:spPr>
        <p:txBody>
          <a:bodyPr/>
          <a:lstStyle>
            <a:lvl1pPr marL="0" indent="0">
              <a:buNone/>
              <a:defRPr sz="5700"/>
            </a:lvl1pPr>
            <a:lvl2pPr marL="816408" indent="0">
              <a:buNone/>
              <a:defRPr sz="5000"/>
            </a:lvl2pPr>
            <a:lvl3pPr marL="1632819" indent="0">
              <a:buNone/>
              <a:defRPr sz="4300"/>
            </a:lvl3pPr>
            <a:lvl4pPr marL="2449227" indent="0">
              <a:buNone/>
              <a:defRPr sz="3600"/>
            </a:lvl4pPr>
            <a:lvl5pPr marL="3265635" indent="0">
              <a:buNone/>
              <a:defRPr sz="3600"/>
            </a:lvl5pPr>
            <a:lvl6pPr marL="4082046" indent="0">
              <a:buNone/>
              <a:defRPr sz="3600"/>
            </a:lvl6pPr>
            <a:lvl7pPr marL="4898454" indent="0">
              <a:buNone/>
              <a:defRPr sz="3600"/>
            </a:lvl7pPr>
            <a:lvl8pPr marL="5714861" indent="0">
              <a:buNone/>
              <a:defRPr sz="3600"/>
            </a:lvl8pPr>
            <a:lvl9pPr marL="6531273" indent="0">
              <a:buNone/>
              <a:defRPr sz="3600"/>
            </a:lvl9pPr>
          </a:lstStyle>
          <a:p>
            <a:endParaRPr lang="en-US"/>
          </a:p>
        </p:txBody>
      </p:sp>
      <p:sp>
        <p:nvSpPr>
          <p:cNvPr id="4" name="Text Placeholder 3"/>
          <p:cNvSpPr>
            <a:spLocks noGrp="1"/>
          </p:cNvSpPr>
          <p:nvPr>
            <p:ph type="body" sz="half" idx="2"/>
          </p:nvPr>
        </p:nvSpPr>
        <p:spPr>
          <a:xfrm>
            <a:off x="3584576" y="8051007"/>
            <a:ext cx="10972800" cy="1207293"/>
          </a:xfrm>
        </p:spPr>
        <p:txBody>
          <a:bodyPr/>
          <a:lstStyle>
            <a:lvl1pPr marL="0" indent="0">
              <a:buNone/>
              <a:defRPr sz="2500"/>
            </a:lvl1pPr>
            <a:lvl2pPr marL="816408" indent="0">
              <a:buNone/>
              <a:defRPr sz="2100"/>
            </a:lvl2pPr>
            <a:lvl3pPr marL="1632819" indent="0">
              <a:buNone/>
              <a:defRPr sz="1800"/>
            </a:lvl3pPr>
            <a:lvl4pPr marL="2449227" indent="0">
              <a:buNone/>
              <a:defRPr sz="1600"/>
            </a:lvl4pPr>
            <a:lvl5pPr marL="3265635" indent="0">
              <a:buNone/>
              <a:defRPr sz="1600"/>
            </a:lvl5pPr>
            <a:lvl6pPr marL="4082046" indent="0">
              <a:buNone/>
              <a:defRPr sz="1600"/>
            </a:lvl6pPr>
            <a:lvl7pPr marL="4898454" indent="0">
              <a:buNone/>
              <a:defRPr sz="1600"/>
            </a:lvl7pPr>
            <a:lvl8pPr marL="5714861" indent="0">
              <a:buNone/>
              <a:defRPr sz="1600"/>
            </a:lvl8pPr>
            <a:lvl9pPr marL="6531273" indent="0">
              <a:buNone/>
              <a:defRPr sz="1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517600" y="619125"/>
            <a:ext cx="8229600" cy="1316593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828800" y="619125"/>
            <a:ext cx="24384000" cy="131659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10972800" y="0"/>
            <a:ext cx="7315200" cy="10287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876800" h="6858000">
                <a:moveTo>
                  <a:pt x="0" y="0"/>
                </a:moveTo>
                <a:lnTo>
                  <a:pt x="4876800" y="0"/>
                </a:lnTo>
                <a:lnTo>
                  <a:pt x="4876800"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2300"/>
            </a:lvl1pPr>
          </a:lstStyle>
          <a:p>
            <a:endParaRPr lang="en-US"/>
          </a:p>
        </p:txBody>
      </p:sp>
      <p:sp>
        <p:nvSpPr>
          <p:cNvPr id="10" name="Picture Placeholder 9"/>
          <p:cNvSpPr>
            <a:spLocks noGrp="1"/>
          </p:cNvSpPr>
          <p:nvPr>
            <p:ph type="pic" sz="quarter" idx="12"/>
          </p:nvPr>
        </p:nvSpPr>
        <p:spPr>
          <a:xfrm>
            <a:off x="0" y="6715124"/>
            <a:ext cx="3314700" cy="3571877"/>
          </a:xfrm>
          <a:custGeom>
            <a:avLst/>
            <a:gdLst>
              <a:gd name="connsiteX0" fmla="*/ 0 w 2209800"/>
              <a:gd name="connsiteY0" fmla="*/ 0 h 2381250"/>
              <a:gd name="connsiteX1" fmla="*/ 2209800 w 2209800"/>
              <a:gd name="connsiteY1" fmla="*/ 0 h 2381250"/>
              <a:gd name="connsiteX2" fmla="*/ 2209800 w 2209800"/>
              <a:gd name="connsiteY2" fmla="*/ 2381250 h 2381250"/>
              <a:gd name="connsiteX3" fmla="*/ 0 w 2209800"/>
              <a:gd name="connsiteY3" fmla="*/ 2381250 h 2381250"/>
            </a:gdLst>
            <a:ahLst/>
            <a:cxnLst>
              <a:cxn ang="0">
                <a:pos x="connsiteX0" y="connsiteY0"/>
              </a:cxn>
              <a:cxn ang="0">
                <a:pos x="connsiteX1" y="connsiteY1"/>
              </a:cxn>
              <a:cxn ang="0">
                <a:pos x="connsiteX2" y="connsiteY2"/>
              </a:cxn>
              <a:cxn ang="0">
                <a:pos x="connsiteX3" y="connsiteY3"/>
              </a:cxn>
            </a:cxnLst>
            <a:rect l="l" t="t" r="r" b="b"/>
            <a:pathLst>
              <a:path w="2209800" h="2381250">
                <a:moveTo>
                  <a:pt x="0" y="0"/>
                </a:moveTo>
                <a:lnTo>
                  <a:pt x="2209800" y="0"/>
                </a:lnTo>
                <a:lnTo>
                  <a:pt x="2209800" y="2381250"/>
                </a:lnTo>
                <a:lnTo>
                  <a:pt x="0" y="2381250"/>
                </a:lnTo>
                <a:close/>
              </a:path>
            </a:pathLst>
          </a:custGeom>
          <a:pattFill prst="solidDmnd">
            <a:fgClr>
              <a:schemeClr val="bg1">
                <a:lumMod val="85000"/>
              </a:schemeClr>
            </a:fgClr>
            <a:bgClr>
              <a:schemeClr val="bg1"/>
            </a:bgClr>
          </a:pattFill>
        </p:spPr>
        <p:txBody>
          <a:bodyPr wrap="square" anchor="ctr">
            <a:noAutofit/>
          </a:bodyPr>
          <a:lstStyle>
            <a:lvl1pPr algn="ctr">
              <a:defRPr sz="2300"/>
            </a:lvl1pPr>
          </a:lstStyle>
          <a:p>
            <a:endParaRPr lang="en-US"/>
          </a:p>
        </p:txBody>
      </p:sp>
    </p:spTree>
    <p:extLst>
      <p:ext uri="{BB962C8B-B14F-4D97-AF65-F5344CB8AC3E}">
        <p14:creationId xmlns:p14="http://schemas.microsoft.com/office/powerpoint/2010/main" val="1014372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IN"/>
          </a:p>
        </p:txBody>
      </p:sp>
      <p:sp>
        <p:nvSpPr>
          <p:cNvPr id="5" name="Slide Number Placeholder 4"/>
          <p:cNvSpPr>
            <a:spLocks noGrp="1"/>
          </p:cNvSpPr>
          <p:nvPr>
            <p:ph type="sldNum" sz="quarter" idx="12"/>
          </p:nvPr>
        </p:nvSpPr>
        <p:spPr/>
        <p:txBody>
          <a:bodyPr/>
          <a:lstStyle>
            <a:lvl1pPr marL="39064">
              <a:spcBef>
                <a:spcPts val="112"/>
              </a:spcBef>
              <a:defRPr/>
            </a:lvl1pPr>
          </a:lstStyle>
          <a:p>
            <a:fld id="{81D60167-4931-47E6-BA6A-407CBD079E47}" type="slidenum">
              <a:rPr lang="en-IN" smtClean="0"/>
              <a:pPr/>
              <a:t>‹#›</a:t>
            </a:fld>
            <a:endParaRPr lang="en-IN" dirty="0"/>
          </a:p>
        </p:txBody>
      </p:sp>
      <p:sp>
        <p:nvSpPr>
          <p:cNvPr id="10" name="Title 1"/>
          <p:cNvSpPr>
            <a:spLocks noGrp="1"/>
          </p:cNvSpPr>
          <p:nvPr>
            <p:ph type="title"/>
          </p:nvPr>
        </p:nvSpPr>
        <p:spPr>
          <a:xfrm>
            <a:off x="716947"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6" y="1293190"/>
            <a:ext cx="15304108" cy="345113"/>
          </a:xfrm>
        </p:spPr>
        <p:txBody>
          <a:bodyPr>
            <a:noAutofit/>
          </a:bodyPr>
          <a:lstStyle>
            <a:lvl1pPr marL="0" indent="0" algn="l">
              <a:buNone/>
              <a:defRPr sz="1800">
                <a:solidFill>
                  <a:schemeClr val="tx1">
                    <a:lumMod val="65000"/>
                    <a:lumOff val="35000"/>
                  </a:schemeClr>
                </a:solidFill>
              </a:defRPr>
            </a:lvl1pPr>
            <a:lvl2pPr marL="685607" indent="0" algn="ctr">
              <a:buNone/>
              <a:defRPr sz="3000"/>
            </a:lvl2pPr>
            <a:lvl3pPr marL="1371212" indent="0" algn="ctr">
              <a:buNone/>
              <a:defRPr sz="2700"/>
            </a:lvl3pPr>
            <a:lvl4pPr marL="2056819" indent="0" algn="ctr">
              <a:buNone/>
              <a:defRPr sz="2300"/>
            </a:lvl4pPr>
            <a:lvl5pPr marL="2742424" indent="0" algn="ctr">
              <a:buNone/>
              <a:defRPr sz="2300"/>
            </a:lvl5pPr>
            <a:lvl6pPr marL="3428032" indent="0" algn="ctr">
              <a:buNone/>
              <a:defRPr sz="2300"/>
            </a:lvl6pPr>
            <a:lvl7pPr marL="4113637" indent="0" algn="ctr">
              <a:buNone/>
              <a:defRPr sz="2300"/>
            </a:lvl7pPr>
            <a:lvl8pPr marL="4799242" indent="0" algn="ctr">
              <a:buNone/>
              <a:defRPr sz="2300"/>
            </a:lvl8pPr>
            <a:lvl9pPr marL="5484849" indent="0" algn="ctr">
              <a:buNone/>
              <a:defRPr sz="2300"/>
            </a:lvl9pPr>
          </a:lstStyle>
          <a:p>
            <a:r>
              <a:rPr lang="en-US" dirty="0"/>
              <a:t>Click to edit Master subtitle style</a:t>
            </a:r>
          </a:p>
        </p:txBody>
      </p:sp>
    </p:spTree>
    <p:extLst>
      <p:ext uri="{BB962C8B-B14F-4D97-AF65-F5344CB8AC3E}">
        <p14:creationId xmlns:p14="http://schemas.microsoft.com/office/powerpoint/2010/main" val="1398577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6057900" y="9926410"/>
            <a:ext cx="6172200" cy="547688"/>
          </a:xfrm>
        </p:spPr>
        <p:txBody>
          <a:bodyPr/>
          <a:lstStyle>
            <a:lvl1pPr>
              <a:defRPr sz="1400">
                <a:solidFill>
                  <a:schemeClr val="tx1">
                    <a:lumMod val="85000"/>
                    <a:lumOff val="15000"/>
                  </a:schemeClr>
                </a:solidFill>
              </a:defRPr>
            </a:lvl1pPr>
          </a:lstStyle>
          <a:p>
            <a:r>
              <a:rPr lang="en-US">
                <a:solidFill>
                  <a:prstClr val="black">
                    <a:lumMod val="85000"/>
                    <a:lumOff val="15000"/>
                  </a:prstClr>
                </a:solidFill>
              </a:rPr>
              <a:t>© Copyright Wadhwani Foundation</a:t>
            </a:r>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a:xfrm>
            <a:off x="13456258" y="9926411"/>
            <a:ext cx="4114800" cy="547688"/>
          </a:xfrm>
        </p:spPr>
        <p:txBody>
          <a:bodyPr/>
          <a:lstStyle/>
          <a:p>
            <a:fld id="{8632F5CF-2680-48A4-8032-177420087341}" type="slidenum">
              <a:rPr lang="id-ID" smtClean="0">
                <a:solidFill>
                  <a:prstClr val="black">
                    <a:tint val="75000"/>
                  </a:prstClr>
                </a:solidFill>
              </a:rPr>
              <a:pPr/>
              <a:t>‹#›</a:t>
            </a:fld>
            <a:endParaRPr lang="id-ID">
              <a:solidFill>
                <a:prstClr val="black">
                  <a:tint val="75000"/>
                </a:prstClr>
              </a:solidFill>
            </a:endParaRPr>
          </a:p>
        </p:txBody>
      </p:sp>
      <p:sp>
        <p:nvSpPr>
          <p:cNvPr id="10" name="Title 1"/>
          <p:cNvSpPr>
            <a:spLocks noGrp="1"/>
          </p:cNvSpPr>
          <p:nvPr>
            <p:ph type="title"/>
          </p:nvPr>
        </p:nvSpPr>
        <p:spPr>
          <a:xfrm>
            <a:off x="716947"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6" y="1293188"/>
            <a:ext cx="15304108" cy="345113"/>
          </a:xfrm>
        </p:spPr>
        <p:txBody>
          <a:bodyPr>
            <a:noAutofit/>
          </a:bodyPr>
          <a:lstStyle>
            <a:lvl1pPr marL="0" indent="0" algn="l">
              <a:buNone/>
              <a:defRPr sz="1800">
                <a:solidFill>
                  <a:schemeClr val="tx1">
                    <a:lumMod val="65000"/>
                    <a:lumOff val="35000"/>
                  </a:schemeClr>
                </a:solidFill>
              </a:defRPr>
            </a:lvl1pPr>
            <a:lvl2pPr marL="685630" indent="0" algn="ctr">
              <a:buNone/>
              <a:defRPr sz="3000"/>
            </a:lvl2pPr>
            <a:lvl3pPr marL="1371260" indent="0" algn="ctr">
              <a:buNone/>
              <a:defRPr sz="2700"/>
            </a:lvl3pPr>
            <a:lvl4pPr marL="2056889" indent="0" algn="ctr">
              <a:buNone/>
              <a:defRPr sz="2300"/>
            </a:lvl4pPr>
            <a:lvl5pPr marL="2742517" indent="0" algn="ctr">
              <a:buNone/>
              <a:defRPr sz="2300"/>
            </a:lvl5pPr>
            <a:lvl6pPr marL="3428149" indent="0" algn="ctr">
              <a:buNone/>
              <a:defRPr sz="2300"/>
            </a:lvl6pPr>
            <a:lvl7pPr marL="4113776" indent="0" algn="ctr">
              <a:buNone/>
              <a:defRPr sz="2300"/>
            </a:lvl7pPr>
            <a:lvl8pPr marL="4799406" indent="0" algn="ctr">
              <a:buNone/>
              <a:defRPr sz="2300"/>
            </a:lvl8pPr>
            <a:lvl9pPr marL="5485036" indent="0" algn="ctr">
              <a:buNone/>
              <a:defRPr sz="2300"/>
            </a:lvl9pPr>
          </a:lstStyle>
          <a:p>
            <a:r>
              <a:rPr lang="en-US" dirty="0"/>
              <a:t>Click to edit Master subtitle style</a:t>
            </a:r>
          </a:p>
        </p:txBody>
      </p:sp>
      <p:sp>
        <p:nvSpPr>
          <p:cNvPr id="8" name="Text Placeholder 2"/>
          <p:cNvSpPr>
            <a:spLocks noGrp="1"/>
          </p:cNvSpPr>
          <p:nvPr>
            <p:ph idx="13"/>
          </p:nvPr>
        </p:nvSpPr>
        <p:spPr>
          <a:xfrm>
            <a:off x="716944" y="1924052"/>
            <a:ext cx="16854116" cy="7341395"/>
          </a:xfrm>
          <a:prstGeom prst="rect">
            <a:avLst/>
          </a:prstGeom>
        </p:spPr>
        <p:txBody>
          <a:bodyPr vert="horz" lIns="91439" tIns="45719" rIns="91439" bIns="4571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	</a:t>
            </a:r>
          </a:p>
          <a:p>
            <a:pPr lvl="4"/>
            <a:r>
              <a:rPr lang="en-US" dirty="0"/>
              <a:t>Fifth level</a:t>
            </a:r>
          </a:p>
        </p:txBody>
      </p:sp>
    </p:spTree>
    <p:extLst>
      <p:ext uri="{BB962C8B-B14F-4D97-AF65-F5344CB8AC3E}">
        <p14:creationId xmlns:p14="http://schemas.microsoft.com/office/powerpoint/2010/main" val="742445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16942" y="9534529"/>
            <a:ext cx="4114800" cy="547688"/>
          </a:xfrm>
          <a:prstGeom prst="rect">
            <a:avLst/>
          </a:prstGeom>
        </p:spPr>
        <p:txBody>
          <a:bodyPr/>
          <a:lstStyle>
            <a:lvl1pPr defTabSz="1371568">
              <a:defRPr/>
            </a:lvl1pPr>
          </a:lstStyle>
          <a:p>
            <a:fld id="{14112D9D-64C6-4E47-9018-0DB3950AA54C}" type="datetime1">
              <a:rPr lang="en-US" smtClean="0">
                <a:solidFill>
                  <a:prstClr val="black">
                    <a:tint val="75000"/>
                  </a:prstClr>
                </a:solidFill>
              </a:rPr>
              <a:pPr/>
              <a:t>5/20/2024</a:t>
            </a:fld>
            <a:endParaRPr lang="id-ID" dirty="0">
              <a:solidFill>
                <a:prstClr val="black">
                  <a:tint val="75000"/>
                </a:prstClr>
              </a:solidFill>
            </a:endParaRPr>
          </a:p>
        </p:txBody>
      </p:sp>
      <p:sp>
        <p:nvSpPr>
          <p:cNvPr id="4" name="Footer Placeholder 3"/>
          <p:cNvSpPr>
            <a:spLocks noGrp="1"/>
          </p:cNvSpPr>
          <p:nvPr>
            <p:ph type="ftr" sz="quarter" idx="11"/>
          </p:nvPr>
        </p:nvSpPr>
        <p:spPr>
          <a:xfrm>
            <a:off x="6057900" y="9534529"/>
            <a:ext cx="6172200" cy="547688"/>
          </a:xfrm>
          <a:prstGeom prst="rect">
            <a:avLst/>
          </a:prstGeom>
        </p:spPr>
        <p:txBody>
          <a:bodyPr/>
          <a:lstStyle>
            <a:lvl1pPr defTabSz="1371568">
              <a:defRPr/>
            </a:lvl1pPr>
          </a:lstStyle>
          <a:p>
            <a:r>
              <a:rPr lang="en-US" sz="2700" dirty="0">
                <a:solidFill>
                  <a:prstClr val="black">
                    <a:tint val="75000"/>
                  </a:prstClr>
                </a:solidFill>
              </a:rPr>
              <a:t>© Copyright </a:t>
            </a:r>
            <a:r>
              <a:rPr lang="en-US" sz="2700" dirty="0" err="1">
                <a:solidFill>
                  <a:prstClr val="black">
                    <a:tint val="75000"/>
                  </a:prstClr>
                </a:solidFill>
              </a:rPr>
              <a:t>Wadhwani</a:t>
            </a:r>
            <a:r>
              <a:rPr lang="en-US" sz="2700" dirty="0">
                <a:solidFill>
                  <a:prstClr val="black">
                    <a:tint val="75000"/>
                  </a:prstClr>
                </a:solidFill>
              </a:rPr>
              <a:t> Foundation</a:t>
            </a:r>
          </a:p>
        </p:txBody>
      </p:sp>
      <p:sp>
        <p:nvSpPr>
          <p:cNvPr id="5" name="Slide Number Placeholder 4"/>
          <p:cNvSpPr>
            <a:spLocks noGrp="1"/>
          </p:cNvSpPr>
          <p:nvPr>
            <p:ph type="sldNum" sz="quarter" idx="12"/>
          </p:nvPr>
        </p:nvSpPr>
        <p:spPr>
          <a:xfrm>
            <a:off x="13456260" y="9534529"/>
            <a:ext cx="4114800" cy="547688"/>
          </a:xfrm>
          <a:prstGeom prst="rect">
            <a:avLst/>
          </a:prstGeom>
        </p:spPr>
        <p:txBody>
          <a:bodyPr/>
          <a:lstStyle>
            <a:lvl1pPr defTabSz="1371568">
              <a:defRPr/>
            </a:lvl1pPr>
          </a:lstStyle>
          <a:p>
            <a:fld id="{8632F5CF-2680-48A4-8032-177420087341}" type="slidenum">
              <a:rPr lang="id-ID" sz="2700" smtClean="0">
                <a:solidFill>
                  <a:prstClr val="black">
                    <a:tint val="75000"/>
                  </a:prstClr>
                </a:solidFill>
              </a:rPr>
              <a:pPr/>
              <a:t>‹#›</a:t>
            </a:fld>
            <a:endParaRPr lang="id-ID" sz="2700" dirty="0">
              <a:solidFill>
                <a:prstClr val="black">
                  <a:tint val="75000"/>
                </a:prstClr>
              </a:solidFill>
            </a:endParaRPr>
          </a:p>
        </p:txBody>
      </p:sp>
    </p:spTree>
    <p:extLst>
      <p:ext uri="{BB962C8B-B14F-4D97-AF65-F5344CB8AC3E}">
        <p14:creationId xmlns:p14="http://schemas.microsoft.com/office/powerpoint/2010/main" val="136417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Foo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547691"/>
            <a:ext cx="15773400" cy="652462"/>
          </a:xfrm>
          <a:prstGeom prst="rect">
            <a:avLst/>
          </a:prstGeom>
        </p:spPr>
        <p:txBody>
          <a:bodyPr/>
          <a:lstStyle>
            <a:lvl1pPr>
              <a:defRPr sz="3000" b="1">
                <a:solidFill>
                  <a:srgbClr val="9E0D20"/>
                </a:solidFill>
                <a:latin typeface="Raleway" panose="020B0503030101060003" pitchFamily="34" charset="0"/>
              </a:defRPr>
            </a:lvl1pPr>
          </a:lstStyle>
          <a:p>
            <a:r>
              <a:rPr lang="en-US"/>
              <a:t>CLICK TO EDIT MASTER TITLE STYLE</a:t>
            </a:r>
          </a:p>
        </p:txBody>
      </p:sp>
      <p:grpSp>
        <p:nvGrpSpPr>
          <p:cNvPr id="16" name="Group 15"/>
          <p:cNvGrpSpPr/>
          <p:nvPr userDrawn="1"/>
        </p:nvGrpSpPr>
        <p:grpSpPr>
          <a:xfrm>
            <a:off x="921228" y="9969693"/>
            <a:ext cx="16445552" cy="71646"/>
            <a:chOff x="532000" y="6640224"/>
            <a:chExt cx="9000000" cy="54000"/>
          </a:xfrm>
        </p:grpSpPr>
        <p:sp>
          <p:nvSpPr>
            <p:cNvPr id="11" name="Rectangle 10"/>
            <p:cNvSpPr/>
            <p:nvPr userDrawn="1"/>
          </p:nvSpPr>
          <p:spPr>
            <a:xfrm>
              <a:off x="532000" y="6640224"/>
              <a:ext cx="1800000" cy="54000"/>
            </a:xfrm>
            <a:prstGeom prst="rect">
              <a:avLst/>
            </a:prstGeom>
            <a:solidFill>
              <a:srgbClr val="9E0D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2" name="Rectangle 11"/>
            <p:cNvSpPr/>
            <p:nvPr userDrawn="1"/>
          </p:nvSpPr>
          <p:spPr>
            <a:xfrm>
              <a:off x="2332000" y="6640224"/>
              <a:ext cx="1800000" cy="54000"/>
            </a:xfrm>
            <a:prstGeom prst="rect">
              <a:avLst/>
            </a:prstGeom>
            <a:solidFill>
              <a:srgbClr val="2874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3" name="Rectangle 12"/>
            <p:cNvSpPr/>
            <p:nvPr userDrawn="1"/>
          </p:nvSpPr>
          <p:spPr>
            <a:xfrm>
              <a:off x="4132000" y="6640224"/>
              <a:ext cx="1800000" cy="54000"/>
            </a:xfrm>
            <a:prstGeom prst="rect">
              <a:avLst/>
            </a:prstGeom>
            <a:solidFill>
              <a:srgbClr val="F68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4" name="Rectangle 13"/>
            <p:cNvSpPr/>
            <p:nvPr userDrawn="1"/>
          </p:nvSpPr>
          <p:spPr>
            <a:xfrm>
              <a:off x="5932000" y="6640224"/>
              <a:ext cx="1800000" cy="54000"/>
            </a:xfrm>
            <a:prstGeom prst="rect">
              <a:avLst/>
            </a:prstGeom>
            <a:solidFill>
              <a:srgbClr val="1D43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5" name="Rectangle 14"/>
            <p:cNvSpPr/>
            <p:nvPr userDrawn="1"/>
          </p:nvSpPr>
          <p:spPr>
            <a:xfrm>
              <a:off x="7732000" y="6640224"/>
              <a:ext cx="1800000" cy="54000"/>
            </a:xfrm>
            <a:prstGeom prst="rect">
              <a:avLst/>
            </a:prstGeom>
            <a:solidFill>
              <a:srgbClr val="2EDA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grpSp>
    </p:spTree>
    <p:extLst>
      <p:ext uri="{BB962C8B-B14F-4D97-AF65-F5344CB8AC3E}">
        <p14:creationId xmlns:p14="http://schemas.microsoft.com/office/powerpoint/2010/main" val="322153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411957"/>
            <a:ext cx="16459200" cy="1714500"/>
          </a:xfrm>
          <a:prstGeom prst="rect">
            <a:avLst/>
          </a:prstGeom>
        </p:spPr>
        <p:txBody>
          <a:bodyPr vert="horz" lIns="163281" tIns="81642" rIns="163281" bIns="81642" rtlCol="0" anchor="ctr">
            <a:normAutofit/>
          </a:bodyPr>
          <a:lstStyle/>
          <a:p>
            <a:r>
              <a:rPr lang="en-US"/>
              <a:t>Click to edit Master title style</a:t>
            </a:r>
          </a:p>
        </p:txBody>
      </p:sp>
      <p:sp>
        <p:nvSpPr>
          <p:cNvPr id="3" name="Text Placeholder 2"/>
          <p:cNvSpPr>
            <a:spLocks noGrp="1"/>
          </p:cNvSpPr>
          <p:nvPr>
            <p:ph type="body" idx="1"/>
          </p:nvPr>
        </p:nvSpPr>
        <p:spPr>
          <a:xfrm>
            <a:off x="914400" y="2400304"/>
            <a:ext cx="16459200" cy="6788945"/>
          </a:xfrm>
          <a:prstGeom prst="rect">
            <a:avLst/>
          </a:prstGeom>
        </p:spPr>
        <p:txBody>
          <a:bodyPr vert="horz" lIns="163281" tIns="81642" rIns="163281" bIns="8164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14400" y="9534529"/>
            <a:ext cx="4267200" cy="547688"/>
          </a:xfrm>
          <a:prstGeom prst="rect">
            <a:avLst/>
          </a:prstGeom>
        </p:spPr>
        <p:txBody>
          <a:bodyPr vert="horz" lIns="163281" tIns="81642" rIns="163281" bIns="81642" rtlCol="0" anchor="ctr"/>
          <a:lstStyle>
            <a:lvl1pPr algn="l">
              <a:defRPr sz="2100">
                <a:solidFill>
                  <a:schemeClr val="tx1">
                    <a:tint val="75000"/>
                  </a:schemeClr>
                </a:solidFill>
              </a:defRPr>
            </a:lvl1pPr>
          </a:lstStyle>
          <a:p>
            <a:fld id="{1D8BD707-D9CF-40AE-B4C6-C98DA3205C09}" type="datetimeFigureOut">
              <a:rPr lang="en-US" smtClean="0"/>
              <a:pPr/>
              <a:t>5/20/2024</a:t>
            </a:fld>
            <a:endParaRPr lang="en-US"/>
          </a:p>
        </p:txBody>
      </p:sp>
      <p:sp>
        <p:nvSpPr>
          <p:cNvPr id="5" name="Footer Placeholder 4"/>
          <p:cNvSpPr>
            <a:spLocks noGrp="1"/>
          </p:cNvSpPr>
          <p:nvPr>
            <p:ph type="ftr" sz="quarter" idx="3"/>
          </p:nvPr>
        </p:nvSpPr>
        <p:spPr>
          <a:xfrm>
            <a:off x="6248400" y="9534529"/>
            <a:ext cx="5791200" cy="547688"/>
          </a:xfrm>
          <a:prstGeom prst="rect">
            <a:avLst/>
          </a:prstGeom>
        </p:spPr>
        <p:txBody>
          <a:bodyPr vert="horz" lIns="163281" tIns="81642" rIns="163281" bIns="81642" rtlCol="0" anchor="ctr"/>
          <a:lstStyle>
            <a:lvl1pPr algn="ctr">
              <a:defRPr sz="21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9534529"/>
            <a:ext cx="4267200" cy="547688"/>
          </a:xfrm>
          <a:prstGeom prst="rect">
            <a:avLst/>
          </a:prstGeom>
        </p:spPr>
        <p:txBody>
          <a:bodyPr vert="horz" lIns="163281" tIns="81642" rIns="163281" bIns="81642" rtlCol="0" anchor="ctr"/>
          <a:lstStyle>
            <a:lvl1pPr algn="r">
              <a:defRPr sz="21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Lst>
  <p:txStyles>
    <p:titleStyle>
      <a:lvl1pPr algn="ctr" defTabSz="1632819" rtl="0" eaLnBrk="1" latinLnBrk="0" hangingPunct="1">
        <a:spcBef>
          <a:spcPct val="0"/>
        </a:spcBef>
        <a:buNone/>
        <a:defRPr sz="7900" kern="1200">
          <a:solidFill>
            <a:schemeClr val="tx1"/>
          </a:solidFill>
          <a:latin typeface="+mj-lt"/>
          <a:ea typeface="+mj-ea"/>
          <a:cs typeface="+mj-cs"/>
        </a:defRPr>
      </a:lvl1pPr>
    </p:titleStyle>
    <p:bodyStyle>
      <a:lvl1pPr marL="612308" indent="-612308" algn="l" defTabSz="1632819" rtl="0" eaLnBrk="1" latinLnBrk="0" hangingPunct="1">
        <a:spcBef>
          <a:spcPct val="20000"/>
        </a:spcBef>
        <a:buFont typeface="Arial" pitchFamily="34" charset="0"/>
        <a:buChar char="•"/>
        <a:defRPr sz="5700" kern="1200">
          <a:solidFill>
            <a:schemeClr val="tx1"/>
          </a:solidFill>
          <a:latin typeface="+mn-lt"/>
          <a:ea typeface="+mn-ea"/>
          <a:cs typeface="+mn-cs"/>
        </a:defRPr>
      </a:lvl1pPr>
      <a:lvl2pPr marL="1326664" indent="-510257" algn="l" defTabSz="1632819" rtl="0" eaLnBrk="1" latinLnBrk="0" hangingPunct="1">
        <a:spcBef>
          <a:spcPct val="20000"/>
        </a:spcBef>
        <a:buFont typeface="Arial" pitchFamily="34" charset="0"/>
        <a:buChar char="–"/>
        <a:defRPr sz="5000" kern="1200">
          <a:solidFill>
            <a:schemeClr val="tx1"/>
          </a:solidFill>
          <a:latin typeface="+mn-lt"/>
          <a:ea typeface="+mn-ea"/>
          <a:cs typeface="+mn-cs"/>
        </a:defRPr>
      </a:lvl2pPr>
      <a:lvl3pPr marL="2041023" indent="-408204" algn="l" defTabSz="1632819" rtl="0" eaLnBrk="1" latinLnBrk="0" hangingPunct="1">
        <a:spcBef>
          <a:spcPct val="20000"/>
        </a:spcBef>
        <a:buFont typeface="Arial" pitchFamily="34" charset="0"/>
        <a:buChar char="•"/>
        <a:defRPr sz="4300" kern="1200">
          <a:solidFill>
            <a:schemeClr val="tx1"/>
          </a:solidFill>
          <a:latin typeface="+mn-lt"/>
          <a:ea typeface="+mn-ea"/>
          <a:cs typeface="+mn-cs"/>
        </a:defRPr>
      </a:lvl3pPr>
      <a:lvl4pPr marL="2857431" indent="-408204" algn="l" defTabSz="1632819" rtl="0" eaLnBrk="1" latinLnBrk="0" hangingPunct="1">
        <a:spcBef>
          <a:spcPct val="20000"/>
        </a:spcBef>
        <a:buFont typeface="Arial" pitchFamily="34" charset="0"/>
        <a:buChar char="–"/>
        <a:defRPr sz="3600" kern="1200">
          <a:solidFill>
            <a:schemeClr val="tx1"/>
          </a:solidFill>
          <a:latin typeface="+mn-lt"/>
          <a:ea typeface="+mn-ea"/>
          <a:cs typeface="+mn-cs"/>
        </a:defRPr>
      </a:lvl4pPr>
      <a:lvl5pPr marL="3673840" indent="-408204" algn="l" defTabSz="1632819" rtl="0" eaLnBrk="1" latinLnBrk="0" hangingPunct="1">
        <a:spcBef>
          <a:spcPct val="20000"/>
        </a:spcBef>
        <a:buFont typeface="Arial" pitchFamily="34" charset="0"/>
        <a:buChar char="»"/>
        <a:defRPr sz="3600" kern="1200">
          <a:solidFill>
            <a:schemeClr val="tx1"/>
          </a:solidFill>
          <a:latin typeface="+mn-lt"/>
          <a:ea typeface="+mn-ea"/>
          <a:cs typeface="+mn-cs"/>
        </a:defRPr>
      </a:lvl5pPr>
      <a:lvl6pPr marL="4490250" indent="-408204" algn="l" defTabSz="1632819" rtl="0" eaLnBrk="1" latinLnBrk="0" hangingPunct="1">
        <a:spcBef>
          <a:spcPct val="20000"/>
        </a:spcBef>
        <a:buFont typeface="Arial" pitchFamily="34" charset="0"/>
        <a:buChar char="•"/>
        <a:defRPr sz="3600" kern="1200">
          <a:solidFill>
            <a:schemeClr val="tx1"/>
          </a:solidFill>
          <a:latin typeface="+mn-lt"/>
          <a:ea typeface="+mn-ea"/>
          <a:cs typeface="+mn-cs"/>
        </a:defRPr>
      </a:lvl6pPr>
      <a:lvl7pPr marL="5306658" indent="-408204" algn="l" defTabSz="1632819" rtl="0" eaLnBrk="1" latinLnBrk="0" hangingPunct="1">
        <a:spcBef>
          <a:spcPct val="20000"/>
        </a:spcBef>
        <a:buFont typeface="Arial" pitchFamily="34" charset="0"/>
        <a:buChar char="•"/>
        <a:defRPr sz="3600" kern="1200">
          <a:solidFill>
            <a:schemeClr val="tx1"/>
          </a:solidFill>
          <a:latin typeface="+mn-lt"/>
          <a:ea typeface="+mn-ea"/>
          <a:cs typeface="+mn-cs"/>
        </a:defRPr>
      </a:lvl7pPr>
      <a:lvl8pPr marL="6123065" indent="-408204" algn="l" defTabSz="1632819" rtl="0" eaLnBrk="1" latinLnBrk="0" hangingPunct="1">
        <a:spcBef>
          <a:spcPct val="20000"/>
        </a:spcBef>
        <a:buFont typeface="Arial" pitchFamily="34" charset="0"/>
        <a:buChar char="•"/>
        <a:defRPr sz="3600" kern="1200">
          <a:solidFill>
            <a:schemeClr val="tx1"/>
          </a:solidFill>
          <a:latin typeface="+mn-lt"/>
          <a:ea typeface="+mn-ea"/>
          <a:cs typeface="+mn-cs"/>
        </a:defRPr>
      </a:lvl8pPr>
      <a:lvl9pPr marL="6939477" indent="-408204" algn="l" defTabSz="1632819" rtl="0" eaLnBrk="1" latinLnBrk="0" hangingPunct="1">
        <a:spcBef>
          <a:spcPct val="20000"/>
        </a:spcBef>
        <a:buFont typeface="Arial" pitchFamily="34" charset="0"/>
        <a:buChar char="•"/>
        <a:defRPr sz="3600" kern="1200">
          <a:solidFill>
            <a:schemeClr val="tx1"/>
          </a:solidFill>
          <a:latin typeface="+mn-lt"/>
          <a:ea typeface="+mn-ea"/>
          <a:cs typeface="+mn-cs"/>
        </a:defRPr>
      </a:lvl9pPr>
    </p:bodyStyle>
    <p:otherStyle>
      <a:defPPr>
        <a:defRPr lang="en-US"/>
      </a:defPPr>
      <a:lvl1pPr marL="0" algn="l" defTabSz="1632819" rtl="0" eaLnBrk="1" latinLnBrk="0" hangingPunct="1">
        <a:defRPr sz="3200" kern="1200">
          <a:solidFill>
            <a:schemeClr val="tx1"/>
          </a:solidFill>
          <a:latin typeface="+mn-lt"/>
          <a:ea typeface="+mn-ea"/>
          <a:cs typeface="+mn-cs"/>
        </a:defRPr>
      </a:lvl1pPr>
      <a:lvl2pPr marL="816408" algn="l" defTabSz="1632819" rtl="0" eaLnBrk="1" latinLnBrk="0" hangingPunct="1">
        <a:defRPr sz="3200" kern="1200">
          <a:solidFill>
            <a:schemeClr val="tx1"/>
          </a:solidFill>
          <a:latin typeface="+mn-lt"/>
          <a:ea typeface="+mn-ea"/>
          <a:cs typeface="+mn-cs"/>
        </a:defRPr>
      </a:lvl2pPr>
      <a:lvl3pPr marL="1632819" algn="l" defTabSz="1632819" rtl="0" eaLnBrk="1" latinLnBrk="0" hangingPunct="1">
        <a:defRPr sz="3200" kern="1200">
          <a:solidFill>
            <a:schemeClr val="tx1"/>
          </a:solidFill>
          <a:latin typeface="+mn-lt"/>
          <a:ea typeface="+mn-ea"/>
          <a:cs typeface="+mn-cs"/>
        </a:defRPr>
      </a:lvl3pPr>
      <a:lvl4pPr marL="2449227" algn="l" defTabSz="1632819" rtl="0" eaLnBrk="1" latinLnBrk="0" hangingPunct="1">
        <a:defRPr sz="3200" kern="1200">
          <a:solidFill>
            <a:schemeClr val="tx1"/>
          </a:solidFill>
          <a:latin typeface="+mn-lt"/>
          <a:ea typeface="+mn-ea"/>
          <a:cs typeface="+mn-cs"/>
        </a:defRPr>
      </a:lvl4pPr>
      <a:lvl5pPr marL="3265635" algn="l" defTabSz="1632819" rtl="0" eaLnBrk="1" latinLnBrk="0" hangingPunct="1">
        <a:defRPr sz="3200" kern="1200">
          <a:solidFill>
            <a:schemeClr val="tx1"/>
          </a:solidFill>
          <a:latin typeface="+mn-lt"/>
          <a:ea typeface="+mn-ea"/>
          <a:cs typeface="+mn-cs"/>
        </a:defRPr>
      </a:lvl5pPr>
      <a:lvl6pPr marL="4082046" algn="l" defTabSz="1632819" rtl="0" eaLnBrk="1" latinLnBrk="0" hangingPunct="1">
        <a:defRPr sz="3200" kern="1200">
          <a:solidFill>
            <a:schemeClr val="tx1"/>
          </a:solidFill>
          <a:latin typeface="+mn-lt"/>
          <a:ea typeface="+mn-ea"/>
          <a:cs typeface="+mn-cs"/>
        </a:defRPr>
      </a:lvl6pPr>
      <a:lvl7pPr marL="4898454" algn="l" defTabSz="1632819" rtl="0" eaLnBrk="1" latinLnBrk="0" hangingPunct="1">
        <a:defRPr sz="3200" kern="1200">
          <a:solidFill>
            <a:schemeClr val="tx1"/>
          </a:solidFill>
          <a:latin typeface="+mn-lt"/>
          <a:ea typeface="+mn-ea"/>
          <a:cs typeface="+mn-cs"/>
        </a:defRPr>
      </a:lvl7pPr>
      <a:lvl8pPr marL="5714861" algn="l" defTabSz="1632819" rtl="0" eaLnBrk="1" latinLnBrk="0" hangingPunct="1">
        <a:defRPr sz="3200" kern="1200">
          <a:solidFill>
            <a:schemeClr val="tx1"/>
          </a:solidFill>
          <a:latin typeface="+mn-lt"/>
          <a:ea typeface="+mn-ea"/>
          <a:cs typeface="+mn-cs"/>
        </a:defRPr>
      </a:lvl8pPr>
      <a:lvl9pPr marL="6531273" algn="l" defTabSz="1632819"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hyperlink" Target="https://fabric-fusion.company.site/" TargetMode="External"/><Relationship Id="rId7"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1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23.jpeg"/><Relationship Id="rId13" Type="http://schemas.openxmlformats.org/officeDocument/2006/relationships/image" Target="../media/image28.jpeg"/><Relationship Id="rId3" Type="http://schemas.openxmlformats.org/officeDocument/2006/relationships/image" Target="../media/image18.jpeg"/><Relationship Id="rId7" Type="http://schemas.openxmlformats.org/officeDocument/2006/relationships/image" Target="../media/image22.jpeg"/><Relationship Id="rId12" Type="http://schemas.openxmlformats.org/officeDocument/2006/relationships/image" Target="../media/image27.jpeg"/><Relationship Id="rId2" Type="http://schemas.openxmlformats.org/officeDocument/2006/relationships/image" Target="../media/image17.jpeg"/><Relationship Id="rId1" Type="http://schemas.openxmlformats.org/officeDocument/2006/relationships/slideLayout" Target="../slideLayouts/slideLayout16.xml"/><Relationship Id="rId6" Type="http://schemas.openxmlformats.org/officeDocument/2006/relationships/image" Target="../media/image21.jpeg"/><Relationship Id="rId11" Type="http://schemas.openxmlformats.org/officeDocument/2006/relationships/image" Target="../media/image26.jpeg"/><Relationship Id="rId5" Type="http://schemas.openxmlformats.org/officeDocument/2006/relationships/image" Target="../media/image20.jpeg"/><Relationship Id="rId10" Type="http://schemas.openxmlformats.org/officeDocument/2006/relationships/image" Target="../media/image25.jpeg"/><Relationship Id="rId4" Type="http://schemas.openxmlformats.org/officeDocument/2006/relationships/image" Target="../media/image19.jpeg"/><Relationship Id="rId9" Type="http://schemas.openxmlformats.org/officeDocument/2006/relationships/image" Target="../media/image24.jpeg"/><Relationship Id="rId1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1.jpg"/><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4.svg"/></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hyperlink" Target="https://drive.google.com/drive/folders/1_j3z90IcKjYHptgEoDLx-gi1dm4k6P9C" TargetMode="Externa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2669" y="0"/>
            <a:ext cx="18310194" cy="10287000"/>
          </a:xfrm>
          <a:prstGeom prst="rect">
            <a:avLst/>
          </a:prstGeom>
        </p:spPr>
      </p:pic>
      <p:pic>
        <p:nvPicPr>
          <p:cNvPr id="12" name="Picture 12"/>
          <p:cNvPicPr>
            <a:picLocks noChangeAspect="1"/>
          </p:cNvPicPr>
          <p:nvPr/>
        </p:nvPicPr>
        <p:blipFill>
          <a:blip r:embed="rId4"/>
          <a:srcRect/>
          <a:stretch>
            <a:fillRect/>
          </a:stretch>
        </p:blipFill>
        <p:spPr>
          <a:xfrm>
            <a:off x="15314576" y="509277"/>
            <a:ext cx="2278600" cy="1131276"/>
          </a:xfrm>
          <a:prstGeom prst="rect">
            <a:avLst/>
          </a:prstGeom>
        </p:spPr>
      </p:pic>
      <p:sp>
        <p:nvSpPr>
          <p:cNvPr id="19" name="TextBox 19"/>
          <p:cNvSpPr txBox="1"/>
          <p:nvPr/>
        </p:nvSpPr>
        <p:spPr>
          <a:xfrm>
            <a:off x="1343156" y="3511471"/>
            <a:ext cx="6928588" cy="2821285"/>
          </a:xfrm>
          <a:prstGeom prst="rect">
            <a:avLst/>
          </a:prstGeom>
        </p:spPr>
        <p:txBody>
          <a:bodyPr lIns="0" tIns="0" rIns="0" bIns="0" rtlCol="0" anchor="t">
            <a:spAutoFit/>
          </a:bodyPr>
          <a:lstStyle/>
          <a:p>
            <a:pPr>
              <a:lnSpc>
                <a:spcPts val="11039"/>
              </a:lnSpc>
            </a:pPr>
            <a:r>
              <a:rPr lang="en-US" sz="12000" dirty="0">
                <a:solidFill>
                  <a:srgbClr val="FFFFFF"/>
                </a:solidFill>
                <a:latin typeface="Antonio Bold"/>
              </a:rPr>
              <a:t>IGNITE</a:t>
            </a:r>
          </a:p>
          <a:p>
            <a:pPr>
              <a:lnSpc>
                <a:spcPts val="11039"/>
              </a:lnSpc>
            </a:pPr>
            <a:r>
              <a:rPr lang="en-US" sz="12000" dirty="0">
                <a:solidFill>
                  <a:srgbClr val="FFFFFF"/>
                </a:solidFill>
                <a:latin typeface="Antonio Bold"/>
              </a:rPr>
              <a:t>Pitch Deck</a:t>
            </a:r>
          </a:p>
        </p:txBody>
      </p:sp>
      <p:sp>
        <p:nvSpPr>
          <p:cNvPr id="7" name="Rectangle 6"/>
          <p:cNvSpPr/>
          <p:nvPr/>
        </p:nvSpPr>
        <p:spPr>
          <a:xfrm>
            <a:off x="1343157" y="6953250"/>
            <a:ext cx="8628034" cy="1371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39" tIns="45719" rIns="91439" bIns="45719"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900" b="1" dirty="0">
                <a:ln w="0"/>
                <a:solidFill>
                  <a:schemeClr val="tx1"/>
                </a:solidFill>
                <a:effectLst>
                  <a:outerShdw blurRad="38100" dist="19050" dir="2700000" algn="tl" rotWithShape="0">
                    <a:schemeClr val="dk1">
                      <a:alpha val="40000"/>
                    </a:schemeClr>
                  </a:outerShdw>
                </a:effectLst>
              </a:rPr>
              <a:t>Milestone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55BE9276-DC2F-F843-82A1-22E8A3A5B667}"/>
              </a:ext>
            </a:extLst>
          </p:cNvPr>
          <p:cNvGrpSpPr/>
          <p:nvPr/>
        </p:nvGrpSpPr>
        <p:grpSpPr>
          <a:xfrm>
            <a:off x="704242" y="7442478"/>
            <a:ext cx="1371600" cy="1371600"/>
            <a:chOff x="6821181" y="4608210"/>
            <a:chExt cx="914400" cy="914400"/>
          </a:xfrm>
        </p:grpSpPr>
        <p:sp>
          <p:nvSpPr>
            <p:cNvPr id="41" name="Oval 40"/>
            <p:cNvSpPr/>
            <p:nvPr/>
          </p:nvSpPr>
          <p:spPr>
            <a:xfrm>
              <a:off x="6821181" y="4608210"/>
              <a:ext cx="914400" cy="9144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89"/>
              <a:endParaRPr lang="en-US" sz="2700" dirty="0">
                <a:solidFill>
                  <a:prstClr val="white"/>
                </a:solidFill>
              </a:endParaRPr>
            </a:p>
          </p:txBody>
        </p:sp>
        <p:sp>
          <p:nvSpPr>
            <p:cNvPr id="42" name="Shape 2932">
              <a:extLst>
                <a:ext uri="{FF2B5EF4-FFF2-40B4-BE49-F238E27FC236}">
                  <a16:creationId xmlns:a16="http://schemas.microsoft.com/office/drawing/2014/main" id="{F24913FF-4021-F444-AC80-1D5E7C5340A2}"/>
                </a:ext>
              </a:extLst>
            </p:cNvPr>
            <p:cNvSpPr/>
            <p:nvPr/>
          </p:nvSpPr>
          <p:spPr>
            <a:xfrm>
              <a:off x="7038859" y="4857302"/>
              <a:ext cx="479042" cy="391945"/>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solidFill>
              <a:schemeClr val="bg1"/>
            </a:solidFill>
            <a:ln w="12700">
              <a:miter lim="400000"/>
            </a:ln>
          </p:spPr>
          <p:txBody>
            <a:bodyPr lIns="57136" tIns="57136" rIns="57136" bIns="57136" anchor="ctr"/>
            <a:lstStyle/>
            <a:p>
              <a:pPr defTabSz="68558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500" dirty="0">
                <a:solidFill>
                  <a:srgbClr val="FFFFFF"/>
                </a:solidFill>
                <a:effectLst>
                  <a:outerShdw blurRad="38100" dist="12700" dir="5400000" rotWithShape="0">
                    <a:srgbClr val="000000">
                      <a:alpha val="50000"/>
                    </a:srgbClr>
                  </a:outerShdw>
                </a:effectLst>
                <a:latin typeface="Gill Sans"/>
                <a:ea typeface="Gill Sans"/>
                <a:cs typeface="Gill Sans"/>
                <a:sym typeface="Gill Sans"/>
              </a:endParaRPr>
            </a:p>
          </p:txBody>
        </p:sp>
      </p:grpSp>
      <p:sp>
        <p:nvSpPr>
          <p:cNvPr id="43" name="TextBox 42"/>
          <p:cNvSpPr txBox="1"/>
          <p:nvPr/>
        </p:nvSpPr>
        <p:spPr>
          <a:xfrm>
            <a:off x="67466" y="62231"/>
            <a:ext cx="9198340" cy="923328"/>
          </a:xfrm>
          <a:prstGeom prst="rect">
            <a:avLst/>
          </a:prstGeom>
          <a:noFill/>
        </p:spPr>
        <p:txBody>
          <a:bodyPr wrap="square" lIns="91439" tIns="45719" rIns="91439" bIns="45719" rtlCol="0">
            <a:spAutoFit/>
          </a:bodyPr>
          <a:lstStyle/>
          <a:p>
            <a:pPr defTabSz="1371589"/>
            <a:r>
              <a:rPr lang="en-US" sz="5400" b="1" dirty="0"/>
              <a:t>Who we are</a:t>
            </a:r>
            <a:endParaRPr lang="en-US" sz="5400" b="1" dirty="0">
              <a:solidFill>
                <a:prstClr val="black">
                  <a:lumMod val="85000"/>
                  <a:lumOff val="15000"/>
                </a:prstClr>
              </a:solidFill>
              <a:latin typeface="Montserrat"/>
            </a:endParaRPr>
          </a:p>
        </p:txBody>
      </p:sp>
      <p:sp>
        <p:nvSpPr>
          <p:cNvPr id="3" name="Rectangle 2"/>
          <p:cNvSpPr/>
          <p:nvPr/>
        </p:nvSpPr>
        <p:spPr>
          <a:xfrm>
            <a:off x="6629401" y="842793"/>
            <a:ext cx="3466011" cy="692495"/>
          </a:xfrm>
          <a:prstGeom prst="rect">
            <a:avLst/>
          </a:prstGeom>
        </p:spPr>
        <p:txBody>
          <a:bodyPr wrap="none" lIns="91439" tIns="45719" rIns="91439" bIns="45719">
            <a:spAutoFit/>
          </a:bodyPr>
          <a:lstStyle/>
          <a:p>
            <a:r>
              <a:rPr lang="en-US" sz="3900" b="1" dirty="0">
                <a:solidFill>
                  <a:srgbClr val="000000"/>
                </a:solidFill>
                <a:latin typeface="Avenir"/>
              </a:rPr>
              <a:t>Fabric Fusion</a:t>
            </a:r>
            <a:endParaRPr lang="en-US" sz="3900" b="1" dirty="0"/>
          </a:p>
        </p:txBody>
      </p:sp>
      <p:sp>
        <p:nvSpPr>
          <p:cNvPr id="46" name="Rectangle 45"/>
          <p:cNvSpPr/>
          <p:nvPr/>
        </p:nvSpPr>
        <p:spPr>
          <a:xfrm>
            <a:off x="2771494" y="1356064"/>
            <a:ext cx="1527980" cy="584773"/>
          </a:xfrm>
          <a:prstGeom prst="rect">
            <a:avLst/>
          </a:prstGeom>
        </p:spPr>
        <p:txBody>
          <a:bodyPr wrap="none" lIns="91439" tIns="45719" rIns="91439" bIns="45719">
            <a:spAutoFit/>
          </a:bodyPr>
          <a:lstStyle/>
          <a:p>
            <a:r>
              <a:rPr lang="en-US" sz="3200" b="1" dirty="0">
                <a:solidFill>
                  <a:srgbClr val="000000"/>
                </a:solidFill>
                <a:latin typeface="Avenir"/>
              </a:rPr>
              <a:t>Why ? </a:t>
            </a:r>
            <a:endParaRPr lang="en-US" sz="3200" b="1" dirty="0"/>
          </a:p>
        </p:txBody>
      </p:sp>
      <p:sp>
        <p:nvSpPr>
          <p:cNvPr id="48" name="Rectangle 47"/>
          <p:cNvSpPr/>
          <p:nvPr/>
        </p:nvSpPr>
        <p:spPr>
          <a:xfrm>
            <a:off x="2778912" y="4009778"/>
            <a:ext cx="1778049" cy="584773"/>
          </a:xfrm>
          <a:prstGeom prst="rect">
            <a:avLst/>
          </a:prstGeom>
        </p:spPr>
        <p:txBody>
          <a:bodyPr wrap="none" lIns="91439" tIns="45719" rIns="91439" bIns="45719">
            <a:spAutoFit/>
          </a:bodyPr>
          <a:lstStyle/>
          <a:p>
            <a:r>
              <a:rPr lang="en-US" sz="3200" b="1" dirty="0">
                <a:solidFill>
                  <a:srgbClr val="000000"/>
                </a:solidFill>
                <a:latin typeface="Avenir"/>
              </a:rPr>
              <a:t>What  ? </a:t>
            </a:r>
            <a:endParaRPr lang="en-US" sz="3200" b="1" dirty="0"/>
          </a:p>
        </p:txBody>
      </p:sp>
      <p:sp>
        <p:nvSpPr>
          <p:cNvPr id="49" name="Rectangle 48"/>
          <p:cNvSpPr/>
          <p:nvPr/>
        </p:nvSpPr>
        <p:spPr>
          <a:xfrm>
            <a:off x="2805780" y="7082029"/>
            <a:ext cx="1641794" cy="584773"/>
          </a:xfrm>
          <a:prstGeom prst="rect">
            <a:avLst/>
          </a:prstGeom>
        </p:spPr>
        <p:txBody>
          <a:bodyPr wrap="none" lIns="91439" tIns="45719" rIns="91439" bIns="45719">
            <a:spAutoFit/>
          </a:bodyPr>
          <a:lstStyle/>
          <a:p>
            <a:r>
              <a:rPr lang="en-US" sz="3200" b="1" dirty="0">
                <a:solidFill>
                  <a:srgbClr val="000000"/>
                </a:solidFill>
                <a:latin typeface="Avenir"/>
              </a:rPr>
              <a:t>How  ? </a:t>
            </a:r>
            <a:endParaRPr lang="en-US" sz="3200" b="1" dirty="0"/>
          </a:p>
        </p:txBody>
      </p:sp>
      <p:sp>
        <p:nvSpPr>
          <p:cNvPr id="51" name="Rectangle 50"/>
          <p:cNvSpPr/>
          <p:nvPr/>
        </p:nvSpPr>
        <p:spPr>
          <a:xfrm>
            <a:off x="2771494" y="4606353"/>
            <a:ext cx="10433592" cy="2475676"/>
          </a:xfrm>
          <a:prstGeom prst="rect">
            <a:avLst/>
          </a:prstGeom>
          <a:ln>
            <a:solidFill>
              <a:schemeClr val="tx1"/>
            </a:solidFill>
          </a:ln>
        </p:spPr>
        <p:txBody>
          <a:bodyPr wrap="square" lIns="91439" tIns="45719" rIns="91439" bIns="45719">
            <a:spAutoFit/>
          </a:bodyPr>
          <a:lstStyle/>
          <a:p>
            <a:pPr marL="342900" indent="-342900" algn="just">
              <a:lnSpc>
                <a:spcPct val="150000"/>
              </a:lnSpc>
              <a:buFont typeface="Arial" panose="020B0604020202020204" pitchFamily="34" charset="0"/>
              <a:buChar char="•"/>
            </a:pPr>
            <a:r>
              <a:rPr lang="en-US" sz="2100" dirty="0">
                <a:latin typeface="Nunito" pitchFamily="2" charset="0"/>
              </a:rPr>
              <a:t> At Fabric Fusion, we redefine the art of personalized fashion by seamlessly blending cutting-edge technology with your unique sense of style. Our revolutionary approach combines the craftsmanship of fabric design with the power of Artificial Intelligence, giving you the ultimate platform to express yourself like never before.</a:t>
            </a:r>
          </a:p>
        </p:txBody>
      </p:sp>
      <p:sp>
        <p:nvSpPr>
          <p:cNvPr id="52" name="Rectangle 51"/>
          <p:cNvSpPr/>
          <p:nvPr/>
        </p:nvSpPr>
        <p:spPr>
          <a:xfrm>
            <a:off x="2805783" y="1914143"/>
            <a:ext cx="10374322" cy="2092879"/>
          </a:xfrm>
          <a:prstGeom prst="rect">
            <a:avLst/>
          </a:prstGeom>
          <a:ln>
            <a:solidFill>
              <a:schemeClr val="tx1"/>
            </a:solidFill>
          </a:ln>
        </p:spPr>
        <p:txBody>
          <a:bodyPr wrap="square" lIns="91439" tIns="45719" rIns="91439" bIns="45719">
            <a:spAutoFit/>
          </a:bodyPr>
          <a:lstStyle/>
          <a:p>
            <a:pPr marL="604515" lvl="1" indent="-302258" algn="just">
              <a:lnSpc>
                <a:spcPts val="3920"/>
              </a:lnSpc>
              <a:buFont typeface="Arial"/>
              <a:buChar char="•"/>
            </a:pPr>
            <a:r>
              <a:rPr lang="en-US" sz="2100" dirty="0">
                <a:solidFill>
                  <a:srgbClr val="2D2D2D"/>
                </a:solidFill>
                <a:latin typeface="Nunito"/>
              </a:rPr>
              <a:t> In today's market more time is being consumed for  designing   an  unique and attractive output</a:t>
            </a:r>
          </a:p>
          <a:p>
            <a:pPr marL="604515" lvl="1" indent="-302258" algn="just">
              <a:lnSpc>
                <a:spcPts val="3920"/>
              </a:lnSpc>
              <a:buFont typeface="Arial"/>
              <a:buChar char="•"/>
            </a:pPr>
            <a:r>
              <a:rPr lang="en-US" sz="2100" dirty="0">
                <a:solidFill>
                  <a:srgbClr val="2D2D2D"/>
                </a:solidFill>
                <a:latin typeface="Nunito"/>
              </a:rPr>
              <a:t>The representation of Tamil fashion through dialogues are less compared to the popularity seen in comics and anime trends.</a:t>
            </a:r>
          </a:p>
        </p:txBody>
      </p:sp>
      <p:sp>
        <p:nvSpPr>
          <p:cNvPr id="54" name="Rectangle 53"/>
          <p:cNvSpPr/>
          <p:nvPr/>
        </p:nvSpPr>
        <p:spPr>
          <a:xfrm>
            <a:off x="2778912" y="7854040"/>
            <a:ext cx="10148220" cy="1548499"/>
          </a:xfrm>
          <a:prstGeom prst="rect">
            <a:avLst/>
          </a:prstGeom>
          <a:ln>
            <a:solidFill>
              <a:schemeClr val="tx1"/>
            </a:solidFill>
          </a:ln>
        </p:spPr>
        <p:txBody>
          <a:bodyPr wrap="square" lIns="91439" tIns="45719" rIns="91439" bIns="45719">
            <a:spAutoFit/>
          </a:bodyPr>
          <a:lstStyle/>
          <a:p>
            <a:pPr marL="604515" lvl="1" indent="-302258" algn="just">
              <a:lnSpc>
                <a:spcPts val="3920"/>
              </a:lnSpc>
              <a:buFont typeface="Arial"/>
              <a:buChar char="•"/>
            </a:pPr>
            <a:r>
              <a:rPr lang="en-US" sz="2100" dirty="0">
                <a:solidFill>
                  <a:srgbClr val="000000"/>
                </a:solidFill>
                <a:latin typeface="Nunito"/>
              </a:rPr>
              <a:t>Designing With help AI, ensuring a quicker and efficient process for personalized designs To capture the customer who want actual unique designed  T shirts</a:t>
            </a:r>
          </a:p>
        </p:txBody>
      </p:sp>
      <p:pic>
        <p:nvPicPr>
          <p:cNvPr id="58" name="Graphic 23" descr="Lightbulb and gear with solid fill">
            <a:extLst>
              <a:ext uri="{FF2B5EF4-FFF2-40B4-BE49-F238E27FC236}">
                <a16:creationId xmlns:a16="http://schemas.microsoft.com/office/drawing/2014/main" id="{70701804-1B30-4A44-B98A-18706EAEAFD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6140" y="4742809"/>
            <a:ext cx="1290308" cy="1414469"/>
          </a:xfrm>
          <a:prstGeom prst="rect">
            <a:avLst/>
          </a:prstGeom>
          <a:solidFill>
            <a:schemeClr val="accent2">
              <a:lumMod val="40000"/>
              <a:lumOff val="60000"/>
            </a:schemeClr>
          </a:solidFill>
        </p:spPr>
      </p:pic>
      <p:pic>
        <p:nvPicPr>
          <p:cNvPr id="59" name="Graphic 19" descr="Dance steps with solid fill">
            <a:extLst>
              <a:ext uri="{FF2B5EF4-FFF2-40B4-BE49-F238E27FC236}">
                <a16:creationId xmlns:a16="http://schemas.microsoft.com/office/drawing/2014/main" id="{ED04F3D0-C2B5-426E-ADEE-F065E40DF45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4920" y="2737856"/>
            <a:ext cx="1251528" cy="1186445"/>
          </a:xfrm>
          <a:prstGeom prst="rect">
            <a:avLst/>
          </a:prstGeom>
          <a:solidFill>
            <a:schemeClr val="accent6">
              <a:lumMod val="60000"/>
              <a:lumOff val="40000"/>
            </a:schemeClr>
          </a:solidFill>
        </p:spPr>
      </p:pic>
      <p:pic>
        <p:nvPicPr>
          <p:cNvPr id="6" name="Picture 5">
            <a:extLst>
              <a:ext uri="{FF2B5EF4-FFF2-40B4-BE49-F238E27FC236}">
                <a16:creationId xmlns:a16="http://schemas.microsoft.com/office/drawing/2014/main" id="{4E5366D6-C872-5027-F666-046B4C477B53}"/>
              </a:ext>
            </a:extLst>
          </p:cNvPr>
          <p:cNvPicPr>
            <a:picLocks noChangeAspect="1"/>
          </p:cNvPicPr>
          <p:nvPr/>
        </p:nvPicPr>
        <p:blipFill rotWithShape="1">
          <a:blip r:embed="rId6">
            <a:extLst>
              <a:ext uri="{28A0092B-C50C-407E-A947-70E740481C1C}">
                <a14:useLocalDpi xmlns:a14="http://schemas.microsoft.com/office/drawing/2010/main" val="0"/>
              </a:ext>
            </a:extLst>
          </a:blip>
          <a:srcRect l="20247" t="17996" r="19904" b="18670"/>
          <a:stretch/>
        </p:blipFill>
        <p:spPr>
          <a:xfrm>
            <a:off x="16002000" y="357863"/>
            <a:ext cx="1502040" cy="1589510"/>
          </a:xfrm>
          <a:prstGeom prst="ellipse">
            <a:avLst/>
          </a:prstGeom>
          <a:ln>
            <a:noFill/>
          </a:ln>
        </p:spPr>
      </p:pic>
    </p:spTree>
    <p:extLst>
      <p:ext uri="{BB962C8B-B14F-4D97-AF65-F5344CB8AC3E}">
        <p14:creationId xmlns:p14="http://schemas.microsoft.com/office/powerpoint/2010/main" val="48527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 calcmode="lin" valueType="num">
                                      <p:cBhvr>
                                        <p:cTn id="9" dur="500" fill="hold"/>
                                        <p:tgtEl>
                                          <p:spTgt spid="40"/>
                                        </p:tgtEl>
                                        <p:attrNameLst>
                                          <p:attrName>style.rotation</p:attrName>
                                        </p:attrNameLst>
                                      </p:cBhvr>
                                      <p:tavLst>
                                        <p:tav tm="0">
                                          <p:val>
                                            <p:fltVal val="360"/>
                                          </p:val>
                                        </p:tav>
                                        <p:tav tm="100000">
                                          <p:val>
                                            <p:fltVal val="0"/>
                                          </p:val>
                                        </p:tav>
                                      </p:tavLst>
                                    </p:anim>
                                    <p:animEffect transition="in" filter="fade">
                                      <p:cBhvr>
                                        <p:cTn id="1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514509370"/>
              </p:ext>
            </p:extLst>
          </p:nvPr>
        </p:nvGraphicFramePr>
        <p:xfrm>
          <a:off x="609598" y="1784082"/>
          <a:ext cx="15531788" cy="7489899"/>
        </p:xfrm>
        <a:graphic>
          <a:graphicData uri="http://schemas.openxmlformats.org/drawingml/2006/table">
            <a:tbl>
              <a:tblPr firstRow="1" bandRow="1">
                <a:tableStyleId>{2D5ABB26-0587-4C30-8999-92F81FD0307C}</a:tableStyleId>
              </a:tblPr>
              <a:tblGrid>
                <a:gridCol w="5175802">
                  <a:extLst>
                    <a:ext uri="{9D8B030D-6E8A-4147-A177-3AD203B41FA5}">
                      <a16:colId xmlns:a16="http://schemas.microsoft.com/office/drawing/2014/main" val="20000"/>
                    </a:ext>
                  </a:extLst>
                </a:gridCol>
                <a:gridCol w="5175802">
                  <a:extLst>
                    <a:ext uri="{9D8B030D-6E8A-4147-A177-3AD203B41FA5}">
                      <a16:colId xmlns:a16="http://schemas.microsoft.com/office/drawing/2014/main" val="20001"/>
                    </a:ext>
                  </a:extLst>
                </a:gridCol>
                <a:gridCol w="5180184">
                  <a:extLst>
                    <a:ext uri="{9D8B030D-6E8A-4147-A177-3AD203B41FA5}">
                      <a16:colId xmlns:a16="http://schemas.microsoft.com/office/drawing/2014/main" val="20002"/>
                    </a:ext>
                  </a:extLst>
                </a:gridCol>
              </a:tblGrid>
              <a:tr h="3488823">
                <a:tc>
                  <a:txBody>
                    <a:bodyPr/>
                    <a:lstStyle/>
                    <a:p>
                      <a:pPr marL="85090">
                        <a:lnSpc>
                          <a:spcPct val="100000"/>
                        </a:lnSpc>
                        <a:spcBef>
                          <a:spcPts val="635"/>
                        </a:spcBef>
                      </a:pPr>
                      <a:r>
                        <a:rPr sz="1400" b="1" spc="-120" dirty="0">
                          <a:latin typeface="Verdana" panose="020B0604030504040204" pitchFamily="34" charset="0"/>
                          <a:ea typeface="Verdana" panose="020B0604030504040204" pitchFamily="34" charset="0"/>
                          <a:cs typeface="Open Sans" panose="020B0606030504020204" pitchFamily="34" charset="0"/>
                        </a:rPr>
                        <a:t>CONTEXT</a:t>
                      </a:r>
                      <a:endParaRPr lang="en-US" sz="1400" b="1" spc="-120" dirty="0">
                        <a:latin typeface="Verdana" panose="020B0604030504040204" pitchFamily="34" charset="0"/>
                        <a:ea typeface="Verdana" panose="020B0604030504040204" pitchFamily="34" charset="0"/>
                        <a:cs typeface="Open Sans" panose="020B0606030504020204" pitchFamily="34" charset="0"/>
                      </a:endParaRPr>
                    </a:p>
                    <a:p>
                      <a:pPr marL="85090" algn="l">
                        <a:lnSpc>
                          <a:spcPct val="100000"/>
                        </a:lnSpc>
                        <a:spcBef>
                          <a:spcPts val="635"/>
                        </a:spcBef>
                      </a:pPr>
                      <a:endParaRPr sz="1400" dirty="0">
                        <a:latin typeface="Verdana" panose="020B0604030504040204" pitchFamily="34" charset="0"/>
                        <a:ea typeface="Verdana" panose="020B0604030504040204" pitchFamily="34" charset="0"/>
                        <a:cs typeface="Open Sans" panose="020B0606030504020204" pitchFamily="34" charset="0"/>
                      </a:endParaRPr>
                    </a:p>
                    <a:p>
                      <a:pPr marL="427990" indent="-342900" algn="l">
                        <a:lnSpc>
                          <a:spcPct val="100000"/>
                        </a:lnSpc>
                        <a:buFont typeface="Arial" panose="020B0604020202020204" pitchFamily="34" charset="0"/>
                        <a:buChar char="•"/>
                      </a:pPr>
                      <a:r>
                        <a:rPr lang="en-US" sz="2100" spc="-70" dirty="0">
                          <a:latin typeface="Verdana" panose="020B0604030504040204" pitchFamily="34" charset="0"/>
                          <a:ea typeface="Verdana" panose="020B0604030504040204" pitchFamily="34" charset="0"/>
                          <a:cs typeface="Open Sans" panose="020B0606030504020204" pitchFamily="34" charset="0"/>
                        </a:rPr>
                        <a:t>When individuals perceive that designs in the market are repetitive</a:t>
                      </a:r>
                    </a:p>
                    <a:p>
                      <a:pPr marL="427990" indent="-342900" algn="l">
                        <a:lnSpc>
                          <a:spcPct val="100000"/>
                        </a:lnSpc>
                        <a:buFont typeface="Arial" panose="020B0604020202020204" pitchFamily="34" charset="0"/>
                        <a:buChar char="•"/>
                      </a:pPr>
                      <a:endParaRPr lang="en-US" sz="2100" spc="-70" dirty="0">
                        <a:latin typeface="Verdana" panose="020B0604030504040204" pitchFamily="34" charset="0"/>
                        <a:ea typeface="Verdana" panose="020B0604030504040204" pitchFamily="34" charset="0"/>
                        <a:cs typeface="Open Sans" panose="020B0606030504020204" pitchFamily="34" charset="0"/>
                      </a:endParaRPr>
                    </a:p>
                    <a:p>
                      <a:pPr marL="427990" indent="-342900" algn="l">
                        <a:lnSpc>
                          <a:spcPct val="100000"/>
                        </a:lnSpc>
                        <a:buFont typeface="Arial" panose="020B0604020202020204" pitchFamily="34" charset="0"/>
                        <a:buChar char="•"/>
                      </a:pPr>
                      <a:r>
                        <a:rPr lang="en-US" sz="2100" spc="-70" dirty="0">
                          <a:latin typeface="Verdana" panose="020B0604030504040204" pitchFamily="34" charset="0"/>
                          <a:ea typeface="Verdana" panose="020B0604030504040204" pitchFamily="34" charset="0"/>
                          <a:cs typeface="Open Sans" panose="020B0606030504020204" pitchFamily="34" charset="0"/>
                        </a:rPr>
                        <a:t>those seeking to imprint their thoughts on T-shirts often aim for originality.</a:t>
                      </a:r>
                      <a:endParaRPr sz="21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635"/>
                        </a:spcBef>
                      </a:pPr>
                      <a:r>
                        <a:rPr sz="1400" b="1" spc="-130" dirty="0">
                          <a:latin typeface="Verdana" panose="020B0604030504040204" pitchFamily="34" charset="0"/>
                          <a:ea typeface="Verdana" panose="020B0604030504040204" pitchFamily="34" charset="0"/>
                          <a:cs typeface="Open Sans" panose="020B0606030504020204" pitchFamily="34" charset="0"/>
                        </a:rPr>
                        <a:t>PROBLEM</a:t>
                      </a:r>
                      <a:endParaRPr lang="en-US" sz="1400" b="1" spc="-13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635"/>
                        </a:spcBef>
                      </a:pPr>
                      <a:endParaRPr sz="1400" dirty="0">
                        <a:latin typeface="Verdana" panose="020B0604030504040204" pitchFamily="34" charset="0"/>
                        <a:ea typeface="Verdana" panose="020B0604030504040204" pitchFamily="34" charset="0"/>
                        <a:cs typeface="Open Sans" panose="020B0606030504020204" pitchFamily="34" charset="0"/>
                      </a:endParaRPr>
                    </a:p>
                    <a:p>
                      <a:pPr marL="427355" indent="-342900">
                        <a:lnSpc>
                          <a:spcPct val="100000"/>
                        </a:lnSpc>
                        <a:buFont typeface="Arial" panose="020B0604020202020204" pitchFamily="34" charset="0"/>
                        <a:buChar char="•"/>
                      </a:pPr>
                      <a:r>
                        <a:rPr lang="en-US" sz="2100" spc="-30" dirty="0">
                          <a:latin typeface="Verdana" panose="020B0604030504040204" pitchFamily="34" charset="0"/>
                          <a:ea typeface="Verdana" panose="020B0604030504040204" pitchFamily="34" charset="0"/>
                          <a:cs typeface="Open Sans" panose="020B0606030504020204" pitchFamily="34" charset="0"/>
                        </a:rPr>
                        <a:t>The design process can be quite time-consuming.</a:t>
                      </a:r>
                    </a:p>
                    <a:p>
                      <a:pPr marL="84455" indent="0">
                        <a:lnSpc>
                          <a:spcPct val="100000"/>
                        </a:lnSpc>
                        <a:buFont typeface="Arial" panose="020B0604020202020204" pitchFamily="34" charset="0"/>
                        <a:buNone/>
                      </a:pPr>
                      <a:endParaRPr lang="en-US" sz="2100" spc="-30" dirty="0">
                        <a:latin typeface="Verdana" panose="020B0604030504040204" pitchFamily="34" charset="0"/>
                        <a:ea typeface="Verdana" panose="020B0604030504040204" pitchFamily="34" charset="0"/>
                        <a:cs typeface="Open Sans" panose="020B0606030504020204" pitchFamily="34" charset="0"/>
                      </a:endParaRPr>
                    </a:p>
                    <a:p>
                      <a:pPr marL="427355" indent="-342900">
                        <a:lnSpc>
                          <a:spcPct val="100000"/>
                        </a:lnSpc>
                        <a:buFont typeface="Arial" panose="020B0604020202020204" pitchFamily="34" charset="0"/>
                        <a:buChar char="•"/>
                      </a:pPr>
                      <a:r>
                        <a:rPr lang="en-US" sz="2100" dirty="0">
                          <a:latin typeface="Verdana" panose="020B0604030504040204" pitchFamily="34" charset="0"/>
                          <a:ea typeface="Verdana" panose="020B0604030504040204" pitchFamily="34" charset="0"/>
                          <a:cs typeface="Open Sans" panose="020B0606030504020204" pitchFamily="34" charset="0"/>
                        </a:rPr>
                        <a:t>Tamil fashion is less represented through dialogues compared to the widespread popularity observed in comics and anime trends.</a:t>
                      </a:r>
                    </a:p>
                    <a:p>
                      <a:pPr marL="84455" indent="0">
                        <a:lnSpc>
                          <a:spcPct val="100000"/>
                        </a:lnSpc>
                        <a:buFont typeface="Arial" panose="020B0604020202020204" pitchFamily="34" charset="0"/>
                        <a:buNone/>
                      </a:pPr>
                      <a:endParaRPr sz="21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12700">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tc>
                  <a:txBody>
                    <a:bodyPr/>
                    <a:lstStyle/>
                    <a:p>
                      <a:pPr marL="85725">
                        <a:lnSpc>
                          <a:spcPct val="100000"/>
                        </a:lnSpc>
                        <a:spcBef>
                          <a:spcPts val="635"/>
                        </a:spcBef>
                      </a:pPr>
                      <a:r>
                        <a:rPr sz="1400" b="1" spc="-135" dirty="0">
                          <a:latin typeface="Verdana" panose="020B0604030504040204" pitchFamily="34" charset="0"/>
                          <a:ea typeface="Verdana" panose="020B0604030504040204" pitchFamily="34" charset="0"/>
                          <a:cs typeface="Open Sans" panose="020B0606030504020204" pitchFamily="34" charset="0"/>
                        </a:rPr>
                        <a:t>ALTERNATIVES</a:t>
                      </a:r>
                      <a:endParaRPr lang="en-US" sz="1400" b="1" spc="-135" dirty="0">
                        <a:latin typeface="Verdana" panose="020B0604030504040204" pitchFamily="34" charset="0"/>
                        <a:ea typeface="Verdana" panose="020B0604030504040204" pitchFamily="34" charset="0"/>
                        <a:cs typeface="Open Sans" panose="020B0606030504020204" pitchFamily="34" charset="0"/>
                      </a:endParaRPr>
                    </a:p>
                    <a:p>
                      <a:pPr marL="85725" indent="0">
                        <a:lnSpc>
                          <a:spcPct val="100000"/>
                        </a:lnSpc>
                        <a:buFont typeface="Arial" panose="020B0604020202020204" pitchFamily="34" charset="0"/>
                        <a:buNone/>
                      </a:pPr>
                      <a:endParaRPr lang="en-US" sz="2100" spc="-45" dirty="0">
                        <a:latin typeface="Verdana" panose="020B0604030504040204" pitchFamily="34" charset="0"/>
                        <a:ea typeface="Verdana" panose="020B0604030504040204" pitchFamily="34" charset="0"/>
                        <a:cs typeface="Open Sans" panose="020B0606030504020204" pitchFamily="34" charset="0"/>
                      </a:endParaRPr>
                    </a:p>
                    <a:p>
                      <a:pPr marL="428625" indent="-342900">
                        <a:lnSpc>
                          <a:spcPct val="100000"/>
                        </a:lnSpc>
                        <a:buFont typeface="Arial" panose="020B0604020202020204" pitchFamily="34" charset="0"/>
                        <a:buChar char="•"/>
                      </a:pPr>
                      <a:r>
                        <a:rPr lang="en-US" sz="2100" spc="-45" dirty="0">
                          <a:latin typeface="Verdana" panose="020B0604030504040204" pitchFamily="34" charset="0"/>
                          <a:ea typeface="Verdana" panose="020B0604030504040204" pitchFamily="34" charset="0"/>
                          <a:cs typeface="Open Sans" panose="020B0606030504020204" pitchFamily="34" charset="0"/>
                        </a:rPr>
                        <a:t>Some individuals invest more effort and time into customized designs.</a:t>
                      </a:r>
                    </a:p>
                    <a:p>
                      <a:pPr marL="428625" indent="-342900">
                        <a:lnSpc>
                          <a:spcPct val="100000"/>
                        </a:lnSpc>
                        <a:buFont typeface="Arial" panose="020B0604020202020204" pitchFamily="34" charset="0"/>
                        <a:buChar char="•"/>
                      </a:pPr>
                      <a:endParaRPr lang="en-US" sz="2100" spc="-45" dirty="0">
                        <a:latin typeface="Verdana" panose="020B0604030504040204" pitchFamily="34" charset="0"/>
                        <a:ea typeface="Verdana" panose="020B0604030504040204" pitchFamily="34" charset="0"/>
                        <a:cs typeface="Open Sans" panose="020B0606030504020204" pitchFamily="34" charset="0"/>
                      </a:endParaRPr>
                    </a:p>
                    <a:p>
                      <a:pPr marL="428625" indent="-342900">
                        <a:lnSpc>
                          <a:spcPct val="100000"/>
                        </a:lnSpc>
                        <a:buFont typeface="Arial" panose="020B0604020202020204" pitchFamily="34" charset="0"/>
                        <a:buChar char="•"/>
                      </a:pPr>
                      <a:r>
                        <a:rPr lang="en-US" sz="2100" spc="-45" dirty="0">
                          <a:latin typeface="Verdana" panose="020B0604030504040204" pitchFamily="34" charset="0"/>
                          <a:ea typeface="Verdana" panose="020B0604030504040204" pitchFamily="34" charset="0"/>
                          <a:cs typeface="Open Sans" panose="020B0606030504020204" pitchFamily="34" charset="0"/>
                        </a:rPr>
                        <a:t>Certain individuals find themselves with plain T-shirts in the end.</a:t>
                      </a:r>
                      <a:endParaRPr sz="21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0"/>
                  </a:ext>
                </a:extLst>
              </a:tr>
              <a:tr h="1249194">
                <a:tc rowSpan="2">
                  <a:txBody>
                    <a:bodyPr/>
                    <a:lstStyle/>
                    <a:p>
                      <a:pPr marL="85090">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CUSTOMERS</a:t>
                      </a:r>
                      <a:endParaRPr lang="en-US"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85090">
                        <a:lnSpc>
                          <a:spcPct val="100000"/>
                        </a:lnSpc>
                        <a:spcBef>
                          <a:spcPts val="640"/>
                        </a:spcBef>
                      </a:pPr>
                      <a:endPar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427990" marR="702310" indent="-342900">
                        <a:lnSpc>
                          <a:spcPct val="100000"/>
                        </a:lnSpc>
                        <a:buFont typeface="Arial" panose="020B0604020202020204" pitchFamily="34" charset="0"/>
                        <a:buChar char="•"/>
                      </a:pPr>
                      <a:r>
                        <a:rPr lang="en-US" sz="2100" spc="-40" dirty="0">
                          <a:latin typeface="Verdana" panose="020B0604030504040204" pitchFamily="34" charset="0"/>
                          <a:ea typeface="Verdana" panose="020B0604030504040204" pitchFamily="34" charset="0"/>
                          <a:cs typeface="Open Sans" panose="020B0606030504020204" pitchFamily="34" charset="0"/>
                        </a:rPr>
                        <a:t>Students</a:t>
                      </a:r>
                    </a:p>
                    <a:p>
                      <a:pPr marL="85090" marR="702310" indent="0">
                        <a:lnSpc>
                          <a:spcPct val="100000"/>
                        </a:lnSpc>
                        <a:buFont typeface="Arial" panose="020B0604020202020204" pitchFamily="34" charset="0"/>
                        <a:buNone/>
                      </a:pPr>
                      <a:endParaRPr lang="en-US" sz="2100" spc="-40" dirty="0">
                        <a:latin typeface="Verdana" panose="020B0604030504040204" pitchFamily="34" charset="0"/>
                        <a:ea typeface="Verdana" panose="020B0604030504040204" pitchFamily="34" charset="0"/>
                        <a:cs typeface="Open Sans" panose="020B0606030504020204" pitchFamily="34" charset="0"/>
                      </a:endParaRPr>
                    </a:p>
                    <a:p>
                      <a:pPr marL="427990" marR="702310" indent="-342900">
                        <a:lnSpc>
                          <a:spcPct val="100000"/>
                        </a:lnSpc>
                        <a:buFont typeface="Arial" panose="020B0604020202020204" pitchFamily="34" charset="0"/>
                        <a:buChar char="•"/>
                      </a:pPr>
                      <a:r>
                        <a:rPr lang="en-US" sz="2100" spc="-40" dirty="0">
                          <a:latin typeface="Verdana" panose="020B0604030504040204" pitchFamily="34" charset="0"/>
                          <a:ea typeface="Verdana" panose="020B0604030504040204" pitchFamily="34" charset="0"/>
                          <a:cs typeface="Open Sans" panose="020B0606030504020204" pitchFamily="34" charset="0"/>
                        </a:rPr>
                        <a:t>Youngsters</a:t>
                      </a:r>
                    </a:p>
                    <a:p>
                      <a:pPr marL="427990" marR="702310" indent="-342900">
                        <a:lnSpc>
                          <a:spcPct val="100000"/>
                        </a:lnSpc>
                        <a:buFont typeface="Arial" panose="020B0604020202020204" pitchFamily="34" charset="0"/>
                        <a:buChar char="•"/>
                      </a:pPr>
                      <a:endParaRPr lang="en-US" sz="2100" spc="-40" dirty="0">
                        <a:latin typeface="Verdana" panose="020B0604030504040204" pitchFamily="34" charset="0"/>
                        <a:ea typeface="Verdana" panose="020B0604030504040204" pitchFamily="34" charset="0"/>
                        <a:cs typeface="Open Sans" panose="020B0606030504020204" pitchFamily="34" charset="0"/>
                      </a:endParaRPr>
                    </a:p>
                    <a:p>
                      <a:pPr marL="427990" marR="702310" indent="-342900">
                        <a:lnSpc>
                          <a:spcPct val="100000"/>
                        </a:lnSpc>
                        <a:buFont typeface="Arial" panose="020B0604020202020204" pitchFamily="34" charset="0"/>
                        <a:buChar char="•"/>
                      </a:pPr>
                      <a:r>
                        <a:rPr lang="en-US" sz="2100" spc="-40" dirty="0">
                          <a:latin typeface="Verdana" panose="020B0604030504040204" pitchFamily="34" charset="0"/>
                          <a:ea typeface="Verdana" panose="020B0604030504040204" pitchFamily="34" charset="0"/>
                          <a:cs typeface="Open Sans" panose="020B0606030504020204" pitchFamily="34" charset="0"/>
                        </a:rPr>
                        <a:t>In the age group of 14 to 35</a:t>
                      </a:r>
                    </a:p>
                    <a:p>
                      <a:pPr marL="427990" marR="702310" indent="-342900">
                        <a:lnSpc>
                          <a:spcPct val="100000"/>
                        </a:lnSpc>
                        <a:buFont typeface="Arial" panose="020B0604020202020204" pitchFamily="34" charset="0"/>
                        <a:buChar char="•"/>
                      </a:pPr>
                      <a:endParaRPr sz="21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EMOTIONAL</a:t>
                      </a:r>
                      <a:r>
                        <a:rPr lang="en-IN" sz="1400" b="1" spc="-150" dirty="0">
                          <a:latin typeface="Verdana" panose="020B0604030504040204" pitchFamily="34" charset="0"/>
                          <a:ea typeface="Verdana" panose="020B0604030504040204" pitchFamily="34" charset="0"/>
                          <a:cs typeface="Open Sans" panose="020B0606030504020204" pitchFamily="34" charset="0"/>
                        </a:rPr>
                        <a:t> </a:t>
                      </a:r>
                      <a:r>
                        <a:rPr sz="1400" b="1" spc="-150" dirty="0">
                          <a:latin typeface="Verdana" panose="020B0604030504040204" pitchFamily="34" charset="0"/>
                          <a:ea typeface="Verdana" panose="020B0604030504040204" pitchFamily="34" charset="0"/>
                          <a:cs typeface="Open Sans" panose="020B0606030504020204" pitchFamily="34" charset="0"/>
                        </a:rPr>
                        <a:t>IMPACT</a:t>
                      </a:r>
                      <a:endParaRPr lang="en-US" sz="1400" b="1" spc="-15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640"/>
                        </a:spcBef>
                      </a:pPr>
                      <a:endParaRPr sz="1400" dirty="0">
                        <a:latin typeface="Verdana" panose="020B0604030504040204" pitchFamily="34" charset="0"/>
                        <a:ea typeface="Verdana" panose="020B0604030504040204" pitchFamily="34" charset="0"/>
                        <a:cs typeface="Open Sans" panose="020B0606030504020204" pitchFamily="34" charset="0"/>
                      </a:endParaRPr>
                    </a:p>
                    <a:p>
                      <a:pPr marL="370205" indent="-285750">
                        <a:lnSpc>
                          <a:spcPct val="100000"/>
                        </a:lnSpc>
                        <a:buFont typeface="Arial" panose="020B0604020202020204" pitchFamily="34" charset="0"/>
                        <a:buChar char="•"/>
                      </a:pPr>
                      <a:r>
                        <a:rPr lang="en-US" sz="2100" spc="-50" dirty="0">
                          <a:latin typeface="Verdana" panose="020B0604030504040204" pitchFamily="34" charset="0"/>
                          <a:ea typeface="Verdana" panose="020B0604030504040204" pitchFamily="34" charset="0"/>
                          <a:cs typeface="Open Sans" panose="020B0606030504020204" pitchFamily="34" charset="0"/>
                        </a:rPr>
                        <a:t>Their confidence in their outfit is diminished.</a:t>
                      </a:r>
                    </a:p>
                    <a:p>
                      <a:pPr marL="84455" indent="0">
                        <a:lnSpc>
                          <a:spcPct val="100000"/>
                        </a:lnSpc>
                        <a:buFont typeface="Arial" panose="020B0604020202020204" pitchFamily="34" charset="0"/>
                        <a:buNone/>
                      </a:pPr>
                      <a:r>
                        <a:rPr lang="en-US" sz="2100" spc="-50" dirty="0">
                          <a:latin typeface="Verdana" panose="020B0604030504040204" pitchFamily="34" charset="0"/>
                          <a:ea typeface="Verdana" panose="020B0604030504040204" pitchFamily="34" charset="0"/>
                          <a:cs typeface="Open Sans" panose="020B0606030504020204" pitchFamily="34" charset="0"/>
                        </a:rPr>
                        <a:t> </a:t>
                      </a:r>
                    </a:p>
                    <a:p>
                      <a:pPr marL="370205" indent="-285750">
                        <a:lnSpc>
                          <a:spcPct val="100000"/>
                        </a:lnSpc>
                        <a:buFont typeface="Arial" panose="020B0604020202020204" pitchFamily="34" charset="0"/>
                        <a:buChar char="•"/>
                      </a:pPr>
                      <a:r>
                        <a:rPr lang="en-US" sz="2100" dirty="0">
                          <a:latin typeface="Verdana" panose="020B0604030504040204" pitchFamily="34" charset="0"/>
                          <a:ea typeface="Verdana" panose="020B0604030504040204" pitchFamily="34" charset="0"/>
                          <a:cs typeface="Open Sans" panose="020B0606030504020204" pitchFamily="34" charset="0"/>
                        </a:rPr>
                        <a:t>Their satisfaction is diminished.</a:t>
                      </a:r>
                      <a:endParaRPr sz="21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12700">
                      <a:solidFill>
                        <a:srgbClr val="FBBD00"/>
                      </a:solidFill>
                      <a:prstDash val="solid"/>
                    </a:lnL>
                    <a:lnR w="9525">
                      <a:solidFill>
                        <a:srgbClr val="FBBD00"/>
                      </a:solidFill>
                      <a:prstDash val="solid"/>
                    </a:lnR>
                    <a:lnT w="9525">
                      <a:solidFill>
                        <a:srgbClr val="FBBD00"/>
                      </a:solidFill>
                      <a:prstDash val="solid"/>
                    </a:lnT>
                  </a:tcPr>
                </a:tc>
                <a:tc rowSpan="2">
                  <a:txBody>
                    <a:bodyPr/>
                    <a:lstStyle/>
                    <a:p>
                      <a:pPr marL="8572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ALTERNATIVE</a:t>
                      </a:r>
                      <a:r>
                        <a:rPr lang="en-IN" sz="1400" b="1" spc="-155" dirty="0">
                          <a:latin typeface="Verdana" panose="020B0604030504040204" pitchFamily="34" charset="0"/>
                          <a:ea typeface="Verdana" panose="020B0604030504040204" pitchFamily="34" charset="0"/>
                          <a:cs typeface="Open Sans" panose="020B0606030504020204" pitchFamily="34" charset="0"/>
                        </a:rPr>
                        <a:t> </a:t>
                      </a: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SHORTCOMINGS</a:t>
                      </a:r>
                      <a:endParaRPr lang="en-US"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spcBef>
                          <a:spcPts val="640"/>
                        </a:spcBef>
                      </a:pPr>
                      <a:endPar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428625" marR="247015" indent="-342900">
                        <a:lnSpc>
                          <a:spcPct val="100000"/>
                        </a:lnSpc>
                        <a:buFont typeface="Arial" panose="020B0604020202020204" pitchFamily="34" charset="0"/>
                        <a:buChar char="•"/>
                      </a:pPr>
                      <a:r>
                        <a:rPr lang="en-US" sz="2100" spc="-50" dirty="0">
                          <a:latin typeface="Verdana" panose="020B0604030504040204" pitchFamily="34" charset="0"/>
                          <a:ea typeface="Verdana" panose="020B0604030504040204" pitchFamily="34" charset="0"/>
                          <a:cs typeface="Open Sans" panose="020B0606030504020204" pitchFamily="34" charset="0"/>
                        </a:rPr>
                        <a:t>Time consuming</a:t>
                      </a:r>
                    </a:p>
                    <a:p>
                      <a:pPr marL="85725" marR="247015" indent="0">
                        <a:lnSpc>
                          <a:spcPct val="100000"/>
                        </a:lnSpc>
                        <a:buFont typeface="Arial" panose="020B0604020202020204" pitchFamily="34" charset="0"/>
                        <a:buNone/>
                      </a:pPr>
                      <a:endParaRPr lang="en-US" sz="2100" spc="-50" dirty="0">
                        <a:latin typeface="Verdana" panose="020B0604030504040204" pitchFamily="34" charset="0"/>
                        <a:ea typeface="Verdana" panose="020B0604030504040204" pitchFamily="34" charset="0"/>
                        <a:cs typeface="Open Sans" panose="020B0606030504020204" pitchFamily="34" charset="0"/>
                      </a:endParaRPr>
                    </a:p>
                    <a:p>
                      <a:pPr marL="428625" marR="247015" indent="-342900">
                        <a:lnSpc>
                          <a:spcPct val="100000"/>
                        </a:lnSpc>
                        <a:buFont typeface="Arial" panose="020B0604020202020204" pitchFamily="34" charset="0"/>
                        <a:buChar char="•"/>
                      </a:pPr>
                      <a:r>
                        <a:rPr lang="en-US" sz="2100" spc="-50" dirty="0">
                          <a:latin typeface="Verdana" panose="020B0604030504040204" pitchFamily="34" charset="0"/>
                          <a:ea typeface="Verdana" panose="020B0604030504040204" pitchFamily="34" charset="0"/>
                          <a:cs typeface="Open Sans" panose="020B0606030504020204" pitchFamily="34" charset="0"/>
                        </a:rPr>
                        <a:t>Spending more amount on simple design</a:t>
                      </a:r>
                    </a:p>
                    <a:p>
                      <a:pPr marL="85725" marR="247015" indent="0">
                        <a:lnSpc>
                          <a:spcPct val="100000"/>
                        </a:lnSpc>
                        <a:buFont typeface="Arial" panose="020B0604020202020204" pitchFamily="34" charset="0"/>
                        <a:buNone/>
                      </a:pPr>
                      <a:r>
                        <a:rPr lang="en-US" sz="2100" spc="-50" dirty="0">
                          <a:latin typeface="Verdana" panose="020B0604030504040204" pitchFamily="34" charset="0"/>
                          <a:ea typeface="Verdana" panose="020B0604030504040204" pitchFamily="34" charset="0"/>
                          <a:cs typeface="Open Sans" panose="020B0606030504020204" pitchFamily="34" charset="0"/>
                        </a:rPr>
                        <a:t> </a:t>
                      </a:r>
                    </a:p>
                    <a:p>
                      <a:pPr marL="428625" marR="247015" indent="-342900">
                        <a:lnSpc>
                          <a:spcPct val="100000"/>
                        </a:lnSpc>
                        <a:buFont typeface="Arial" panose="020B0604020202020204" pitchFamily="34" charset="0"/>
                        <a:buChar char="•"/>
                      </a:pPr>
                      <a:r>
                        <a:rPr lang="en-US" sz="2100" spc="-50" dirty="0">
                          <a:latin typeface="Verdana" panose="020B0604030504040204" pitchFamily="34" charset="0"/>
                          <a:ea typeface="Verdana" panose="020B0604030504040204" pitchFamily="34" charset="0"/>
                          <a:cs typeface="Open Sans" panose="020B0606030504020204" pitchFamily="34" charset="0"/>
                        </a:rPr>
                        <a:t>Sometimes mismatch in colors/details</a:t>
                      </a:r>
                      <a:endParaRPr sz="21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1"/>
                  </a:ext>
                </a:extLst>
              </a:tr>
              <a:tr h="2134662">
                <a:tc vMerge="1">
                  <a:txBody>
                    <a:bodyPr/>
                    <a:lstStyle/>
                    <a:p>
                      <a:endParaRPr/>
                    </a:p>
                  </a:txBody>
                  <a:tcPr marL="0" marR="0" marT="81280"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a:lnSpc>
                          <a:spcPct val="100000"/>
                        </a:lnSpc>
                      </a:pPr>
                      <a:endParaRPr sz="21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795"/>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QUANTIFIABLE</a:t>
                      </a:r>
                      <a:r>
                        <a:rPr lang="en-IN" sz="1400" b="1" spc="-145" dirty="0">
                          <a:latin typeface="Verdana" panose="020B0604030504040204" pitchFamily="34" charset="0"/>
                          <a:ea typeface="Verdana" panose="020B0604030504040204" pitchFamily="34" charset="0"/>
                          <a:cs typeface="Open Sans" panose="020B0606030504020204" pitchFamily="34" charset="0"/>
                        </a:rPr>
                        <a:t> </a:t>
                      </a:r>
                      <a:r>
                        <a:rPr sz="1400" b="1" spc="-145" dirty="0">
                          <a:latin typeface="Verdana" panose="020B0604030504040204" pitchFamily="34" charset="0"/>
                          <a:ea typeface="Verdana" panose="020B0604030504040204" pitchFamily="34" charset="0"/>
                          <a:cs typeface="Open Sans" panose="020B0606030504020204" pitchFamily="34" charset="0"/>
                        </a:rPr>
                        <a:t>IMPACT</a:t>
                      </a:r>
                      <a:endParaRPr lang="en-US" sz="1400" b="1" spc="-145"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795"/>
                        </a:spcBef>
                      </a:pPr>
                      <a:endParaRPr lang="en-US" sz="1400" dirty="0">
                        <a:latin typeface="Verdana" panose="020B0604030504040204" pitchFamily="34" charset="0"/>
                        <a:ea typeface="Verdana" panose="020B0604030504040204" pitchFamily="34" charset="0"/>
                        <a:cs typeface="Open Sans" panose="020B0606030504020204" pitchFamily="34" charset="0"/>
                      </a:endParaRPr>
                    </a:p>
                    <a:p>
                      <a:pPr marL="427355" marR="474345" indent="-342900">
                        <a:lnSpc>
                          <a:spcPct val="100000"/>
                        </a:lnSpc>
                        <a:buFont typeface="Arial" panose="020B0604020202020204" pitchFamily="34" charset="0"/>
                        <a:buChar char="•"/>
                      </a:pPr>
                      <a:r>
                        <a:rPr lang="en-US" sz="2100" spc="-45" dirty="0">
                          <a:latin typeface="Verdana" panose="020B0604030504040204" pitchFamily="34" charset="0"/>
                          <a:ea typeface="Verdana" panose="020B0604030504040204" pitchFamily="34" charset="0"/>
                          <a:cs typeface="Open Sans" panose="020B0606030504020204" pitchFamily="34" charset="0"/>
                        </a:rPr>
                        <a:t>This issue affects approximately 60% of people.</a:t>
                      </a:r>
                      <a:endParaRPr lang="en-US" sz="2100" dirty="0">
                        <a:latin typeface="Verdana" panose="020B0604030504040204" pitchFamily="34" charset="0"/>
                        <a:ea typeface="Verdana" panose="020B0604030504040204" pitchFamily="34" charset="0"/>
                        <a:cs typeface="Open Sans" panose="020B0606030504020204" pitchFamily="34" charset="0"/>
                      </a:endParaRPr>
                    </a:p>
                  </a:txBody>
                  <a:tcPr marL="0" marR="0" marT="0" marB="0">
                    <a:lnL w="12700">
                      <a:solidFill>
                        <a:srgbClr val="FBBD00"/>
                      </a:solidFill>
                      <a:prstDash val="solid"/>
                    </a:lnL>
                    <a:lnR w="9525">
                      <a:solidFill>
                        <a:srgbClr val="FBBD00"/>
                      </a:solidFill>
                      <a:prstDash val="solid"/>
                    </a:lnR>
                    <a:lnB w="9525">
                      <a:solidFill>
                        <a:srgbClr val="FBBD00"/>
                      </a:solidFill>
                      <a:prstDash val="solid"/>
                    </a:lnB>
                  </a:tcPr>
                </a:tc>
                <a:tc vMerge="1">
                  <a:txBody>
                    <a:bodyPr/>
                    <a:lstStyle/>
                    <a:p>
                      <a:endParaRPr/>
                    </a:p>
                  </a:txBody>
                  <a:tcPr marL="0" marR="0" marT="81280"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2"/>
                  </a:ext>
                </a:extLst>
              </a:tr>
            </a:tbl>
          </a:graphicData>
        </a:graphic>
      </p:graphicFrame>
      <p:sp>
        <p:nvSpPr>
          <p:cNvPr id="3" name="object 3"/>
          <p:cNvSpPr txBox="1">
            <a:spLocks noGrp="1"/>
          </p:cNvSpPr>
          <p:nvPr>
            <p:ph type="title"/>
          </p:nvPr>
        </p:nvSpPr>
        <p:spPr>
          <a:xfrm>
            <a:off x="304801" y="256305"/>
            <a:ext cx="15304106" cy="1128181"/>
          </a:xfrm>
          <a:prstGeom prst="rect">
            <a:avLst/>
          </a:prstGeom>
        </p:spPr>
        <p:txBody>
          <a:bodyPr vert="horz" wrap="square" lIns="0" tIns="12370" rIns="0" bIns="0" rtlCol="0" anchor="ctr">
            <a:spAutoFit/>
          </a:bodyPr>
          <a:lstStyle/>
          <a:p>
            <a:pPr>
              <a:lnSpc>
                <a:spcPts val="8746"/>
              </a:lnSpc>
              <a:spcBef>
                <a:spcPts val="96"/>
              </a:spcBef>
            </a:pPr>
            <a:r>
              <a:rPr lang="en-IN" sz="5400" b="1" dirty="0">
                <a:solidFill>
                  <a:schemeClr val="tx1"/>
                </a:solidFill>
                <a:latin typeface="+mn-lt"/>
                <a:ea typeface="+mn-ea"/>
                <a:cs typeface="Times New Roman" panose="02020603050405020304" pitchFamily="18" charset="0"/>
              </a:rPr>
              <a:t>Problem/Opportunity</a:t>
            </a:r>
            <a:endParaRPr sz="5400" b="1" dirty="0">
              <a:solidFill>
                <a:schemeClr val="tx1"/>
              </a:solidFill>
              <a:latin typeface="+mn-lt"/>
              <a:ea typeface="+mn-ea"/>
              <a:cs typeface="Times New Roman" panose="02020603050405020304" pitchFamily="18" charset="0"/>
            </a:endParaRPr>
          </a:p>
        </p:txBody>
      </p:sp>
      <p:sp>
        <p:nvSpPr>
          <p:cNvPr id="5" name="Rectangle 4"/>
          <p:cNvSpPr/>
          <p:nvPr/>
        </p:nvSpPr>
        <p:spPr>
          <a:xfrm>
            <a:off x="609598" y="7641429"/>
            <a:ext cx="9144000" cy="1118253"/>
          </a:xfrm>
          <a:prstGeom prst="rect">
            <a:avLst/>
          </a:prstGeom>
        </p:spPr>
        <p:txBody>
          <a:bodyPr lIns="91439" tIns="45719" rIns="91439" bIns="45719">
            <a:spAutoFit/>
          </a:bodyPr>
          <a:lstStyle/>
          <a:p>
            <a:endParaRPr lang="en-US" dirty="0"/>
          </a:p>
          <a:p>
            <a:pPr marL="93101">
              <a:spcBef>
                <a:spcPts val="195"/>
              </a:spcBef>
            </a:pPr>
            <a:endParaRPr lang="en-US" sz="1100" spc="-82" dirty="0">
              <a:latin typeface="Verdana" panose="020B0604030504040204" pitchFamily="34" charset="0"/>
              <a:ea typeface="Verdana" panose="020B0604030504040204" pitchFamily="34" charset="0"/>
              <a:cs typeface="Open Sans" panose="020B0606030504020204" pitchFamily="34" charset="0"/>
            </a:endParaRPr>
          </a:p>
          <a:p>
            <a:endParaRPr lang="en-US" dirty="0"/>
          </a:p>
          <a:p>
            <a:endParaRPr lang="en-IN" dirty="0"/>
          </a:p>
        </p:txBody>
      </p:sp>
      <p:pic>
        <p:nvPicPr>
          <p:cNvPr id="6" name="Picture 5">
            <a:extLst>
              <a:ext uri="{FF2B5EF4-FFF2-40B4-BE49-F238E27FC236}">
                <a16:creationId xmlns:a16="http://schemas.microsoft.com/office/drawing/2014/main" id="{42DAE189-E2C3-6708-523A-B598A5B414CD}"/>
              </a:ext>
            </a:extLst>
          </p:cNvPr>
          <p:cNvPicPr>
            <a:picLocks noChangeAspect="1"/>
          </p:cNvPicPr>
          <p:nvPr/>
        </p:nvPicPr>
        <p:blipFill>
          <a:blip r:embed="rId2"/>
          <a:stretch>
            <a:fillRect/>
          </a:stretch>
        </p:blipFill>
        <p:spPr>
          <a:xfrm>
            <a:off x="16268598" y="137924"/>
            <a:ext cx="1347492" cy="1424177"/>
          </a:xfrm>
          <a:prstGeom prst="rect">
            <a:avLst/>
          </a:prstGeom>
        </p:spPr>
      </p:pic>
    </p:spTree>
    <p:extLst>
      <p:ext uri="{BB962C8B-B14F-4D97-AF65-F5344CB8AC3E}">
        <p14:creationId xmlns:p14="http://schemas.microsoft.com/office/powerpoint/2010/main" val="2803195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457200" y="217695"/>
            <a:ext cx="12338484" cy="1115690"/>
          </a:xfrm>
          <a:prstGeom prst="rect">
            <a:avLst/>
          </a:prstGeom>
        </p:spPr>
        <p:txBody>
          <a:bodyPr wrap="square" lIns="0" tIns="0" rIns="0" bIns="0" rtlCol="0" anchor="t">
            <a:spAutoFit/>
          </a:bodyPr>
          <a:lstStyle/>
          <a:p>
            <a:pPr>
              <a:lnSpc>
                <a:spcPts val="8746"/>
              </a:lnSpc>
              <a:spcBef>
                <a:spcPts val="96"/>
              </a:spcBef>
            </a:pPr>
            <a:r>
              <a:rPr lang="en-US" sz="5400" b="1" dirty="0"/>
              <a:t>Problem Interviews And Surveys Results  </a:t>
            </a:r>
          </a:p>
        </p:txBody>
      </p:sp>
      <p:sp>
        <p:nvSpPr>
          <p:cNvPr id="17" name="Rectangle 16"/>
          <p:cNvSpPr/>
          <p:nvPr/>
        </p:nvSpPr>
        <p:spPr>
          <a:xfrm>
            <a:off x="838200" y="1967183"/>
            <a:ext cx="11201400" cy="7971411"/>
          </a:xfrm>
          <a:prstGeom prst="rect">
            <a:avLst/>
          </a:prstGeom>
          <a:noFill/>
        </p:spPr>
        <p:txBody>
          <a:bodyPr wrap="square" lIns="91439" tIns="45719" rIns="91439" bIns="45719">
            <a:spAutoFit/>
          </a:bodyPr>
          <a:lstStyle/>
          <a:p>
            <a:pPr marL="457196" indent="-457196">
              <a:buFont typeface="Arial" panose="020B0604020202020204" pitchFamily="34" charset="0"/>
              <a:buChar char="•"/>
            </a:pPr>
            <a:r>
              <a:rPr lang="pt-BR" sz="3200" dirty="0"/>
              <a:t>How many customers did you interview?                                            10</a:t>
            </a:r>
          </a:p>
          <a:p>
            <a:pPr marL="457196" indent="-457196">
              <a:buFont typeface="Arial" panose="020B0604020202020204" pitchFamily="34" charset="0"/>
              <a:buChar char="•"/>
            </a:pPr>
            <a:endParaRPr lang="pt-BR" sz="3200" dirty="0"/>
          </a:p>
          <a:p>
            <a:pPr marL="457196" indent="-457196">
              <a:buFont typeface="Arial" panose="020B0604020202020204" pitchFamily="34" charset="0"/>
              <a:buChar char="•"/>
            </a:pPr>
            <a:r>
              <a:rPr lang="pt-BR" sz="3200" dirty="0"/>
              <a:t>What was the interview mode?</a:t>
            </a:r>
          </a:p>
          <a:p>
            <a:r>
              <a:rPr lang="pt-BR" sz="3200" dirty="0"/>
              <a:t>      Offline</a:t>
            </a:r>
          </a:p>
          <a:p>
            <a:endParaRPr lang="pt-BR" sz="3200" i="1" dirty="0"/>
          </a:p>
          <a:p>
            <a:pPr marL="457196" indent="-457196">
              <a:buFont typeface="Arial" panose="020B0604020202020204" pitchFamily="34" charset="0"/>
              <a:buChar char="•"/>
            </a:pPr>
            <a:r>
              <a:rPr lang="pt-BR" sz="3200" dirty="0"/>
              <a:t>How many of them agree this is a problem and wants a solution?</a:t>
            </a:r>
          </a:p>
          <a:p>
            <a:r>
              <a:rPr lang="pt-BR" sz="3200" dirty="0"/>
              <a:t>       7</a:t>
            </a:r>
          </a:p>
          <a:p>
            <a:endParaRPr lang="pt-BR" sz="3200" dirty="0"/>
          </a:p>
          <a:p>
            <a:pPr marL="457196" indent="-457196">
              <a:buFont typeface="Arial" panose="020B0604020202020204" pitchFamily="34" charset="0"/>
              <a:buChar char="•"/>
            </a:pPr>
            <a:r>
              <a:rPr lang="pt-BR" sz="3200" dirty="0"/>
              <a:t>How many of them said they don't need a new solution?</a:t>
            </a:r>
          </a:p>
          <a:p>
            <a:r>
              <a:rPr lang="pt-BR" sz="3200" dirty="0"/>
              <a:t>       3</a:t>
            </a:r>
          </a:p>
          <a:p>
            <a:pPr marL="457196" indent="-457196">
              <a:buFont typeface="Arial" panose="020B0604020202020204" pitchFamily="34" charset="0"/>
              <a:buChar char="•"/>
            </a:pPr>
            <a:endParaRPr lang="pt-BR" sz="3200" i="1" dirty="0"/>
          </a:p>
          <a:p>
            <a:pPr marL="457196" indent="-457196">
              <a:buFont typeface="Arial" panose="020B0604020202020204" pitchFamily="34" charset="0"/>
              <a:buChar char="•"/>
            </a:pPr>
            <a:endParaRPr lang="pt-BR" sz="3200" i="1" dirty="0"/>
          </a:p>
          <a:p>
            <a:pPr marL="457196" indent="-457196">
              <a:buFont typeface="Arial" panose="020B0604020202020204" pitchFamily="34" charset="0"/>
              <a:buChar char="•"/>
            </a:pPr>
            <a:endParaRPr lang="pt-BR" sz="3200" dirty="0"/>
          </a:p>
          <a:p>
            <a:pPr marL="457196" indent="-457196">
              <a:buFont typeface="Arial" panose="020B0604020202020204" pitchFamily="34" charset="0"/>
              <a:buChar char="•"/>
            </a:pPr>
            <a:endParaRPr lang="pt-BR" sz="3200" i="1" dirty="0"/>
          </a:p>
        </p:txBody>
      </p:sp>
      <p:sp>
        <p:nvSpPr>
          <p:cNvPr id="11" name="Rectangle 10"/>
          <p:cNvSpPr/>
          <p:nvPr/>
        </p:nvSpPr>
        <p:spPr>
          <a:xfrm>
            <a:off x="838201" y="3536970"/>
            <a:ext cx="473204" cy="369330"/>
          </a:xfrm>
          <a:prstGeom prst="rect">
            <a:avLst/>
          </a:prstGeom>
        </p:spPr>
        <p:txBody>
          <a:bodyPr wrap="none" lIns="91439" tIns="45719" rIns="91439" bIns="45719">
            <a:spAutoFit/>
          </a:bodyPr>
          <a:lstStyle/>
          <a:p>
            <a:pPr marL="285748" indent="-285748">
              <a:buFont typeface="Arial" panose="020B0604020202020204" pitchFamily="34" charset="0"/>
              <a:buChar char="•"/>
            </a:pPr>
            <a:endParaRPr lang="pt-BR" dirty="0"/>
          </a:p>
        </p:txBody>
      </p:sp>
      <p:pic>
        <p:nvPicPr>
          <p:cNvPr id="2" name="Picture 1">
            <a:extLst>
              <a:ext uri="{FF2B5EF4-FFF2-40B4-BE49-F238E27FC236}">
                <a16:creationId xmlns:a16="http://schemas.microsoft.com/office/drawing/2014/main" id="{335C538A-D00D-5A19-FA96-6F3DD5D399B0}"/>
              </a:ext>
            </a:extLst>
          </p:cNvPr>
          <p:cNvPicPr>
            <a:picLocks noChangeAspect="1"/>
          </p:cNvPicPr>
          <p:nvPr/>
        </p:nvPicPr>
        <p:blipFill>
          <a:blip r:embed="rId2"/>
          <a:stretch>
            <a:fillRect/>
          </a:stretch>
        </p:blipFill>
        <p:spPr>
          <a:xfrm>
            <a:off x="16293581" y="382085"/>
            <a:ext cx="1499746" cy="1585097"/>
          </a:xfrm>
          <a:prstGeom prst="rect">
            <a:avLst/>
          </a:prstGeom>
        </p:spPr>
      </p:pic>
    </p:spTree>
    <p:extLst>
      <p:ext uri="{BB962C8B-B14F-4D97-AF65-F5344CB8AC3E}">
        <p14:creationId xmlns:p14="http://schemas.microsoft.com/office/powerpoint/2010/main" val="399227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Diagram 17"/>
          <p:cNvGraphicFramePr/>
          <p:nvPr>
            <p:extLst>
              <p:ext uri="{D42A27DB-BD31-4B8C-83A1-F6EECF244321}">
                <p14:modId xmlns:p14="http://schemas.microsoft.com/office/powerpoint/2010/main" val="584436918"/>
              </p:ext>
            </p:extLst>
          </p:nvPr>
        </p:nvGraphicFramePr>
        <p:xfrm>
          <a:off x="-732132" y="1893547"/>
          <a:ext cx="7620000" cy="548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Rounded Rectangle 18"/>
          <p:cNvSpPr/>
          <p:nvPr/>
        </p:nvSpPr>
        <p:spPr>
          <a:xfrm>
            <a:off x="7543800" y="1872449"/>
            <a:ext cx="9448800" cy="6399785"/>
          </a:xfrm>
          <a:prstGeom prst="roundRect">
            <a:avLst/>
          </a:prstGeom>
          <a:noFill/>
          <a:ln w="12700" cap="flat" cmpd="sng" algn="ctr">
            <a:solidFill>
              <a:srgbClr val="E7E6E6">
                <a:lumMod val="50000"/>
              </a:srgbClr>
            </a:solidFill>
            <a:prstDash val="solid"/>
            <a:miter lim="800000"/>
          </a:ln>
          <a:effectLst/>
        </p:spPr>
        <p:txBody>
          <a:bodyPr lIns="91439" tIns="45719" rIns="91439" bIns="45719" rtlCol="0" anchor="ctr"/>
          <a:lstStyle/>
          <a:p>
            <a:pPr algn="just">
              <a:defRPr/>
            </a:pPr>
            <a:r>
              <a:rPr lang="en-IN" sz="2300" b="1" kern="0" dirty="0">
                <a:latin typeface="+mj-lt"/>
              </a:rPr>
              <a:t>How to calculate market size?</a:t>
            </a:r>
          </a:p>
          <a:p>
            <a:pPr algn="just">
              <a:defRPr/>
            </a:pPr>
            <a:endParaRPr lang="en-IN" kern="0" dirty="0">
              <a:latin typeface="+mj-lt"/>
            </a:endParaRPr>
          </a:p>
          <a:p>
            <a:pPr algn="just">
              <a:defRPr/>
            </a:pPr>
            <a:r>
              <a:rPr lang="en-IN" kern="0" dirty="0">
                <a:latin typeface="+mj-lt"/>
              </a:rPr>
              <a:t>1. Start with Total Addressable market- </a:t>
            </a:r>
          </a:p>
          <a:p>
            <a:pPr algn="just">
              <a:defRPr/>
            </a:pPr>
            <a:endParaRPr lang="en-IN" kern="0" dirty="0">
              <a:latin typeface="+mj-lt"/>
            </a:endParaRPr>
          </a:p>
          <a:p>
            <a:pPr algn="just">
              <a:defRPr/>
            </a:pPr>
            <a:r>
              <a:rPr lang="en-US" dirty="0"/>
              <a:t>TAM refers to the total market demand for a product or service.</a:t>
            </a:r>
          </a:p>
          <a:p>
            <a:pPr algn="just">
              <a:defRPr/>
            </a:pPr>
            <a:r>
              <a:rPr lang="en-IN" kern="0" dirty="0">
                <a:latin typeface="+mj-lt"/>
              </a:rPr>
              <a:t> </a:t>
            </a:r>
            <a:r>
              <a:rPr lang="en-US" dirty="0">
                <a:latin typeface="+mj-lt"/>
              </a:rPr>
              <a:t>If you’re entering a pre-existing space (like small business banking) you can research it and provide credible sources or reference points on how you arrived at the TAM.  If you’re creating a new product or space (like Slack), you can estimate the number of customers that would want your product and approximate how much you could charge them.</a:t>
            </a:r>
          </a:p>
          <a:p>
            <a:pPr algn="just">
              <a:defRPr/>
            </a:pPr>
            <a:endParaRPr lang="en-US" dirty="0">
              <a:latin typeface="+mj-lt"/>
            </a:endParaRPr>
          </a:p>
          <a:p>
            <a:pPr algn="just">
              <a:defRPr/>
            </a:pPr>
            <a:r>
              <a:rPr lang="en-US" dirty="0"/>
              <a:t>2. Take your target market (SAM), within that TAM, which varies depending on geography and other logistical factors. Determine the penetration potential of your target market. This is the portion of the market you can reasonably compete with……………………………..</a:t>
            </a:r>
          </a:p>
          <a:p>
            <a:pPr algn="just">
              <a:defRPr/>
            </a:pPr>
            <a:endParaRPr lang="en-US" dirty="0">
              <a:latin typeface="+mj-lt"/>
            </a:endParaRPr>
          </a:p>
          <a:p>
            <a:pPr algn="just">
              <a:defRPr/>
            </a:pPr>
            <a:r>
              <a:rPr lang="en-US" dirty="0"/>
              <a:t>3.By conducting research with existing competitors, distributors etc., understand the likely penetration rate………………….</a:t>
            </a:r>
          </a:p>
          <a:p>
            <a:pPr algn="just">
              <a:defRPr/>
            </a:pPr>
            <a:endParaRPr lang="en-US" dirty="0"/>
          </a:p>
          <a:p>
            <a:pPr algn="just">
              <a:defRPr/>
            </a:pPr>
            <a:r>
              <a:rPr lang="en-US" dirty="0"/>
              <a:t>4. Multiply target market by penetration rate to find your market size…………………….</a:t>
            </a:r>
          </a:p>
          <a:p>
            <a:pPr algn="just">
              <a:defRPr/>
            </a:pPr>
            <a:endParaRPr lang="en-US" dirty="0">
              <a:latin typeface="+mj-lt"/>
            </a:endParaRPr>
          </a:p>
          <a:p>
            <a:pPr algn="ctr">
              <a:defRPr/>
            </a:pPr>
            <a:r>
              <a:rPr lang="en-IN" sz="2700" kern="0" dirty="0">
                <a:solidFill>
                  <a:prstClr val="white"/>
                </a:solidFill>
                <a:latin typeface="Calibri" panose="020F0502020204030204"/>
              </a:rPr>
              <a:t> </a:t>
            </a:r>
          </a:p>
        </p:txBody>
      </p:sp>
      <p:sp>
        <p:nvSpPr>
          <p:cNvPr id="22" name="TextBox 21"/>
          <p:cNvSpPr txBox="1"/>
          <p:nvPr/>
        </p:nvSpPr>
        <p:spPr>
          <a:xfrm>
            <a:off x="285688" y="285716"/>
            <a:ext cx="5675840" cy="1200327"/>
          </a:xfrm>
          <a:prstGeom prst="rect">
            <a:avLst/>
          </a:prstGeom>
          <a:noFill/>
        </p:spPr>
        <p:txBody>
          <a:bodyPr wrap="square" lIns="91439" tIns="45719" rIns="91439" bIns="45719" rtlCol="0">
            <a:spAutoFit/>
          </a:bodyPr>
          <a:lstStyle/>
          <a:p>
            <a:pPr defTabSz="685795"/>
            <a:r>
              <a:rPr lang="en-US" sz="3600" b="1" dirty="0">
                <a:solidFill>
                  <a:prstClr val="black">
                    <a:lumMod val="85000"/>
                    <a:lumOff val="15000"/>
                  </a:prstClr>
                </a:solidFill>
                <a:latin typeface="Montserrat"/>
              </a:rPr>
              <a:t>Market Size Estimation </a:t>
            </a:r>
          </a:p>
        </p:txBody>
      </p:sp>
      <p:sp>
        <p:nvSpPr>
          <p:cNvPr id="16" name="Rectangle 15"/>
          <p:cNvSpPr/>
          <p:nvPr/>
        </p:nvSpPr>
        <p:spPr>
          <a:xfrm>
            <a:off x="6140614" y="4958835"/>
            <a:ext cx="248784" cy="369330"/>
          </a:xfrm>
          <a:prstGeom prst="rect">
            <a:avLst/>
          </a:prstGeom>
        </p:spPr>
        <p:txBody>
          <a:bodyPr wrap="none" lIns="91439" tIns="45719" rIns="91439" bIns="45719">
            <a:spAutoFit/>
          </a:bodyPr>
          <a:lstStyle/>
          <a:p>
            <a:r>
              <a:rPr lang="en-US" dirty="0">
                <a:solidFill>
                  <a:srgbClr val="2E475D"/>
                </a:solidFill>
                <a:latin typeface="Lexend Deca"/>
              </a:rPr>
              <a:t>.</a:t>
            </a:r>
            <a:endParaRPr lang="en-US" dirty="0"/>
          </a:p>
        </p:txBody>
      </p:sp>
      <p:sp>
        <p:nvSpPr>
          <p:cNvPr id="10" name="TextBox 9"/>
          <p:cNvSpPr txBox="1"/>
          <p:nvPr/>
        </p:nvSpPr>
        <p:spPr>
          <a:xfrm>
            <a:off x="2071638" y="9429780"/>
            <a:ext cx="12858840" cy="446274"/>
          </a:xfrm>
          <a:prstGeom prst="rect">
            <a:avLst/>
          </a:prstGeom>
          <a:noFill/>
        </p:spPr>
        <p:txBody>
          <a:bodyPr wrap="square" lIns="91439" tIns="45719" rIns="91439" bIns="45719" rtlCol="0">
            <a:spAutoFit/>
          </a:bodyPr>
          <a:lstStyle/>
          <a:p>
            <a:pPr defTabSz="685795"/>
            <a:r>
              <a:rPr lang="en-US" sz="2300" b="1" dirty="0">
                <a:solidFill>
                  <a:prstClr val="black">
                    <a:lumMod val="85000"/>
                    <a:lumOff val="15000"/>
                  </a:prstClr>
                </a:solidFill>
                <a:latin typeface="Montserrat"/>
              </a:rPr>
              <a:t>https://www.statista.com/outlook/cmo/apparel/men-s-apparel/t-shirts/india</a:t>
            </a:r>
          </a:p>
        </p:txBody>
      </p:sp>
      <p:pic>
        <p:nvPicPr>
          <p:cNvPr id="3" name="Picture 2">
            <a:extLst>
              <a:ext uri="{FF2B5EF4-FFF2-40B4-BE49-F238E27FC236}">
                <a16:creationId xmlns:a16="http://schemas.microsoft.com/office/drawing/2014/main" id="{8AF2A90D-11BF-096B-08FE-66932DD27EA9}"/>
              </a:ext>
            </a:extLst>
          </p:cNvPr>
          <p:cNvPicPr>
            <a:picLocks noChangeAspect="1"/>
          </p:cNvPicPr>
          <p:nvPr/>
        </p:nvPicPr>
        <p:blipFill>
          <a:blip r:embed="rId7"/>
          <a:stretch>
            <a:fillRect/>
          </a:stretch>
        </p:blipFill>
        <p:spPr>
          <a:xfrm>
            <a:off x="16242729" y="129532"/>
            <a:ext cx="1499746" cy="1585097"/>
          </a:xfrm>
          <a:prstGeom prst="rect">
            <a:avLst/>
          </a:prstGeom>
        </p:spPr>
      </p:pic>
    </p:spTree>
    <p:extLst>
      <p:ext uri="{BB962C8B-B14F-4D97-AF65-F5344CB8AC3E}">
        <p14:creationId xmlns:p14="http://schemas.microsoft.com/office/powerpoint/2010/main" val="1189678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4769112" y="1955331"/>
            <a:ext cx="8991380" cy="2508377"/>
          </a:xfrm>
          <a:prstGeom prst="rect">
            <a:avLst/>
          </a:prstGeom>
        </p:spPr>
        <p:style>
          <a:lnRef idx="1">
            <a:schemeClr val="dk1"/>
          </a:lnRef>
          <a:fillRef idx="2">
            <a:schemeClr val="dk1"/>
          </a:fillRef>
          <a:effectRef idx="1">
            <a:schemeClr val="dk1"/>
          </a:effectRef>
          <a:fontRef idx="minor">
            <a:schemeClr val="dk1"/>
          </a:fontRef>
        </p:style>
        <p:txBody>
          <a:bodyPr wrap="square" lIns="91439" tIns="45719" rIns="91439" bIns="45719">
            <a:spAutoFit/>
          </a:bodyPr>
          <a:lstStyle/>
          <a:p>
            <a:pPr defTabSz="1371568"/>
            <a:r>
              <a:rPr lang="en-US" sz="2700" b="1" dirty="0">
                <a:solidFill>
                  <a:schemeClr val="tx1">
                    <a:lumMod val="75000"/>
                    <a:lumOff val="25000"/>
                  </a:schemeClr>
                </a:solidFill>
                <a:latin typeface="Calibri" panose="020F0502020204030204"/>
              </a:rPr>
              <a:t>Goals</a:t>
            </a:r>
          </a:p>
          <a:p>
            <a:pPr marL="457200" indent="-457200" defTabSz="1371568">
              <a:buFont typeface="Arial" panose="020B0604020202020204" pitchFamily="34" charset="0"/>
              <a:buChar char="•"/>
            </a:pPr>
            <a:r>
              <a:rPr lang="en-US" sz="2700" b="1" dirty="0">
                <a:solidFill>
                  <a:schemeClr val="tx1">
                    <a:lumMod val="75000"/>
                    <a:lumOff val="25000"/>
                  </a:schemeClr>
                </a:solidFill>
                <a:latin typeface="Calibri" panose="020F0502020204030204"/>
              </a:rPr>
              <a:t>Attain employment with a top-tier MNC and experience continuous professional growth.</a:t>
            </a:r>
          </a:p>
          <a:p>
            <a:pPr marL="457200" indent="-457200" defTabSz="1371568">
              <a:buFont typeface="Arial" panose="020B0604020202020204" pitchFamily="34" charset="0"/>
              <a:buChar char="•"/>
            </a:pPr>
            <a:r>
              <a:rPr lang="en-US" sz="2700" b="1" dirty="0">
                <a:solidFill>
                  <a:schemeClr val="tx1">
                    <a:lumMod val="75000"/>
                    <a:lumOff val="25000"/>
                  </a:schemeClr>
                </a:solidFill>
                <a:latin typeface="Calibri" panose="020F0502020204030204"/>
              </a:rPr>
              <a:t>Strive to express individuality and confidence through curated clothing choices.</a:t>
            </a:r>
          </a:p>
          <a:p>
            <a:pPr defTabSz="1371568"/>
            <a:endParaRPr lang="en-US" sz="1100" b="1" dirty="0">
              <a:solidFill>
                <a:schemeClr val="bg1"/>
              </a:solidFill>
              <a:latin typeface="Calibri" panose="020F0502020204030204"/>
            </a:endParaRPr>
          </a:p>
          <a:p>
            <a:pPr defTabSz="1371568"/>
            <a:endParaRPr lang="en-US" sz="1100" b="1" dirty="0">
              <a:solidFill>
                <a:schemeClr val="bg1"/>
              </a:solidFill>
              <a:latin typeface="Calibri" panose="020F0502020204030204"/>
            </a:endParaRPr>
          </a:p>
        </p:txBody>
      </p:sp>
      <p:sp>
        <p:nvSpPr>
          <p:cNvPr id="27" name="Rectangle 26"/>
          <p:cNvSpPr/>
          <p:nvPr/>
        </p:nvSpPr>
        <p:spPr>
          <a:xfrm>
            <a:off x="4745918" y="4695758"/>
            <a:ext cx="9144166" cy="183126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91439" tIns="45719" rIns="91439" bIns="45719">
            <a:spAutoFit/>
          </a:bodyPr>
          <a:lstStyle/>
          <a:p>
            <a:pPr defTabSz="1371568"/>
            <a:r>
              <a:rPr lang="en-US" sz="2700" b="1" dirty="0">
                <a:solidFill>
                  <a:schemeClr val="bg1"/>
                </a:solidFill>
                <a:latin typeface="Calibri" panose="020F0502020204030204"/>
              </a:rPr>
              <a:t>Frustrations</a:t>
            </a:r>
          </a:p>
          <a:p>
            <a:pPr marL="457200" indent="-457200" defTabSz="1371568">
              <a:buFont typeface="Arial" panose="020B0604020202020204" pitchFamily="34" charset="0"/>
              <a:buChar char="•"/>
            </a:pPr>
            <a:r>
              <a:rPr lang="en-US" sz="2700" b="1" dirty="0">
                <a:solidFill>
                  <a:schemeClr val="bg1"/>
                </a:solidFill>
                <a:latin typeface="Calibri" panose="020F0502020204030204"/>
              </a:rPr>
              <a:t> Frustration arises from outdated designs</a:t>
            </a:r>
          </a:p>
          <a:p>
            <a:pPr marL="457200" indent="-457200" defTabSz="1371568">
              <a:buFont typeface="Arial" panose="020B0604020202020204" pitchFamily="34" charset="0"/>
              <a:buChar char="•"/>
            </a:pPr>
            <a:r>
              <a:rPr lang="en-US" sz="2700" b="1" dirty="0">
                <a:solidFill>
                  <a:schemeClr val="bg1"/>
                </a:solidFill>
                <a:latin typeface="Calibri" panose="020F0502020204030204"/>
              </a:rPr>
              <a:t> leading to exhaustion in the search for suitable options. </a:t>
            </a:r>
          </a:p>
          <a:p>
            <a:pPr defTabSz="1371568"/>
            <a:endParaRPr lang="en-US" sz="1100" b="1" dirty="0">
              <a:solidFill>
                <a:schemeClr val="bg1"/>
              </a:solidFill>
              <a:latin typeface="Calibri" panose="020F0502020204030204"/>
            </a:endParaRPr>
          </a:p>
          <a:p>
            <a:pPr defTabSz="1371568"/>
            <a:endParaRPr lang="en-US" sz="2100" dirty="0">
              <a:solidFill>
                <a:schemeClr val="bg1"/>
              </a:solidFill>
              <a:latin typeface="Calibri" panose="020F0502020204030204"/>
            </a:endParaRPr>
          </a:p>
        </p:txBody>
      </p:sp>
      <p:sp>
        <p:nvSpPr>
          <p:cNvPr id="28" name="Rectangle 27"/>
          <p:cNvSpPr/>
          <p:nvPr/>
        </p:nvSpPr>
        <p:spPr>
          <a:xfrm>
            <a:off x="4701208" y="6849579"/>
            <a:ext cx="9188876" cy="2585321"/>
          </a:xfrm>
          <a:prstGeom prst="rect">
            <a:avLst/>
          </a:prstGeom>
        </p:spPr>
        <p:style>
          <a:lnRef idx="1">
            <a:schemeClr val="accent6"/>
          </a:lnRef>
          <a:fillRef idx="2">
            <a:schemeClr val="accent6"/>
          </a:fillRef>
          <a:effectRef idx="1">
            <a:schemeClr val="accent6"/>
          </a:effectRef>
          <a:fontRef idx="minor">
            <a:schemeClr val="dk1"/>
          </a:fontRef>
        </p:style>
        <p:txBody>
          <a:bodyPr wrap="square" lIns="91439" tIns="45719" rIns="91439" bIns="45719">
            <a:spAutoFit/>
          </a:bodyPr>
          <a:lstStyle/>
          <a:p>
            <a:pPr algn="just" defTabSz="1371568"/>
            <a:r>
              <a:rPr lang="en-US" sz="2700" b="1" dirty="0">
                <a:solidFill>
                  <a:srgbClr val="FD9F4D"/>
                </a:solidFill>
                <a:latin typeface="Calibri" panose="020F0502020204030204"/>
              </a:rPr>
              <a:t>Bio</a:t>
            </a:r>
          </a:p>
          <a:p>
            <a:pPr algn="just" defTabSz="1371579"/>
            <a:r>
              <a:rPr lang="en-US" sz="2700" b="1" dirty="0">
                <a:solidFill>
                  <a:schemeClr val="tx1"/>
                </a:solidFill>
                <a:latin typeface="Calibri" panose="020F0502020204030204"/>
              </a:rPr>
              <a:t>Hailing from the culturally vibrant town of </a:t>
            </a:r>
            <a:r>
              <a:rPr lang="en-US" sz="2700" b="1" dirty="0" err="1">
                <a:solidFill>
                  <a:schemeClr val="tx1"/>
                </a:solidFill>
                <a:latin typeface="Calibri" panose="020F0502020204030204"/>
              </a:rPr>
              <a:t>Kumbakonam</a:t>
            </a:r>
            <a:r>
              <a:rPr lang="en-US" sz="2700" b="1" dirty="0">
                <a:solidFill>
                  <a:schemeClr val="tx1"/>
                </a:solidFill>
                <a:latin typeface="Calibri" panose="020F0502020204030204"/>
              </a:rPr>
              <a:t>, he is currently dedicated to pursuing a </a:t>
            </a:r>
            <a:r>
              <a:rPr lang="en-US" sz="2700" b="1" dirty="0" err="1">
                <a:solidFill>
                  <a:schemeClr val="tx1"/>
                </a:solidFill>
                <a:latin typeface="Calibri" panose="020F0502020204030204"/>
              </a:rPr>
              <a:t>B.Tech</a:t>
            </a:r>
            <a:r>
              <a:rPr lang="en-US" sz="2700" b="1" dirty="0">
                <a:solidFill>
                  <a:schemeClr val="tx1"/>
                </a:solidFill>
                <a:latin typeface="Calibri" panose="020F0502020204030204"/>
              </a:rPr>
              <a:t> in Computer Science and Engineering while actively refining his programming abilities. Residing in a hostel to facilitate his academic journey, he remains deeply immersed in his educational pursuits.</a:t>
            </a:r>
          </a:p>
        </p:txBody>
      </p:sp>
      <p:sp>
        <p:nvSpPr>
          <p:cNvPr id="31" name="Rectangle 30"/>
          <p:cNvSpPr/>
          <p:nvPr/>
        </p:nvSpPr>
        <p:spPr>
          <a:xfrm>
            <a:off x="14201355" y="5819142"/>
            <a:ext cx="1870831" cy="507829"/>
          </a:xfrm>
          <a:prstGeom prst="rect">
            <a:avLst/>
          </a:prstGeom>
        </p:spPr>
        <p:txBody>
          <a:bodyPr wrap="none" lIns="91439" tIns="45719" rIns="91439" bIns="45719">
            <a:spAutoFit/>
          </a:bodyPr>
          <a:lstStyle/>
          <a:p>
            <a:pPr defTabSz="1371568"/>
            <a:r>
              <a:rPr lang="en-US" sz="2700" b="1" dirty="0">
                <a:solidFill>
                  <a:srgbClr val="FD9F4D"/>
                </a:solidFill>
                <a:latin typeface="Calibri" panose="020F0502020204030204"/>
              </a:rPr>
              <a:t>Personality </a:t>
            </a:r>
          </a:p>
        </p:txBody>
      </p:sp>
      <p:sp>
        <p:nvSpPr>
          <p:cNvPr id="34" name="Rectangle 33"/>
          <p:cNvSpPr/>
          <p:nvPr/>
        </p:nvSpPr>
        <p:spPr>
          <a:xfrm>
            <a:off x="14262343" y="1878285"/>
            <a:ext cx="1999007" cy="507829"/>
          </a:xfrm>
          <a:prstGeom prst="rect">
            <a:avLst/>
          </a:prstGeom>
        </p:spPr>
        <p:txBody>
          <a:bodyPr wrap="none" lIns="91439" tIns="45719" rIns="91439" bIns="45719">
            <a:spAutoFit/>
          </a:bodyPr>
          <a:lstStyle/>
          <a:p>
            <a:pPr defTabSz="1371568"/>
            <a:r>
              <a:rPr lang="en-US" sz="2700" b="1" dirty="0">
                <a:solidFill>
                  <a:srgbClr val="FD9F4D"/>
                </a:solidFill>
                <a:latin typeface="Calibri" panose="020F0502020204030204"/>
              </a:rPr>
              <a:t>Motivations </a:t>
            </a:r>
          </a:p>
        </p:txBody>
      </p:sp>
      <p:sp>
        <p:nvSpPr>
          <p:cNvPr id="25" name="Rounded Rectangle 24"/>
          <p:cNvSpPr/>
          <p:nvPr/>
        </p:nvSpPr>
        <p:spPr>
          <a:xfrm>
            <a:off x="6270303" y="1285997"/>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lIns="91439" tIns="45719" rIns="91439" bIns="45719" rtlCol="0" anchor="ctr"/>
          <a:lstStyle/>
          <a:p>
            <a:pPr algn="ctr" defTabSz="1371568"/>
            <a:r>
              <a:rPr lang="en-US" sz="1600" dirty="0">
                <a:solidFill>
                  <a:schemeClr val="tx1"/>
                </a:solidFill>
                <a:latin typeface="Calibri" panose="020F0502020204030204"/>
              </a:rPr>
              <a:t>Open-minded</a:t>
            </a:r>
          </a:p>
        </p:txBody>
      </p:sp>
      <p:pic>
        <p:nvPicPr>
          <p:cNvPr id="13" name="Picture 12"/>
          <p:cNvPicPr>
            <a:picLocks noChangeAspect="1"/>
          </p:cNvPicPr>
          <p:nvPr/>
        </p:nvPicPr>
        <p:blipFill>
          <a:blip r:embed="rId3">
            <a:duotone>
              <a:prstClr val="black"/>
              <a:schemeClr val="accent6">
                <a:tint val="45000"/>
                <a:satMod val="400000"/>
              </a:schemeClr>
            </a:duotone>
          </a:blip>
          <a:stretch>
            <a:fillRect/>
          </a:stretch>
        </p:blipFill>
        <p:spPr>
          <a:xfrm>
            <a:off x="14295506" y="6239019"/>
            <a:ext cx="3553360" cy="2187914"/>
          </a:xfrm>
          <a:prstGeom prst="rect">
            <a:avLst/>
          </a:prstGeom>
        </p:spPr>
      </p:pic>
      <p:pic>
        <p:nvPicPr>
          <p:cNvPr id="15" name="Picture 14"/>
          <p:cNvPicPr>
            <a:picLocks noChangeAspect="1"/>
          </p:cNvPicPr>
          <p:nvPr/>
        </p:nvPicPr>
        <p:blipFill>
          <a:blip r:embed="rId4">
            <a:duotone>
              <a:prstClr val="black"/>
              <a:schemeClr val="accent3">
                <a:tint val="45000"/>
                <a:satMod val="400000"/>
              </a:schemeClr>
            </a:duotone>
          </a:blip>
          <a:stretch>
            <a:fillRect/>
          </a:stretch>
        </p:blipFill>
        <p:spPr>
          <a:xfrm>
            <a:off x="14383034" y="2319180"/>
            <a:ext cx="3254332" cy="2498558"/>
          </a:xfrm>
          <a:prstGeom prst="rect">
            <a:avLst/>
          </a:prstGeom>
        </p:spPr>
      </p:pic>
      <p:sp>
        <p:nvSpPr>
          <p:cNvPr id="16" name="Rectangle 15"/>
          <p:cNvSpPr/>
          <p:nvPr/>
        </p:nvSpPr>
        <p:spPr>
          <a:xfrm>
            <a:off x="304076" y="4535533"/>
            <a:ext cx="4093840" cy="258532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lIns="91439" tIns="45719" rIns="91439" bIns="45719" rtlCol="0" anchor="ctr"/>
          <a:lstStyle/>
          <a:p>
            <a:pPr defTabSz="1371568"/>
            <a:r>
              <a:rPr lang="en-US" sz="2100" b="1" dirty="0">
                <a:solidFill>
                  <a:prstClr val="white"/>
                </a:solidFill>
                <a:latin typeface="Calibri" panose="020F0502020204030204"/>
              </a:rPr>
              <a:t>Ethos </a:t>
            </a:r>
          </a:p>
          <a:p>
            <a:pPr defTabSz="1371568"/>
            <a:endParaRPr lang="en-US" sz="2100" b="1" dirty="0">
              <a:solidFill>
                <a:prstClr val="white"/>
              </a:solidFill>
              <a:latin typeface="Calibri" panose="020F0502020204030204"/>
            </a:endParaRPr>
          </a:p>
          <a:p>
            <a:pPr defTabSz="1371568"/>
            <a:r>
              <a:rPr lang="en-US" sz="2000" b="1" dirty="0">
                <a:solidFill>
                  <a:prstClr val="white"/>
                </a:solidFill>
                <a:latin typeface="Calibri" panose="020F0502020204030204"/>
              </a:rPr>
              <a:t>Top student, socially responsible, excels academically, and drives positive change through community service.</a:t>
            </a:r>
          </a:p>
          <a:p>
            <a:pPr defTabSz="1371568"/>
            <a:endParaRPr lang="en-US" sz="2100" b="1" dirty="0">
              <a:solidFill>
                <a:prstClr val="white"/>
              </a:solidFill>
              <a:latin typeface="Calibri" panose="020F0502020204030204"/>
            </a:endParaRPr>
          </a:p>
        </p:txBody>
      </p:sp>
      <p:sp>
        <p:nvSpPr>
          <p:cNvPr id="17" name="TextBox 16"/>
          <p:cNvSpPr txBox="1"/>
          <p:nvPr/>
        </p:nvSpPr>
        <p:spPr>
          <a:xfrm>
            <a:off x="486196" y="339099"/>
            <a:ext cx="11351228" cy="840228"/>
          </a:xfrm>
          <a:prstGeom prst="rect">
            <a:avLst/>
          </a:prstGeom>
          <a:noFill/>
        </p:spPr>
        <p:txBody>
          <a:bodyPr wrap="square" lIns="91439" tIns="45719" rIns="91439" bIns="45719" rtlCol="0">
            <a:spAutoFit/>
          </a:bodyPr>
          <a:lstStyle/>
          <a:p>
            <a:pPr defTabSz="1371602">
              <a:lnSpc>
                <a:spcPct val="90000"/>
              </a:lnSpc>
              <a:spcBef>
                <a:spcPct val="0"/>
              </a:spcBef>
            </a:pPr>
            <a:r>
              <a:rPr lang="en-US" sz="5400" b="1" dirty="0"/>
              <a:t>Customer Persona</a:t>
            </a:r>
          </a:p>
        </p:txBody>
      </p:sp>
      <p:sp>
        <p:nvSpPr>
          <p:cNvPr id="18" name="Rounded Rectangle 17"/>
          <p:cNvSpPr/>
          <p:nvPr/>
        </p:nvSpPr>
        <p:spPr>
          <a:xfrm>
            <a:off x="8777731" y="1285995"/>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lIns="91439" tIns="45719" rIns="91439" bIns="45719" rtlCol="0" anchor="ctr"/>
          <a:lstStyle/>
          <a:p>
            <a:pPr algn="ctr" defTabSz="1371568"/>
            <a:r>
              <a:rPr lang="en-US" sz="1600" dirty="0">
                <a:solidFill>
                  <a:schemeClr val="tx1"/>
                </a:solidFill>
                <a:latin typeface="Calibri" panose="020F0502020204030204"/>
              </a:rPr>
              <a:t>Ambivert</a:t>
            </a:r>
          </a:p>
        </p:txBody>
      </p:sp>
      <p:sp>
        <p:nvSpPr>
          <p:cNvPr id="19" name="Rounded Rectangle 18"/>
          <p:cNvSpPr/>
          <p:nvPr/>
        </p:nvSpPr>
        <p:spPr>
          <a:xfrm>
            <a:off x="11285159" y="1285994"/>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lIns="91439" tIns="45719" rIns="91439" bIns="45719" rtlCol="0" anchor="ctr"/>
          <a:lstStyle/>
          <a:p>
            <a:pPr algn="ctr" defTabSz="1371568"/>
            <a:r>
              <a:rPr lang="en-US" sz="1600" dirty="0">
                <a:solidFill>
                  <a:schemeClr val="tx1"/>
                </a:solidFill>
                <a:latin typeface="Calibri" panose="020F0502020204030204"/>
              </a:rPr>
              <a:t>Optimistic</a:t>
            </a:r>
          </a:p>
        </p:txBody>
      </p:sp>
      <p:sp>
        <p:nvSpPr>
          <p:cNvPr id="8" name="Oval 7">
            <a:extLst>
              <a:ext uri="{FF2B5EF4-FFF2-40B4-BE49-F238E27FC236}">
                <a16:creationId xmlns:a16="http://schemas.microsoft.com/office/drawing/2014/main" id="{D266D897-F8ED-A892-F744-48ED151F0D2C}"/>
              </a:ext>
            </a:extLst>
          </p:cNvPr>
          <p:cNvSpPr/>
          <p:nvPr/>
        </p:nvSpPr>
        <p:spPr>
          <a:xfrm>
            <a:off x="982844" y="1719398"/>
            <a:ext cx="2736304" cy="2421797"/>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tx1">
                <a:lumMod val="95000"/>
                <a:lumOff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788F24E-2BD7-E988-8AFB-10D9D349C64E}"/>
              </a:ext>
            </a:extLst>
          </p:cNvPr>
          <p:cNvSpPr/>
          <p:nvPr/>
        </p:nvSpPr>
        <p:spPr>
          <a:xfrm>
            <a:off x="304076" y="7486606"/>
            <a:ext cx="4093840" cy="1228036"/>
          </a:xfrm>
          <a:prstGeom prst="rect">
            <a:avLst/>
          </a:prstGeom>
          <a:ln/>
        </p:spPr>
        <p:style>
          <a:lnRef idx="3">
            <a:schemeClr val="lt1"/>
          </a:lnRef>
          <a:fillRef idx="1">
            <a:schemeClr val="accent3"/>
          </a:fillRef>
          <a:effectRef idx="1">
            <a:schemeClr val="accent3"/>
          </a:effectRef>
          <a:fontRef idx="minor">
            <a:schemeClr val="lt1"/>
          </a:fontRef>
        </p:style>
        <p:txBody>
          <a:bodyPr lIns="91439" tIns="45719" rIns="91439" bIns="45719" rtlCol="0" anchor="ctr"/>
          <a:lstStyle/>
          <a:p>
            <a:pPr defTabSz="1371568"/>
            <a:r>
              <a:rPr lang="en-US" sz="2100" b="1" dirty="0">
                <a:solidFill>
                  <a:prstClr val="white"/>
                </a:solidFill>
                <a:latin typeface="Calibri" panose="020F0502020204030204"/>
              </a:rPr>
              <a:t>Age: 20</a:t>
            </a:r>
          </a:p>
          <a:p>
            <a:pPr defTabSz="1371568"/>
            <a:r>
              <a:rPr lang="en-US" sz="2100" b="1" dirty="0">
                <a:solidFill>
                  <a:prstClr val="white"/>
                </a:solidFill>
                <a:latin typeface="Calibri" panose="020F0502020204030204"/>
              </a:rPr>
              <a:t>Occupation: Student 	</a:t>
            </a:r>
          </a:p>
          <a:p>
            <a:pPr defTabSz="1371568"/>
            <a:r>
              <a:rPr lang="en-US" sz="2100" b="1" dirty="0">
                <a:solidFill>
                  <a:prstClr val="white"/>
                </a:solidFill>
                <a:latin typeface="Calibri" panose="020F0502020204030204"/>
              </a:rPr>
              <a:t>Location: Chennai</a:t>
            </a:r>
          </a:p>
        </p:txBody>
      </p:sp>
    </p:spTree>
    <p:extLst>
      <p:ext uri="{BB962C8B-B14F-4D97-AF65-F5344CB8AC3E}">
        <p14:creationId xmlns:p14="http://schemas.microsoft.com/office/powerpoint/2010/main" val="3605066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738846" y="546241"/>
            <a:ext cx="12338484" cy="1115690"/>
          </a:xfrm>
          <a:prstGeom prst="rect">
            <a:avLst/>
          </a:prstGeom>
        </p:spPr>
        <p:txBody>
          <a:bodyPr wrap="square" lIns="0" tIns="0" rIns="0" bIns="0" rtlCol="0" anchor="t">
            <a:spAutoFit/>
          </a:bodyPr>
          <a:lstStyle/>
          <a:p>
            <a:pPr>
              <a:lnSpc>
                <a:spcPts val="8746"/>
              </a:lnSpc>
            </a:pPr>
            <a:r>
              <a:rPr lang="en-US" sz="5400" b="1" dirty="0"/>
              <a:t>Value Proposition Canvas </a:t>
            </a:r>
          </a:p>
        </p:txBody>
      </p:sp>
      <p:grpSp>
        <p:nvGrpSpPr>
          <p:cNvPr id="7" name="Group 6"/>
          <p:cNvGrpSpPr/>
          <p:nvPr/>
        </p:nvGrpSpPr>
        <p:grpSpPr>
          <a:xfrm>
            <a:off x="1257990" y="2000229"/>
            <a:ext cx="14853912" cy="6245238"/>
            <a:chOff x="993509" y="1176896"/>
            <a:chExt cx="6761307" cy="3637197"/>
          </a:xfrm>
        </p:grpSpPr>
        <p:grpSp>
          <p:nvGrpSpPr>
            <p:cNvPr id="14" name="Group 13"/>
            <p:cNvGrpSpPr/>
            <p:nvPr/>
          </p:nvGrpSpPr>
          <p:grpSpPr>
            <a:xfrm>
              <a:off x="2991814" y="2419869"/>
              <a:ext cx="2911566" cy="1229114"/>
              <a:chOff x="587719" y="1125830"/>
              <a:chExt cx="4350054" cy="1835386"/>
            </a:xfrm>
          </p:grpSpPr>
          <p:grpSp>
            <p:nvGrpSpPr>
              <p:cNvPr id="15" name="Group 14"/>
              <p:cNvGrpSpPr/>
              <p:nvPr/>
            </p:nvGrpSpPr>
            <p:grpSpPr>
              <a:xfrm>
                <a:off x="2884450" y="1125830"/>
                <a:ext cx="2053323" cy="1828800"/>
                <a:chOff x="2884450" y="1125830"/>
                <a:chExt cx="2053323" cy="1828800"/>
              </a:xfrm>
            </p:grpSpPr>
            <p:sp>
              <p:nvSpPr>
                <p:cNvPr id="25" name="Flowchart: Connector 24"/>
                <p:cNvSpPr/>
                <p:nvPr/>
              </p:nvSpPr>
              <p:spPr>
                <a:xfrm>
                  <a:off x="2884450" y="1125830"/>
                  <a:ext cx="1828800" cy="1828800"/>
                </a:xfrm>
                <a:prstGeom prst="flowChartConnector">
                  <a:avLst/>
                </a:prstGeom>
                <a:solidFill>
                  <a:srgbClr val="FFC000">
                    <a:lumMod val="60000"/>
                    <a:lumOff val="40000"/>
                  </a:srgbClr>
                </a:solidFill>
                <a:ln w="6350" cap="flat" cmpd="sng" algn="ctr">
                  <a:noFill/>
                  <a:prstDash val="solid"/>
                  <a:miter lim="800000"/>
                </a:ln>
                <a:effectLst/>
              </p:spPr>
              <p:txBody>
                <a:bodyPr rtlCol="0" anchor="ctr"/>
                <a:lstStyle/>
                <a:p>
                  <a:pPr algn="ctr" defTabSz="685777">
                    <a:defRPr/>
                  </a:pPr>
                  <a:endParaRPr lang="en-US" sz="3200" kern="0" dirty="0">
                    <a:solidFill>
                      <a:prstClr val="black"/>
                    </a:solidFill>
                    <a:latin typeface="Calibri" panose="020F0502020204030204"/>
                    <a:sym typeface="Arial"/>
                  </a:endParaRPr>
                </a:p>
              </p:txBody>
            </p:sp>
            <p:sp>
              <p:nvSpPr>
                <p:cNvPr id="26" name="Flowchart: Connector 25"/>
                <p:cNvSpPr/>
                <p:nvPr/>
              </p:nvSpPr>
              <p:spPr>
                <a:xfrm>
                  <a:off x="3646450" y="1887830"/>
                  <a:ext cx="304800" cy="304800"/>
                </a:xfrm>
                <a:prstGeom prst="flowChartConnector">
                  <a:avLst/>
                </a:prstGeom>
                <a:solidFill>
                  <a:srgbClr val="FFC000"/>
                </a:solidFill>
                <a:ln w="12700" cap="flat" cmpd="sng" algn="ctr">
                  <a:noFill/>
                  <a:prstDash val="solid"/>
                  <a:miter lim="800000"/>
                </a:ln>
                <a:effectLst/>
              </p:spPr>
              <p:txBody>
                <a:bodyPr rtlCol="0" anchor="ctr"/>
                <a:lstStyle/>
                <a:p>
                  <a:pPr algn="ctr" defTabSz="685777">
                    <a:defRPr/>
                  </a:pPr>
                  <a:endParaRPr lang="en-US" sz="3200" kern="0" dirty="0">
                    <a:solidFill>
                      <a:prstClr val="white"/>
                    </a:solidFill>
                    <a:latin typeface="Calibri" panose="020F0502020204030204"/>
                    <a:sym typeface="Arial"/>
                  </a:endParaRPr>
                </a:p>
              </p:txBody>
            </p:sp>
            <p:cxnSp>
              <p:nvCxnSpPr>
                <p:cNvPr id="27" name="Straight Arrow Connector 26"/>
                <p:cNvCxnSpPr>
                  <a:endCxn id="25" idx="2"/>
                </p:cNvCxnSpPr>
                <p:nvPr/>
              </p:nvCxnSpPr>
              <p:spPr>
                <a:xfrm flipH="1">
                  <a:off x="2884450" y="2040230"/>
                  <a:ext cx="762000" cy="0"/>
                </a:xfrm>
                <a:prstGeom prst="straightConnector1">
                  <a:avLst/>
                </a:prstGeom>
                <a:noFill/>
                <a:ln w="38100" cap="flat" cmpd="sng" algn="ctr">
                  <a:solidFill>
                    <a:srgbClr val="A5A5A5"/>
                  </a:solidFill>
                  <a:prstDash val="solid"/>
                  <a:miter lim="800000"/>
                  <a:tailEnd type="triangle"/>
                </a:ln>
                <a:effectLst/>
              </p:spPr>
            </p:cxnSp>
            <p:cxnSp>
              <p:nvCxnSpPr>
                <p:cNvPr id="28" name="Straight Connector 27"/>
                <p:cNvCxnSpPr>
                  <a:stCxn id="25" idx="7"/>
                  <a:endCxn id="26" idx="0"/>
                </p:cNvCxnSpPr>
                <p:nvPr/>
              </p:nvCxnSpPr>
              <p:spPr>
                <a:xfrm flipH="1">
                  <a:off x="3798850" y="1393652"/>
                  <a:ext cx="646578" cy="494178"/>
                </a:xfrm>
                <a:prstGeom prst="line">
                  <a:avLst/>
                </a:prstGeom>
                <a:noFill/>
                <a:ln w="28575" cap="flat" cmpd="sng" algn="ctr">
                  <a:solidFill>
                    <a:srgbClr val="A5A5A5"/>
                  </a:solidFill>
                  <a:prstDash val="solid"/>
                  <a:miter lim="800000"/>
                </a:ln>
                <a:effectLst/>
              </p:spPr>
            </p:cxnSp>
            <p:cxnSp>
              <p:nvCxnSpPr>
                <p:cNvPr id="29" name="Straight Connector 28"/>
                <p:cNvCxnSpPr>
                  <a:stCxn id="25" idx="5"/>
                  <a:endCxn id="26" idx="4"/>
                </p:cNvCxnSpPr>
                <p:nvPr/>
              </p:nvCxnSpPr>
              <p:spPr>
                <a:xfrm flipH="1" flipV="1">
                  <a:off x="3798850" y="2192630"/>
                  <a:ext cx="646578" cy="494178"/>
                </a:xfrm>
                <a:prstGeom prst="line">
                  <a:avLst/>
                </a:prstGeom>
                <a:noFill/>
                <a:ln w="28575" cap="flat" cmpd="sng" algn="ctr">
                  <a:solidFill>
                    <a:srgbClr val="A5A5A5"/>
                  </a:solidFill>
                  <a:prstDash val="solid"/>
                  <a:miter lim="800000"/>
                </a:ln>
                <a:effectLst/>
              </p:spPr>
            </p:cxnSp>
            <p:sp>
              <p:nvSpPr>
                <p:cNvPr id="30" name="TextBox 29"/>
                <p:cNvSpPr txBox="1"/>
                <p:nvPr/>
              </p:nvSpPr>
              <p:spPr>
                <a:xfrm>
                  <a:off x="4063533" y="1920026"/>
                  <a:ext cx="874240" cy="321196"/>
                </a:xfrm>
                <a:prstGeom prst="rect">
                  <a:avLst/>
                </a:prstGeom>
                <a:noFill/>
              </p:spPr>
              <p:txBody>
                <a:bodyPr wrap="square" rtlCol="0">
                  <a:spAutoFit/>
                </a:bodyPr>
                <a:lstStyle/>
                <a:p>
                  <a:pPr defTabSz="685777">
                    <a:defRPr/>
                  </a:pPr>
                  <a:r>
                    <a:rPr lang="en-US" b="1" kern="0" dirty="0">
                      <a:solidFill>
                        <a:srgbClr val="ED7D31">
                          <a:lumMod val="50000"/>
                        </a:srgbClr>
                      </a:solidFill>
                      <a:cs typeface="Arial"/>
                      <a:sym typeface="Arial"/>
                    </a:rPr>
                    <a:t>JOBS</a:t>
                  </a:r>
                </a:p>
              </p:txBody>
            </p:sp>
            <p:sp>
              <p:nvSpPr>
                <p:cNvPr id="31" name="TextBox 30"/>
                <p:cNvSpPr txBox="1"/>
                <p:nvPr/>
              </p:nvSpPr>
              <p:spPr>
                <a:xfrm>
                  <a:off x="3355370" y="2351186"/>
                  <a:ext cx="874240" cy="321196"/>
                </a:xfrm>
                <a:prstGeom prst="rect">
                  <a:avLst/>
                </a:prstGeom>
                <a:noFill/>
              </p:spPr>
              <p:txBody>
                <a:bodyPr wrap="square" rtlCol="0">
                  <a:spAutoFit/>
                </a:bodyPr>
                <a:lstStyle/>
                <a:p>
                  <a:pPr defTabSz="685777">
                    <a:defRPr/>
                  </a:pPr>
                  <a:r>
                    <a:rPr lang="en-US" b="1" kern="0" dirty="0">
                      <a:solidFill>
                        <a:srgbClr val="ED7D31">
                          <a:lumMod val="50000"/>
                        </a:srgbClr>
                      </a:solidFill>
                      <a:cs typeface="Arial"/>
                      <a:sym typeface="Arial"/>
                    </a:rPr>
                    <a:t>PAINS</a:t>
                  </a:r>
                </a:p>
              </p:txBody>
            </p:sp>
            <p:sp>
              <p:nvSpPr>
                <p:cNvPr id="32" name="TextBox 31"/>
                <p:cNvSpPr txBox="1"/>
                <p:nvPr/>
              </p:nvSpPr>
              <p:spPr>
                <a:xfrm>
                  <a:off x="3315382" y="1377593"/>
                  <a:ext cx="874240" cy="321196"/>
                </a:xfrm>
                <a:prstGeom prst="rect">
                  <a:avLst/>
                </a:prstGeom>
                <a:noFill/>
              </p:spPr>
              <p:txBody>
                <a:bodyPr wrap="square" rtlCol="0">
                  <a:spAutoFit/>
                </a:bodyPr>
                <a:lstStyle/>
                <a:p>
                  <a:pPr defTabSz="685777">
                    <a:defRPr/>
                  </a:pPr>
                  <a:r>
                    <a:rPr lang="en-US" b="1" kern="0" dirty="0">
                      <a:solidFill>
                        <a:srgbClr val="ED7D31">
                          <a:lumMod val="50000"/>
                        </a:srgbClr>
                      </a:solidFill>
                      <a:cs typeface="Arial"/>
                      <a:sym typeface="Arial"/>
                    </a:rPr>
                    <a:t>GAINS</a:t>
                  </a:r>
                </a:p>
              </p:txBody>
            </p:sp>
          </p:grpSp>
          <p:grpSp>
            <p:nvGrpSpPr>
              <p:cNvPr id="16" name="Group 15"/>
              <p:cNvGrpSpPr/>
              <p:nvPr/>
            </p:nvGrpSpPr>
            <p:grpSpPr>
              <a:xfrm>
                <a:off x="587719" y="1125830"/>
                <a:ext cx="2080915" cy="1835386"/>
                <a:chOff x="587719" y="1125830"/>
                <a:chExt cx="2080915" cy="1835386"/>
              </a:xfrm>
            </p:grpSpPr>
            <p:sp>
              <p:nvSpPr>
                <p:cNvPr id="17" name="Rectangle 16"/>
                <p:cNvSpPr/>
                <p:nvPr/>
              </p:nvSpPr>
              <p:spPr>
                <a:xfrm>
                  <a:off x="653143" y="1125830"/>
                  <a:ext cx="1828800" cy="1828800"/>
                </a:xfrm>
                <a:prstGeom prst="rect">
                  <a:avLst/>
                </a:prstGeom>
                <a:solidFill>
                  <a:srgbClr val="70AD47">
                    <a:lumMod val="60000"/>
                    <a:lumOff val="40000"/>
                  </a:srgbClr>
                </a:solidFill>
                <a:ln w="12700" cap="flat" cmpd="sng" algn="ctr">
                  <a:noFill/>
                  <a:prstDash val="solid"/>
                  <a:miter lim="800000"/>
                </a:ln>
                <a:effectLst/>
              </p:spPr>
              <p:txBody>
                <a:bodyPr rtlCol="0" anchor="ctr"/>
                <a:lstStyle/>
                <a:p>
                  <a:pPr algn="ctr" defTabSz="685777">
                    <a:defRPr/>
                  </a:pPr>
                  <a:endParaRPr lang="en-US" sz="3200" kern="0" dirty="0">
                    <a:solidFill>
                      <a:prstClr val="white"/>
                    </a:solidFill>
                    <a:latin typeface="Calibri" panose="020F0502020204030204"/>
                    <a:sym typeface="Arial"/>
                  </a:endParaRPr>
                </a:p>
              </p:txBody>
            </p:sp>
            <p:sp>
              <p:nvSpPr>
                <p:cNvPr id="18" name="Flowchart: Connector 17"/>
                <p:cNvSpPr/>
                <p:nvPr/>
              </p:nvSpPr>
              <p:spPr>
                <a:xfrm>
                  <a:off x="1415143" y="1891123"/>
                  <a:ext cx="304800" cy="304800"/>
                </a:xfrm>
                <a:prstGeom prst="flowChartConnector">
                  <a:avLst/>
                </a:prstGeom>
                <a:solidFill>
                  <a:srgbClr val="70AD47">
                    <a:lumMod val="75000"/>
                  </a:srgbClr>
                </a:solidFill>
                <a:ln w="12700" cap="flat" cmpd="sng" algn="ctr">
                  <a:noFill/>
                  <a:prstDash val="solid"/>
                  <a:miter lim="800000"/>
                </a:ln>
                <a:effectLst/>
              </p:spPr>
              <p:txBody>
                <a:bodyPr rtlCol="0" anchor="ctr"/>
                <a:lstStyle/>
                <a:p>
                  <a:pPr algn="ctr" defTabSz="685777">
                    <a:defRPr/>
                  </a:pPr>
                  <a:endParaRPr lang="en-US" sz="3200" kern="0" dirty="0">
                    <a:solidFill>
                      <a:prstClr val="white"/>
                    </a:solidFill>
                    <a:latin typeface="Calibri" panose="020F0502020204030204"/>
                    <a:sym typeface="Arial"/>
                  </a:endParaRPr>
                </a:p>
              </p:txBody>
            </p:sp>
            <p:cxnSp>
              <p:nvCxnSpPr>
                <p:cNvPr id="19" name="Straight Arrow Connector 18"/>
                <p:cNvCxnSpPr>
                  <a:endCxn id="17" idx="3"/>
                </p:cNvCxnSpPr>
                <p:nvPr/>
              </p:nvCxnSpPr>
              <p:spPr>
                <a:xfrm>
                  <a:off x="1738265" y="2040230"/>
                  <a:ext cx="743678" cy="0"/>
                </a:xfrm>
                <a:prstGeom prst="straightConnector1">
                  <a:avLst/>
                </a:prstGeom>
                <a:noFill/>
                <a:ln w="38100" cap="flat" cmpd="sng" algn="ctr">
                  <a:solidFill>
                    <a:srgbClr val="A5A5A5"/>
                  </a:solidFill>
                  <a:prstDash val="solid"/>
                  <a:miter lim="800000"/>
                  <a:tailEnd type="triangle"/>
                </a:ln>
                <a:effectLst/>
              </p:spPr>
            </p:cxnSp>
            <p:cxnSp>
              <p:nvCxnSpPr>
                <p:cNvPr id="20" name="Straight Connector 19"/>
                <p:cNvCxnSpPr>
                  <a:stCxn id="18" idx="0"/>
                </p:cNvCxnSpPr>
                <p:nvPr/>
              </p:nvCxnSpPr>
              <p:spPr>
                <a:xfrm flipH="1" flipV="1">
                  <a:off x="653143" y="1125830"/>
                  <a:ext cx="914400" cy="765293"/>
                </a:xfrm>
                <a:prstGeom prst="line">
                  <a:avLst/>
                </a:prstGeom>
                <a:noFill/>
                <a:ln w="38100" cap="flat" cmpd="sng" algn="ctr">
                  <a:solidFill>
                    <a:srgbClr val="A5A5A5"/>
                  </a:solidFill>
                  <a:prstDash val="solid"/>
                  <a:miter lim="800000"/>
                </a:ln>
                <a:effectLst/>
              </p:spPr>
            </p:cxnSp>
            <p:cxnSp>
              <p:nvCxnSpPr>
                <p:cNvPr id="21" name="Straight Connector 20"/>
                <p:cNvCxnSpPr/>
                <p:nvPr/>
              </p:nvCxnSpPr>
              <p:spPr>
                <a:xfrm flipH="1">
                  <a:off x="653143" y="2202509"/>
                  <a:ext cx="925766" cy="758707"/>
                </a:xfrm>
                <a:prstGeom prst="line">
                  <a:avLst/>
                </a:prstGeom>
                <a:noFill/>
                <a:ln w="38100" cap="flat" cmpd="sng" algn="ctr">
                  <a:solidFill>
                    <a:srgbClr val="A5A5A5"/>
                  </a:solidFill>
                  <a:prstDash val="solid"/>
                  <a:miter lim="800000"/>
                </a:ln>
                <a:effectLst/>
              </p:spPr>
            </p:cxnSp>
            <p:sp>
              <p:nvSpPr>
                <p:cNvPr id="22" name="TextBox 21"/>
                <p:cNvSpPr txBox="1"/>
                <p:nvPr/>
              </p:nvSpPr>
              <p:spPr>
                <a:xfrm>
                  <a:off x="1298137" y="1377595"/>
                  <a:ext cx="1277154" cy="321196"/>
                </a:xfrm>
                <a:prstGeom prst="rect">
                  <a:avLst/>
                </a:prstGeom>
                <a:noFill/>
              </p:spPr>
              <p:txBody>
                <a:bodyPr wrap="square" rtlCol="0">
                  <a:spAutoFit/>
                </a:bodyPr>
                <a:lstStyle/>
                <a:p>
                  <a:pPr defTabSz="685777">
                    <a:defRPr/>
                  </a:pPr>
                  <a:r>
                    <a:rPr lang="en-US" b="1" kern="0" dirty="0">
                      <a:solidFill>
                        <a:srgbClr val="70AD47">
                          <a:lumMod val="50000"/>
                        </a:srgbClr>
                      </a:solidFill>
                      <a:cs typeface="Arial"/>
                      <a:sym typeface="Arial"/>
                    </a:rPr>
                    <a:t>GAIN CREATORS </a:t>
                  </a:r>
                </a:p>
              </p:txBody>
            </p:sp>
            <p:sp>
              <p:nvSpPr>
                <p:cNvPr id="23" name="TextBox 22"/>
                <p:cNvSpPr txBox="1"/>
                <p:nvPr/>
              </p:nvSpPr>
              <p:spPr>
                <a:xfrm>
                  <a:off x="1391480" y="2351187"/>
                  <a:ext cx="1277154" cy="321196"/>
                </a:xfrm>
                <a:prstGeom prst="rect">
                  <a:avLst/>
                </a:prstGeom>
                <a:noFill/>
              </p:spPr>
              <p:txBody>
                <a:bodyPr wrap="square" rtlCol="0">
                  <a:spAutoFit/>
                </a:bodyPr>
                <a:lstStyle/>
                <a:p>
                  <a:pPr defTabSz="685777">
                    <a:defRPr/>
                  </a:pPr>
                  <a:r>
                    <a:rPr lang="en-US" b="1" kern="0" dirty="0">
                      <a:solidFill>
                        <a:srgbClr val="70AD47">
                          <a:lumMod val="50000"/>
                        </a:srgbClr>
                      </a:solidFill>
                      <a:cs typeface="Arial"/>
                      <a:sym typeface="Arial"/>
                    </a:rPr>
                    <a:t>PAIN KILLERS</a:t>
                  </a:r>
                </a:p>
              </p:txBody>
            </p:sp>
            <p:sp>
              <p:nvSpPr>
                <p:cNvPr id="24" name="TextBox 23"/>
                <p:cNvSpPr txBox="1"/>
                <p:nvPr/>
              </p:nvSpPr>
              <p:spPr>
                <a:xfrm>
                  <a:off x="587719" y="1764605"/>
                  <a:ext cx="1277154" cy="562093"/>
                </a:xfrm>
                <a:prstGeom prst="rect">
                  <a:avLst/>
                </a:prstGeom>
                <a:noFill/>
              </p:spPr>
              <p:txBody>
                <a:bodyPr wrap="square" rtlCol="0">
                  <a:spAutoFit/>
                </a:bodyPr>
                <a:lstStyle/>
                <a:p>
                  <a:pPr defTabSz="685777">
                    <a:defRPr/>
                  </a:pPr>
                  <a:r>
                    <a:rPr lang="en-US" b="1" kern="0" dirty="0">
                      <a:solidFill>
                        <a:srgbClr val="70AD47">
                          <a:lumMod val="50000"/>
                        </a:srgbClr>
                      </a:solidFill>
                      <a:cs typeface="Arial"/>
                      <a:sym typeface="Arial"/>
                    </a:rPr>
                    <a:t>PRODUCT/ </a:t>
                  </a:r>
                </a:p>
                <a:p>
                  <a:pPr defTabSz="685777">
                    <a:defRPr/>
                  </a:pPr>
                  <a:r>
                    <a:rPr lang="en-US" b="1" kern="0" dirty="0">
                      <a:solidFill>
                        <a:srgbClr val="70AD47">
                          <a:lumMod val="50000"/>
                        </a:srgbClr>
                      </a:solidFill>
                      <a:cs typeface="Arial"/>
                      <a:sym typeface="Arial"/>
                    </a:rPr>
                    <a:t>SERVICE</a:t>
                  </a:r>
                </a:p>
              </p:txBody>
            </p:sp>
          </p:grpSp>
        </p:grpSp>
        <p:cxnSp>
          <p:nvCxnSpPr>
            <p:cNvPr id="33" name="Straight Connector 32"/>
            <p:cNvCxnSpPr/>
            <p:nvPr/>
          </p:nvCxnSpPr>
          <p:spPr>
            <a:xfrm flipV="1">
              <a:off x="3639097" y="1771429"/>
              <a:ext cx="7608" cy="648440"/>
            </a:xfrm>
            <a:prstGeom prst="line">
              <a:avLst/>
            </a:prstGeom>
            <a:noFill/>
            <a:ln w="19050" cap="flat" cmpd="sng" algn="ctr">
              <a:solidFill>
                <a:srgbClr val="70AD47"/>
              </a:solidFill>
              <a:prstDash val="solid"/>
              <a:miter lim="800000"/>
            </a:ln>
            <a:effectLst/>
          </p:spPr>
        </p:cxnSp>
        <p:cxnSp>
          <p:nvCxnSpPr>
            <p:cNvPr id="34" name="Straight Connector 33"/>
            <p:cNvCxnSpPr/>
            <p:nvPr/>
          </p:nvCxnSpPr>
          <p:spPr>
            <a:xfrm flipH="1" flipV="1">
              <a:off x="2949027" y="1775840"/>
              <a:ext cx="706208" cy="6152"/>
            </a:xfrm>
            <a:prstGeom prst="line">
              <a:avLst/>
            </a:prstGeom>
            <a:noFill/>
            <a:ln w="19050" cap="flat" cmpd="sng" algn="ctr">
              <a:solidFill>
                <a:srgbClr val="70AD47"/>
              </a:solidFill>
              <a:prstDash val="solid"/>
              <a:miter lim="800000"/>
            </a:ln>
            <a:effectLst/>
          </p:spPr>
        </p:cxnSp>
        <p:sp>
          <p:nvSpPr>
            <p:cNvPr id="35" name="TextBox 34"/>
            <p:cNvSpPr txBox="1"/>
            <p:nvPr/>
          </p:nvSpPr>
          <p:spPr>
            <a:xfrm>
              <a:off x="993509" y="1343410"/>
              <a:ext cx="1949094" cy="914162"/>
            </a:xfrm>
            <a:prstGeom prst="rect">
              <a:avLst/>
            </a:prstGeom>
            <a:noFill/>
            <a:ln>
              <a:solidFill>
                <a:srgbClr val="E7E6E6">
                  <a:lumMod val="50000"/>
                </a:srgbClr>
              </a:solidFill>
            </a:ln>
          </p:spPr>
          <p:txBody>
            <a:bodyPr wrap="square" rtlCol="0">
              <a:spAutoFit/>
            </a:bodyPr>
            <a:lstStyle/>
            <a:p>
              <a:pPr defTabSz="685777">
                <a:defRPr/>
              </a:pPr>
              <a:r>
                <a:rPr lang="en-US" sz="1400" kern="0" dirty="0">
                  <a:solidFill>
                    <a:prstClr val="white">
                      <a:lumMod val="50000"/>
                    </a:prstClr>
                  </a:solidFill>
                  <a:cs typeface="Arial"/>
                  <a:sym typeface="Arial"/>
                </a:rPr>
                <a:t> </a:t>
              </a:r>
            </a:p>
            <a:p>
              <a:pPr marL="128585" indent="-128585" defTabSz="685777">
                <a:buFont typeface="Wingdings" panose="05000000000000000000" pitchFamily="2" charset="2"/>
                <a:buChar char="à"/>
                <a:defRPr/>
              </a:pPr>
              <a:r>
                <a:rPr lang="pt-BR" sz="1400" i="1" kern="0" dirty="0">
                  <a:solidFill>
                    <a:prstClr val="black"/>
                  </a:solidFill>
                  <a:cs typeface="Arial"/>
                  <a:sym typeface="Arial"/>
                </a:rPr>
                <a:t>What do you offer that makes the customers happy?</a:t>
              </a:r>
            </a:p>
            <a:p>
              <a:pPr marL="128585" indent="-128585" defTabSz="685777">
                <a:buFont typeface="Wingdings" panose="05000000000000000000" pitchFamily="2" charset="2"/>
                <a:buChar char="à"/>
                <a:defRPr/>
              </a:pPr>
              <a:endParaRPr lang="pt-BR" sz="1400" i="1" kern="0" dirty="0">
                <a:solidFill>
                  <a:prstClr val="black"/>
                </a:solidFill>
                <a:cs typeface="Arial"/>
                <a:sym typeface="Arial"/>
              </a:endParaRPr>
            </a:p>
            <a:p>
              <a:pPr defTabSz="685777">
                <a:buFont typeface="Arial" pitchFamily="34" charset="0"/>
                <a:buChar char="•"/>
                <a:defRPr/>
              </a:pPr>
              <a:r>
                <a:rPr lang="en-US" kern="0" dirty="0">
                  <a:cs typeface="Arial"/>
                  <a:sym typeface="Wingdings" panose="05000000000000000000" pitchFamily="2" charset="2"/>
                </a:rPr>
                <a:t>Unique Design </a:t>
              </a:r>
            </a:p>
            <a:p>
              <a:pPr defTabSz="685777">
                <a:buFont typeface="Arial" pitchFamily="34" charset="0"/>
                <a:buChar char="•"/>
                <a:defRPr/>
              </a:pPr>
              <a:r>
                <a:rPr lang="en-US" kern="0" dirty="0">
                  <a:cs typeface="Arial"/>
                  <a:sym typeface="Wingdings" panose="05000000000000000000" pitchFamily="2" charset="2"/>
                </a:rPr>
                <a:t>Affordable Price</a:t>
              </a:r>
            </a:p>
            <a:p>
              <a:pPr defTabSz="685777">
                <a:buFont typeface="Arial" pitchFamily="34" charset="0"/>
                <a:buChar char="•"/>
                <a:defRPr/>
              </a:pPr>
              <a:r>
                <a:rPr lang="en-US" kern="0" baseline="0" dirty="0">
                  <a:cs typeface="Arial"/>
                  <a:sym typeface="Wingdings" panose="05000000000000000000" pitchFamily="2" charset="2"/>
                </a:rPr>
                <a:t>Time</a:t>
              </a:r>
              <a:r>
                <a:rPr lang="en-US" kern="0" dirty="0">
                  <a:cs typeface="Arial"/>
                  <a:sym typeface="Wingdings" panose="05000000000000000000" pitchFamily="2" charset="2"/>
                </a:rPr>
                <a:t> saving</a:t>
              </a:r>
            </a:p>
          </p:txBody>
        </p:sp>
        <p:cxnSp>
          <p:nvCxnSpPr>
            <p:cNvPr id="38" name="Straight Connector 37"/>
            <p:cNvCxnSpPr/>
            <p:nvPr/>
          </p:nvCxnSpPr>
          <p:spPr>
            <a:xfrm flipV="1">
              <a:off x="3639097" y="3644573"/>
              <a:ext cx="0" cy="385285"/>
            </a:xfrm>
            <a:prstGeom prst="line">
              <a:avLst/>
            </a:prstGeom>
            <a:noFill/>
            <a:ln w="19050" cap="flat" cmpd="sng" algn="ctr">
              <a:solidFill>
                <a:srgbClr val="70AD47"/>
              </a:solidFill>
              <a:prstDash val="solid"/>
              <a:miter lim="800000"/>
            </a:ln>
            <a:effectLst/>
          </p:spPr>
        </p:cxnSp>
        <p:cxnSp>
          <p:nvCxnSpPr>
            <p:cNvPr id="39" name="Straight Connector 38"/>
            <p:cNvCxnSpPr>
              <a:cxnSpLocks/>
            </p:cNvCxnSpPr>
            <p:nvPr/>
          </p:nvCxnSpPr>
          <p:spPr>
            <a:xfrm flipH="1" flipV="1">
              <a:off x="2814378" y="4029857"/>
              <a:ext cx="840857" cy="1839"/>
            </a:xfrm>
            <a:prstGeom prst="line">
              <a:avLst/>
            </a:prstGeom>
            <a:noFill/>
            <a:ln w="19050" cap="flat" cmpd="sng" algn="ctr">
              <a:solidFill>
                <a:srgbClr val="70AD47"/>
              </a:solidFill>
              <a:prstDash val="solid"/>
              <a:miter lim="800000"/>
            </a:ln>
            <a:effectLst/>
          </p:spPr>
        </p:cxnSp>
        <p:sp>
          <p:nvSpPr>
            <p:cNvPr id="40" name="TextBox 39"/>
            <p:cNvSpPr txBox="1"/>
            <p:nvPr/>
          </p:nvSpPr>
          <p:spPr>
            <a:xfrm>
              <a:off x="1010229" y="3648983"/>
              <a:ext cx="1804149" cy="1165110"/>
            </a:xfrm>
            <a:prstGeom prst="rect">
              <a:avLst/>
            </a:prstGeom>
            <a:noFill/>
            <a:ln>
              <a:solidFill>
                <a:srgbClr val="E7E6E6">
                  <a:lumMod val="50000"/>
                </a:srgbClr>
              </a:solidFill>
            </a:ln>
          </p:spPr>
          <p:txBody>
            <a:bodyPr wrap="square" rtlCol="0">
              <a:spAutoFit/>
            </a:bodyPr>
            <a:lstStyle/>
            <a:p>
              <a:pPr defTabSz="685777">
                <a:defRPr/>
              </a:pPr>
              <a:endParaRPr lang="en-US" sz="1400" kern="0" dirty="0">
                <a:solidFill>
                  <a:prstClr val="white">
                    <a:lumMod val="50000"/>
                  </a:prstClr>
                </a:solidFill>
                <a:cs typeface="Arial"/>
                <a:sym typeface="Wingdings" panose="05000000000000000000" pitchFamily="2" charset="2"/>
              </a:endParaRPr>
            </a:p>
            <a:p>
              <a:pPr marL="128585" indent="-128585" defTabSz="685777">
                <a:buFont typeface="Wingdings" panose="05000000000000000000" pitchFamily="2" charset="2"/>
                <a:buChar char="à"/>
                <a:defRPr/>
              </a:pPr>
              <a:r>
                <a:rPr lang="pt-BR" sz="1400" i="1" kern="0" dirty="0">
                  <a:solidFill>
                    <a:prstClr val="black"/>
                  </a:solidFill>
                  <a:cs typeface="Arial"/>
                  <a:sym typeface="Arial"/>
                </a:rPr>
                <a:t>Which features of your offering relieve the customer's pains?</a:t>
              </a:r>
            </a:p>
            <a:p>
              <a:pPr marL="128585" indent="-128585" defTabSz="685777">
                <a:buFont typeface="Wingdings" panose="05000000000000000000" pitchFamily="2" charset="2"/>
                <a:buChar char="à"/>
                <a:defRPr/>
              </a:pPr>
              <a:endParaRPr lang="pt-BR" sz="1400" i="1" kern="0" dirty="0">
                <a:solidFill>
                  <a:prstClr val="black"/>
                </a:solidFill>
                <a:cs typeface="Arial"/>
                <a:sym typeface="Arial"/>
              </a:endParaRPr>
            </a:p>
            <a:p>
              <a:pPr marL="128585" indent="-128585" defTabSz="685777">
                <a:buFont typeface="Arial" pitchFamily="34" charset="0"/>
                <a:buChar char="•"/>
                <a:defRPr/>
              </a:pPr>
              <a:r>
                <a:rPr lang="pt-BR" kern="0" dirty="0">
                  <a:cs typeface="Arial"/>
                  <a:sym typeface="Arial"/>
                </a:rPr>
                <a:t>Uniqueness </a:t>
              </a:r>
            </a:p>
            <a:p>
              <a:pPr marL="128585" indent="-128585" defTabSz="685777">
                <a:buFont typeface="Arial" pitchFamily="34" charset="0"/>
                <a:buChar char="•"/>
                <a:defRPr/>
              </a:pPr>
              <a:r>
                <a:rPr lang="pt-BR" kern="0" baseline="0" dirty="0">
                  <a:cs typeface="Arial"/>
                  <a:sym typeface="Arial"/>
                </a:rPr>
                <a:t>Design</a:t>
              </a:r>
              <a:r>
                <a:rPr lang="pt-BR" kern="0" dirty="0">
                  <a:cs typeface="Arial"/>
                  <a:sym typeface="Arial"/>
                </a:rPr>
                <a:t> According to their sense of style</a:t>
              </a:r>
              <a:endParaRPr lang="en-US" sz="1400" kern="0" dirty="0">
                <a:solidFill>
                  <a:prstClr val="white">
                    <a:lumMod val="50000"/>
                  </a:prstClr>
                </a:solidFill>
                <a:cs typeface="Arial"/>
                <a:sym typeface="Wingdings" panose="05000000000000000000" pitchFamily="2" charset="2"/>
              </a:endParaRPr>
            </a:p>
            <a:p>
              <a:pPr defTabSz="685777">
                <a:defRPr/>
              </a:pPr>
              <a:endParaRPr lang="en-US" sz="1400" kern="0" dirty="0">
                <a:solidFill>
                  <a:prstClr val="white">
                    <a:lumMod val="50000"/>
                  </a:prstClr>
                </a:solidFill>
                <a:cs typeface="Arial"/>
                <a:sym typeface="Wingdings" panose="05000000000000000000" pitchFamily="2" charset="2"/>
              </a:endParaRPr>
            </a:p>
          </p:txBody>
        </p:sp>
        <p:cxnSp>
          <p:nvCxnSpPr>
            <p:cNvPr id="41" name="Straight Connector 40"/>
            <p:cNvCxnSpPr/>
            <p:nvPr/>
          </p:nvCxnSpPr>
          <p:spPr>
            <a:xfrm flipH="1">
              <a:off x="3515381" y="2838188"/>
              <a:ext cx="36888" cy="0"/>
            </a:xfrm>
            <a:prstGeom prst="line">
              <a:avLst/>
            </a:prstGeom>
            <a:noFill/>
            <a:ln w="19050" cap="flat" cmpd="sng" algn="ctr">
              <a:solidFill>
                <a:srgbClr val="70AD47"/>
              </a:solidFill>
              <a:prstDash val="solid"/>
              <a:miter lim="800000"/>
            </a:ln>
            <a:effectLst/>
          </p:spPr>
        </p:cxnSp>
        <p:cxnSp>
          <p:nvCxnSpPr>
            <p:cNvPr id="42" name="Straight Connector 41"/>
            <p:cNvCxnSpPr/>
            <p:nvPr/>
          </p:nvCxnSpPr>
          <p:spPr>
            <a:xfrm flipV="1">
              <a:off x="2899064" y="2419868"/>
              <a:ext cx="0" cy="1182920"/>
            </a:xfrm>
            <a:prstGeom prst="line">
              <a:avLst/>
            </a:prstGeom>
            <a:noFill/>
            <a:ln w="19050" cap="flat" cmpd="sng" algn="ctr">
              <a:solidFill>
                <a:srgbClr val="70AD47"/>
              </a:solidFill>
              <a:prstDash val="solid"/>
              <a:miter lim="800000"/>
            </a:ln>
            <a:effectLst/>
          </p:spPr>
        </p:cxnSp>
        <p:cxnSp>
          <p:nvCxnSpPr>
            <p:cNvPr id="43" name="Straight Connector 42"/>
            <p:cNvCxnSpPr/>
            <p:nvPr/>
          </p:nvCxnSpPr>
          <p:spPr>
            <a:xfrm flipV="1">
              <a:off x="5141079" y="1771429"/>
              <a:ext cx="0" cy="648440"/>
            </a:xfrm>
            <a:prstGeom prst="line">
              <a:avLst/>
            </a:prstGeom>
            <a:noFill/>
            <a:ln w="19050" cap="flat" cmpd="sng" algn="ctr">
              <a:solidFill>
                <a:srgbClr val="FFC000"/>
              </a:solidFill>
              <a:prstDash val="solid"/>
              <a:miter lim="800000"/>
            </a:ln>
            <a:effectLst/>
          </p:spPr>
        </p:cxnSp>
        <p:cxnSp>
          <p:nvCxnSpPr>
            <p:cNvPr id="44" name="Straight Connector 43"/>
            <p:cNvCxnSpPr>
              <a:cxnSpLocks/>
            </p:cNvCxnSpPr>
            <p:nvPr/>
          </p:nvCxnSpPr>
          <p:spPr>
            <a:xfrm flipH="1">
              <a:off x="5136823" y="1781993"/>
              <a:ext cx="668957" cy="1167"/>
            </a:xfrm>
            <a:prstGeom prst="line">
              <a:avLst/>
            </a:prstGeom>
            <a:noFill/>
            <a:ln w="19050" cap="flat" cmpd="sng" algn="ctr">
              <a:solidFill>
                <a:srgbClr val="FFC000"/>
              </a:solidFill>
              <a:prstDash val="solid"/>
              <a:miter lim="800000"/>
            </a:ln>
            <a:effectLst/>
          </p:spPr>
        </p:cxnSp>
        <p:cxnSp>
          <p:nvCxnSpPr>
            <p:cNvPr id="46" name="Straight Connector 45"/>
            <p:cNvCxnSpPr/>
            <p:nvPr/>
          </p:nvCxnSpPr>
          <p:spPr>
            <a:xfrm>
              <a:off x="5824125" y="2947312"/>
              <a:ext cx="151861" cy="2850"/>
            </a:xfrm>
            <a:prstGeom prst="line">
              <a:avLst/>
            </a:prstGeom>
            <a:noFill/>
            <a:ln w="6350" cap="flat" cmpd="sng" algn="ctr">
              <a:solidFill>
                <a:srgbClr val="ED7D31"/>
              </a:solidFill>
              <a:prstDash val="solid"/>
              <a:miter lim="800000"/>
            </a:ln>
            <a:effectLst/>
          </p:spPr>
        </p:cxnSp>
        <p:cxnSp>
          <p:nvCxnSpPr>
            <p:cNvPr id="47" name="Straight Connector 46"/>
            <p:cNvCxnSpPr/>
            <p:nvPr/>
          </p:nvCxnSpPr>
          <p:spPr>
            <a:xfrm flipH="1" flipV="1">
              <a:off x="5963697" y="2419869"/>
              <a:ext cx="8108" cy="1082870"/>
            </a:xfrm>
            <a:prstGeom prst="line">
              <a:avLst/>
            </a:prstGeom>
            <a:noFill/>
            <a:ln w="6350" cap="flat" cmpd="sng" algn="ctr">
              <a:solidFill>
                <a:srgbClr val="ED7D31"/>
              </a:solidFill>
              <a:prstDash val="solid"/>
              <a:miter lim="800000"/>
            </a:ln>
            <a:effectLst/>
          </p:spPr>
        </p:cxnSp>
        <p:cxnSp>
          <p:nvCxnSpPr>
            <p:cNvPr id="48" name="Straight Connector 47"/>
            <p:cNvCxnSpPr/>
            <p:nvPr/>
          </p:nvCxnSpPr>
          <p:spPr>
            <a:xfrm flipV="1">
              <a:off x="5136822" y="3644573"/>
              <a:ext cx="1" cy="385252"/>
            </a:xfrm>
            <a:prstGeom prst="line">
              <a:avLst/>
            </a:prstGeom>
            <a:noFill/>
            <a:ln w="19050" cap="flat" cmpd="sng" algn="ctr">
              <a:solidFill>
                <a:srgbClr val="FFC000"/>
              </a:solidFill>
              <a:prstDash val="solid"/>
              <a:miter lim="800000"/>
            </a:ln>
            <a:effectLst/>
          </p:spPr>
        </p:cxnSp>
        <p:cxnSp>
          <p:nvCxnSpPr>
            <p:cNvPr id="49" name="Straight Connector 48"/>
            <p:cNvCxnSpPr>
              <a:cxnSpLocks/>
            </p:cNvCxnSpPr>
            <p:nvPr/>
          </p:nvCxnSpPr>
          <p:spPr>
            <a:xfrm flipH="1" flipV="1">
              <a:off x="5136823" y="4029825"/>
              <a:ext cx="536268" cy="32"/>
            </a:xfrm>
            <a:prstGeom prst="line">
              <a:avLst/>
            </a:prstGeom>
            <a:noFill/>
            <a:ln w="19050" cap="flat" cmpd="sng" algn="ctr">
              <a:solidFill>
                <a:srgbClr val="FFC000"/>
              </a:solidFill>
              <a:prstDash val="solid"/>
              <a:miter lim="800000"/>
            </a:ln>
            <a:effectLst/>
          </p:spPr>
        </p:cxnSp>
        <p:sp>
          <p:nvSpPr>
            <p:cNvPr id="50" name="TextBox 49"/>
            <p:cNvSpPr txBox="1"/>
            <p:nvPr/>
          </p:nvSpPr>
          <p:spPr>
            <a:xfrm>
              <a:off x="5673091" y="3648982"/>
              <a:ext cx="2068716" cy="1026193"/>
            </a:xfrm>
            <a:prstGeom prst="rect">
              <a:avLst/>
            </a:prstGeom>
            <a:noFill/>
            <a:ln>
              <a:solidFill>
                <a:srgbClr val="E7E6E6">
                  <a:lumMod val="50000"/>
                </a:srgbClr>
              </a:solidFill>
            </a:ln>
          </p:spPr>
          <p:txBody>
            <a:bodyPr wrap="square" lIns="68580" tIns="34290" rIns="68580" bIns="34290" rtlCol="0" anchor="t">
              <a:spAutoFit/>
            </a:bodyPr>
            <a:lstStyle/>
            <a:p>
              <a:pPr defTabSz="685777">
                <a:defRPr/>
              </a:pPr>
              <a:r>
                <a:rPr lang="en-US" sz="1400" kern="0" dirty="0">
                  <a:solidFill>
                    <a:prstClr val="white">
                      <a:lumMod val="50000"/>
                    </a:prstClr>
                  </a:solidFill>
                  <a:cs typeface="Arial"/>
                  <a:sym typeface="Arial"/>
                </a:rPr>
                <a:t>I would </a:t>
              </a:r>
              <a:r>
                <a:rPr lang="en-US" sz="1400" b="1" kern="0" dirty="0">
                  <a:solidFill>
                    <a:prstClr val="white">
                      <a:lumMod val="50000"/>
                    </a:prstClr>
                  </a:solidFill>
                  <a:cs typeface="Arial"/>
                  <a:sym typeface="Arial"/>
                </a:rPr>
                <a:t>HATE</a:t>
              </a:r>
              <a:r>
                <a:rPr lang="en-US" sz="1400" kern="0" dirty="0">
                  <a:solidFill>
                    <a:prstClr val="white">
                      <a:lumMod val="50000"/>
                    </a:prstClr>
                  </a:solidFill>
                  <a:cs typeface="Arial"/>
                  <a:sym typeface="Arial"/>
                </a:rPr>
                <a:t> it if: </a:t>
              </a:r>
            </a:p>
            <a:p>
              <a:pPr defTabSz="685777">
                <a:defRPr/>
              </a:pPr>
              <a:endParaRPr lang="en-US" sz="1400" kern="0" dirty="0">
                <a:solidFill>
                  <a:prstClr val="white">
                    <a:lumMod val="50000"/>
                  </a:prstClr>
                </a:solidFill>
                <a:cs typeface="Arial"/>
                <a:sym typeface="Arial"/>
              </a:endParaRPr>
            </a:p>
            <a:p>
              <a:pPr marL="128110" indent="-128110" defTabSz="685777">
                <a:buFont typeface="Wingdings" panose="05000000000000000000" pitchFamily="2" charset="2"/>
                <a:buChar char="à"/>
                <a:defRPr/>
              </a:pPr>
              <a:r>
                <a:rPr lang="pt-BR" sz="1400" i="1" kern="0" dirty="0">
                  <a:solidFill>
                    <a:prstClr val="black"/>
                  </a:solidFill>
                  <a:cs typeface="Arial"/>
                  <a:sym typeface="Arial"/>
                </a:rPr>
                <a:t>What are the pains of the clients when facing the problem?</a:t>
              </a:r>
            </a:p>
            <a:p>
              <a:pPr marL="128110" indent="-128110" defTabSz="685777">
                <a:buFont typeface="Arial" pitchFamily="34" charset="0"/>
                <a:buChar char="•"/>
                <a:defRPr/>
              </a:pPr>
              <a:r>
                <a:rPr lang="pt-BR" kern="0" dirty="0">
                  <a:solidFill>
                    <a:prstClr val="black"/>
                  </a:solidFill>
                  <a:cs typeface="Arial"/>
                  <a:sym typeface="Arial"/>
                </a:rPr>
                <a:t>Not  attractive design</a:t>
              </a:r>
            </a:p>
            <a:p>
              <a:pPr marL="128110" indent="-128110" defTabSz="685777">
                <a:buFont typeface="Arial" pitchFamily="34" charset="0"/>
                <a:buChar char="•"/>
                <a:defRPr/>
              </a:pPr>
              <a:r>
                <a:rPr lang="pt-BR" kern="0" dirty="0">
                  <a:solidFill>
                    <a:prstClr val="black"/>
                  </a:solidFill>
                  <a:cs typeface="Arial"/>
                  <a:sym typeface="Arial"/>
                </a:rPr>
                <a:t>High Prices </a:t>
              </a:r>
            </a:p>
            <a:p>
              <a:pPr marL="128110" indent="-128110" defTabSz="685777">
                <a:buFont typeface="Arial" pitchFamily="34" charset="0"/>
                <a:buChar char="•"/>
                <a:defRPr/>
              </a:pPr>
              <a:r>
                <a:rPr lang="pt-BR" kern="0" dirty="0">
                  <a:solidFill>
                    <a:prstClr val="black"/>
                  </a:solidFill>
                  <a:cs typeface="Arial"/>
                  <a:sym typeface="Arial"/>
                </a:rPr>
                <a:t>More Time consuming to design</a:t>
              </a:r>
              <a:endParaRPr lang="pt-BR" kern="0" dirty="0">
                <a:solidFill>
                  <a:prstClr val="black"/>
                </a:solidFill>
                <a:cs typeface="Calibri" panose="020F0502020204030204"/>
                <a:sym typeface="Arial"/>
              </a:endParaRPr>
            </a:p>
          </p:txBody>
        </p:sp>
        <p:sp>
          <p:nvSpPr>
            <p:cNvPr id="51" name="TextBox 50"/>
            <p:cNvSpPr txBox="1"/>
            <p:nvPr/>
          </p:nvSpPr>
          <p:spPr>
            <a:xfrm>
              <a:off x="6022507" y="2422024"/>
              <a:ext cx="1719300" cy="990343"/>
            </a:xfrm>
            <a:prstGeom prst="rect">
              <a:avLst/>
            </a:prstGeom>
            <a:noFill/>
            <a:ln>
              <a:solidFill>
                <a:srgbClr val="E7E6E6">
                  <a:lumMod val="50000"/>
                </a:srgbClr>
              </a:solidFill>
            </a:ln>
          </p:spPr>
          <p:txBody>
            <a:bodyPr wrap="square" lIns="68580" tIns="34290" rIns="68580" bIns="34290" rtlCol="0" anchor="t">
              <a:spAutoFit/>
            </a:bodyPr>
            <a:lstStyle/>
            <a:p>
              <a:pPr defTabSz="685777">
                <a:defRPr/>
              </a:pPr>
              <a:r>
                <a:rPr lang="en-US" sz="1400" kern="0" dirty="0">
                  <a:solidFill>
                    <a:prstClr val="white">
                      <a:lumMod val="50000"/>
                    </a:prstClr>
                  </a:solidFill>
                  <a:cs typeface="Arial"/>
                  <a:sym typeface="Arial"/>
                </a:rPr>
                <a:t>I would </a:t>
              </a:r>
              <a:r>
                <a:rPr lang="en-US" sz="1400" b="1" kern="0" dirty="0">
                  <a:solidFill>
                    <a:prstClr val="white">
                      <a:lumMod val="50000"/>
                    </a:prstClr>
                  </a:solidFill>
                  <a:cs typeface="Arial"/>
                  <a:sym typeface="Arial"/>
                </a:rPr>
                <a:t>WANT</a:t>
              </a:r>
              <a:r>
                <a:rPr lang="en-US" sz="1400" kern="0" dirty="0">
                  <a:solidFill>
                    <a:prstClr val="white">
                      <a:lumMod val="50000"/>
                    </a:prstClr>
                  </a:solidFill>
                  <a:cs typeface="Arial"/>
                  <a:sym typeface="Arial"/>
                </a:rPr>
                <a:t>: </a:t>
              </a:r>
            </a:p>
            <a:p>
              <a:pPr defTabSz="685777">
                <a:defRPr/>
              </a:pPr>
              <a:endParaRPr lang="en-US" sz="1400" kern="0" dirty="0">
                <a:solidFill>
                  <a:prstClr val="white">
                    <a:lumMod val="50000"/>
                  </a:prstClr>
                </a:solidFill>
                <a:cs typeface="Arial"/>
                <a:sym typeface="Arial"/>
              </a:endParaRPr>
            </a:p>
            <a:p>
              <a:pPr marL="128110" indent="-128110" defTabSz="685777">
                <a:buFont typeface="Wingdings" panose="05000000000000000000" pitchFamily="2" charset="2"/>
                <a:buChar char="à"/>
                <a:defRPr/>
              </a:pPr>
              <a:r>
                <a:rPr lang="pt-BR" sz="1400" i="1" kern="0" dirty="0">
                  <a:solidFill>
                    <a:prstClr val="black"/>
                  </a:solidFill>
                  <a:cs typeface="Arial"/>
                  <a:sym typeface="Arial"/>
                </a:rPr>
                <a:t>What do the clients do (actions) when facing the problem?</a:t>
              </a:r>
              <a:endParaRPr lang="en-US" sz="1400" kern="0" dirty="0">
                <a:solidFill>
                  <a:prstClr val="white">
                    <a:lumMod val="50000"/>
                  </a:prstClr>
                </a:solidFill>
                <a:cs typeface="Calibri" panose="020F0502020204030204"/>
                <a:sym typeface="Arial"/>
              </a:endParaRPr>
            </a:p>
            <a:p>
              <a:pPr marL="128110" indent="-128110" defTabSz="685777">
                <a:buFont typeface="Wingdings" panose="05000000000000000000" pitchFamily="2" charset="2"/>
                <a:buChar char="à"/>
                <a:defRPr/>
              </a:pPr>
              <a:endParaRPr lang="en-US" sz="1400" kern="0" dirty="0">
                <a:solidFill>
                  <a:prstClr val="white">
                    <a:lumMod val="50000"/>
                  </a:prstClr>
                </a:solidFill>
                <a:cs typeface="Calibri" panose="020F0502020204030204"/>
                <a:sym typeface="Arial"/>
              </a:endParaRPr>
            </a:p>
            <a:p>
              <a:pPr defTabSz="685777">
                <a:defRPr/>
              </a:pPr>
              <a:r>
                <a:rPr lang="pt-BR" kern="0" dirty="0">
                  <a:cs typeface="Calibri"/>
                  <a:sym typeface="Arial"/>
                </a:rPr>
                <a:t>They get  unsatisfaction on designed T-shirts and go for plain T-shirts</a:t>
              </a:r>
            </a:p>
          </p:txBody>
        </p:sp>
        <p:sp>
          <p:nvSpPr>
            <p:cNvPr id="52" name="TextBox 51"/>
            <p:cNvSpPr txBox="1"/>
            <p:nvPr/>
          </p:nvSpPr>
          <p:spPr>
            <a:xfrm>
              <a:off x="993510" y="2381024"/>
              <a:ext cx="1819070" cy="1254733"/>
            </a:xfrm>
            <a:prstGeom prst="rect">
              <a:avLst/>
            </a:prstGeom>
            <a:noFill/>
            <a:ln>
              <a:solidFill>
                <a:srgbClr val="E7E6E6">
                  <a:lumMod val="50000"/>
                </a:srgbClr>
              </a:solidFill>
            </a:ln>
          </p:spPr>
          <p:txBody>
            <a:bodyPr wrap="square" rtlCol="0">
              <a:spAutoFit/>
            </a:bodyPr>
            <a:lstStyle/>
            <a:p>
              <a:pPr>
                <a:defRPr/>
              </a:pPr>
              <a:r>
                <a:rPr lang="pt-BR" sz="1400" b="1" i="1" kern="0" dirty="0">
                  <a:solidFill>
                    <a:srgbClr val="FF0000"/>
                  </a:solidFill>
                  <a:cs typeface="Arial"/>
                  <a:sym typeface="Arial"/>
                </a:rPr>
                <a:t>What is the product or service that you are offering?</a:t>
              </a:r>
            </a:p>
            <a:p>
              <a:pPr>
                <a:defRPr/>
              </a:pPr>
              <a:endParaRPr lang="en-US" sz="1400" b="1" kern="0" dirty="0">
                <a:solidFill>
                  <a:srgbClr val="FF0000"/>
                </a:solidFill>
                <a:cs typeface="Arial"/>
                <a:sym typeface="Arial"/>
              </a:endParaRPr>
            </a:p>
            <a:p>
              <a:pPr algn="just" defTabSz="685777">
                <a:buFont typeface="Arial" pitchFamily="34" charset="0"/>
                <a:buChar char="•"/>
                <a:defRPr/>
              </a:pPr>
              <a:r>
                <a:rPr lang="en-IN" kern="0" dirty="0">
                  <a:cs typeface="Arial"/>
                  <a:sym typeface="Arial"/>
                </a:rPr>
                <a:t>Printed T-shirts </a:t>
              </a:r>
            </a:p>
            <a:p>
              <a:pPr algn="just" defTabSz="685777">
                <a:buFont typeface="Arial" pitchFamily="34" charset="0"/>
                <a:buChar char="•"/>
                <a:defRPr/>
              </a:pPr>
              <a:r>
                <a:rPr lang="en-IN" kern="0" dirty="0">
                  <a:cs typeface="Arial"/>
                  <a:sym typeface="Arial"/>
                </a:rPr>
                <a:t>Customized Design T-shirts</a:t>
              </a:r>
            </a:p>
            <a:p>
              <a:pPr algn="just" defTabSz="685777">
                <a:defRPr/>
              </a:pPr>
              <a:endParaRPr lang="en-IN" sz="1400" kern="0" dirty="0">
                <a:solidFill>
                  <a:prstClr val="white">
                    <a:lumMod val="50000"/>
                  </a:prstClr>
                </a:solidFill>
                <a:cs typeface="Arial"/>
                <a:sym typeface="Arial"/>
              </a:endParaRPr>
            </a:p>
            <a:p>
              <a:pPr algn="just" defTabSz="685777">
                <a:defRPr/>
              </a:pPr>
              <a:endParaRPr lang="en-IN" sz="1400" kern="0" dirty="0">
                <a:solidFill>
                  <a:prstClr val="white">
                    <a:lumMod val="50000"/>
                  </a:prstClr>
                </a:solidFill>
                <a:cs typeface="Arial"/>
                <a:sym typeface="Arial"/>
              </a:endParaRPr>
            </a:p>
            <a:p>
              <a:pPr algn="just" defTabSz="685777">
                <a:defRPr/>
              </a:pPr>
              <a:endParaRPr lang="en-IN" sz="1400" kern="0" dirty="0">
                <a:solidFill>
                  <a:prstClr val="white">
                    <a:lumMod val="50000"/>
                  </a:prstClr>
                </a:solidFill>
                <a:cs typeface="Arial"/>
                <a:sym typeface="Arial"/>
              </a:endParaRPr>
            </a:p>
            <a:p>
              <a:pPr algn="just" defTabSz="685777">
                <a:defRPr/>
              </a:pPr>
              <a:endParaRPr lang="en-IN" sz="1400" kern="0" dirty="0">
                <a:solidFill>
                  <a:prstClr val="white">
                    <a:lumMod val="50000"/>
                  </a:prstClr>
                </a:solidFill>
                <a:cs typeface="Arial"/>
                <a:sym typeface="Arial"/>
              </a:endParaRPr>
            </a:p>
          </p:txBody>
        </p:sp>
        <p:cxnSp>
          <p:nvCxnSpPr>
            <p:cNvPr id="53" name="Straight Connector 52"/>
            <p:cNvCxnSpPr>
              <a:cxnSpLocks/>
            </p:cNvCxnSpPr>
            <p:nvPr/>
          </p:nvCxnSpPr>
          <p:spPr>
            <a:xfrm flipH="1">
              <a:off x="2899064" y="3002224"/>
              <a:ext cx="92750" cy="0"/>
            </a:xfrm>
            <a:prstGeom prst="line">
              <a:avLst/>
            </a:prstGeom>
            <a:noFill/>
            <a:ln w="19050" cap="flat" cmpd="sng" algn="ctr">
              <a:solidFill>
                <a:srgbClr val="70AD47"/>
              </a:solidFill>
              <a:prstDash val="solid"/>
              <a:miter lim="800000"/>
            </a:ln>
            <a:effectLst/>
          </p:spPr>
        </p:cxnSp>
        <p:sp>
          <p:nvSpPr>
            <p:cNvPr id="45" name="TextBox 44"/>
            <p:cNvSpPr txBox="1"/>
            <p:nvPr/>
          </p:nvSpPr>
          <p:spPr>
            <a:xfrm>
              <a:off x="5818789" y="1176896"/>
              <a:ext cx="1936027" cy="1026193"/>
            </a:xfrm>
            <a:prstGeom prst="rect">
              <a:avLst/>
            </a:prstGeom>
            <a:noFill/>
            <a:ln>
              <a:solidFill>
                <a:srgbClr val="E7E6E6">
                  <a:lumMod val="50000"/>
                </a:srgbClr>
              </a:solidFill>
            </a:ln>
          </p:spPr>
          <p:txBody>
            <a:bodyPr wrap="square" lIns="68580" tIns="34290" rIns="68580" bIns="34290" rtlCol="0" anchor="t">
              <a:spAutoFit/>
            </a:bodyPr>
            <a:lstStyle/>
            <a:p>
              <a:pPr defTabSz="685777">
                <a:defRPr/>
              </a:pPr>
              <a:r>
                <a:rPr lang="en-US" sz="1400" kern="0" dirty="0">
                  <a:solidFill>
                    <a:prstClr val="white">
                      <a:lumMod val="50000"/>
                    </a:prstClr>
                  </a:solidFill>
                  <a:cs typeface="Arial"/>
                  <a:sym typeface="Arial"/>
                </a:rPr>
                <a:t>I would </a:t>
              </a:r>
              <a:r>
                <a:rPr lang="en-US" sz="1400" b="1" kern="0" dirty="0">
                  <a:solidFill>
                    <a:prstClr val="white">
                      <a:lumMod val="50000"/>
                    </a:prstClr>
                  </a:solidFill>
                  <a:cs typeface="Arial"/>
                  <a:sym typeface="Arial"/>
                </a:rPr>
                <a:t>LOVE</a:t>
              </a:r>
              <a:r>
                <a:rPr lang="en-US" sz="1400" kern="0" dirty="0">
                  <a:solidFill>
                    <a:prstClr val="white">
                      <a:lumMod val="50000"/>
                    </a:prstClr>
                  </a:solidFill>
                  <a:cs typeface="Arial"/>
                  <a:sym typeface="Arial"/>
                </a:rPr>
                <a:t> it if: </a:t>
              </a:r>
            </a:p>
            <a:p>
              <a:pPr marL="128110" indent="-128110" defTabSz="685777">
                <a:buFont typeface="Wingdings" panose="05000000000000000000" pitchFamily="2" charset="2"/>
                <a:buChar char="à"/>
                <a:defRPr/>
              </a:pPr>
              <a:r>
                <a:rPr lang="en-US" sz="1400" kern="0" dirty="0">
                  <a:solidFill>
                    <a:prstClr val="white">
                      <a:lumMod val="50000"/>
                    </a:prstClr>
                  </a:solidFill>
                  <a:cs typeface="Arial"/>
                  <a:sym typeface="Wingdings" panose="05000000000000000000" pitchFamily="2" charset="2"/>
                </a:rPr>
                <a:t>?</a:t>
              </a:r>
              <a:r>
                <a:rPr lang="pt-BR" sz="1400" i="1" kern="0" dirty="0">
                  <a:solidFill>
                    <a:prstClr val="black"/>
                  </a:solidFill>
                  <a:cs typeface="Arial"/>
                  <a:sym typeface="Arial"/>
                </a:rPr>
                <a:t> What would make the customer happy? </a:t>
              </a:r>
              <a:endParaRPr lang="pt-BR" sz="1400" i="1" kern="0" dirty="0">
                <a:solidFill>
                  <a:prstClr val="black"/>
                </a:solidFill>
                <a:cs typeface="Calibri" panose="020F0502020204030204"/>
                <a:sym typeface="Arial"/>
              </a:endParaRPr>
            </a:p>
            <a:p>
              <a:pPr marL="128110" indent="-128110" defTabSz="685777">
                <a:buFont typeface="Wingdings" panose="05000000000000000000" pitchFamily="2" charset="2"/>
                <a:buChar char="à"/>
                <a:defRPr/>
              </a:pPr>
              <a:r>
                <a:rPr lang="pt-BR" sz="1400" i="1" kern="0" dirty="0">
                  <a:solidFill>
                    <a:prstClr val="black"/>
                  </a:solidFill>
                  <a:cs typeface="Arial"/>
                  <a:sym typeface="Arial"/>
                </a:rPr>
                <a:t>? What do the clients want when facing the problem?</a:t>
              </a:r>
            </a:p>
            <a:p>
              <a:pPr marL="128110" indent="-128110" defTabSz="685777">
                <a:buFont typeface="Wingdings" panose="05000000000000000000" pitchFamily="2" charset="2"/>
                <a:buChar char="à"/>
                <a:defRPr/>
              </a:pPr>
              <a:endParaRPr lang="pt-BR" sz="1400" i="1" kern="0" dirty="0">
                <a:solidFill>
                  <a:srgbClr val="000000"/>
                </a:solidFill>
                <a:highlight>
                  <a:srgbClr val="FFFF00"/>
                </a:highlight>
                <a:cs typeface="Calibri"/>
                <a:sym typeface="Arial"/>
              </a:endParaRPr>
            </a:p>
            <a:p>
              <a:pPr marL="128110" indent="-128110" defTabSz="685777">
                <a:buFont typeface="Arial" pitchFamily="34" charset="0"/>
                <a:buChar char="•"/>
                <a:defRPr/>
              </a:pPr>
              <a:r>
                <a:rPr lang="pt-BR" dirty="0">
                  <a:sym typeface="Arial"/>
                </a:rPr>
                <a:t>They need design for their sense of style</a:t>
              </a:r>
            </a:p>
            <a:p>
              <a:pPr marL="128110" indent="-128110" defTabSz="685777">
                <a:buFont typeface="Arial" pitchFamily="34" charset="0"/>
                <a:buChar char="•"/>
                <a:defRPr/>
              </a:pPr>
              <a:r>
                <a:rPr lang="pt-BR" dirty="0">
                  <a:sym typeface="Arial"/>
                </a:rPr>
                <a:t>The Price would be affordable </a:t>
              </a:r>
            </a:p>
            <a:p>
              <a:pPr marL="128110" indent="-128110" defTabSz="685777">
                <a:buFont typeface="Arial" pitchFamily="34" charset="0"/>
                <a:buChar char="•"/>
                <a:defRPr/>
              </a:pPr>
              <a:r>
                <a:rPr lang="pt-BR" dirty="0">
                  <a:sym typeface="Arial"/>
                </a:rPr>
                <a:t>Quick designing</a:t>
              </a:r>
            </a:p>
          </p:txBody>
        </p:sp>
      </p:grpSp>
      <p:sp>
        <p:nvSpPr>
          <p:cNvPr id="8" name="Rectangle 7"/>
          <p:cNvSpPr/>
          <p:nvPr/>
        </p:nvSpPr>
        <p:spPr>
          <a:xfrm>
            <a:off x="8016363" y="4626290"/>
            <a:ext cx="1714342" cy="369330"/>
          </a:xfrm>
          <a:prstGeom prst="rect">
            <a:avLst/>
          </a:prstGeom>
        </p:spPr>
        <p:txBody>
          <a:bodyPr wrap="square" lIns="91439" tIns="45719" rIns="91439" bIns="45719">
            <a:spAutoFit/>
          </a:bodyPr>
          <a:lstStyle/>
          <a:p>
            <a:pPr algn="ctr"/>
            <a:r>
              <a:rPr lang="en-US" dirty="0"/>
              <a:t>FIT</a:t>
            </a:r>
          </a:p>
        </p:txBody>
      </p:sp>
      <p:sp>
        <p:nvSpPr>
          <p:cNvPr id="2" name="Rectangle 1"/>
          <p:cNvSpPr/>
          <p:nvPr/>
        </p:nvSpPr>
        <p:spPr>
          <a:xfrm>
            <a:off x="6286488" y="1477265"/>
            <a:ext cx="248784" cy="369330"/>
          </a:xfrm>
          <a:prstGeom prst="rect">
            <a:avLst/>
          </a:prstGeom>
        </p:spPr>
        <p:txBody>
          <a:bodyPr wrap="none" lIns="91439" tIns="45719" rIns="91439" bIns="45719">
            <a:spAutoFit/>
          </a:bodyPr>
          <a:lstStyle/>
          <a:p>
            <a:r>
              <a:rPr lang="en-US" dirty="0">
                <a:solidFill>
                  <a:srgbClr val="292929"/>
                </a:solidFill>
                <a:latin typeface="charter"/>
              </a:rPr>
              <a:t>.</a:t>
            </a:r>
            <a:endParaRPr lang="en-US" dirty="0"/>
          </a:p>
        </p:txBody>
      </p:sp>
      <p:pic>
        <p:nvPicPr>
          <p:cNvPr id="3" name="Picture 2">
            <a:extLst>
              <a:ext uri="{FF2B5EF4-FFF2-40B4-BE49-F238E27FC236}">
                <a16:creationId xmlns:a16="http://schemas.microsoft.com/office/drawing/2014/main" id="{CF0D3D84-E2DF-A5C2-17D7-6F929D71308C}"/>
              </a:ext>
            </a:extLst>
          </p:cNvPr>
          <p:cNvPicPr>
            <a:picLocks noChangeAspect="1"/>
          </p:cNvPicPr>
          <p:nvPr/>
        </p:nvPicPr>
        <p:blipFill>
          <a:blip r:embed="rId2"/>
          <a:stretch>
            <a:fillRect/>
          </a:stretch>
        </p:blipFill>
        <p:spPr>
          <a:xfrm>
            <a:off x="16321455" y="243683"/>
            <a:ext cx="1499746" cy="1585097"/>
          </a:xfrm>
          <a:prstGeom prst="rect">
            <a:avLst/>
          </a:prstGeom>
        </p:spPr>
      </p:pic>
    </p:spTree>
    <p:extLst>
      <p:ext uri="{BB962C8B-B14F-4D97-AF65-F5344CB8AC3E}">
        <p14:creationId xmlns:p14="http://schemas.microsoft.com/office/powerpoint/2010/main" val="364021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p:cNvSpPr txBox="1"/>
          <p:nvPr/>
        </p:nvSpPr>
        <p:spPr>
          <a:xfrm>
            <a:off x="405011" y="28190"/>
            <a:ext cx="11351678" cy="1254189"/>
          </a:xfrm>
          <a:prstGeom prst="rect">
            <a:avLst/>
          </a:prstGeom>
          <a:noFill/>
        </p:spPr>
        <p:txBody>
          <a:bodyPr wrap="square" lIns="137160" tIns="68580" rIns="137160" bIns="68580" rtlCol="0" anchor="t">
            <a:spAutoFit/>
          </a:bodyPr>
          <a:lstStyle/>
          <a:p>
            <a:pPr>
              <a:lnSpc>
                <a:spcPts val="8746"/>
              </a:lnSpc>
              <a:spcBef>
                <a:spcPct val="0"/>
              </a:spcBef>
            </a:pPr>
            <a:r>
              <a:rPr lang="en-US" sz="5400" b="1" dirty="0"/>
              <a:t>Solution</a:t>
            </a:r>
          </a:p>
        </p:txBody>
      </p:sp>
      <p:sp>
        <p:nvSpPr>
          <p:cNvPr id="110" name="Content Placeholder 2"/>
          <p:cNvSpPr txBox="1">
            <a:spLocks/>
          </p:cNvSpPr>
          <p:nvPr/>
        </p:nvSpPr>
        <p:spPr>
          <a:xfrm>
            <a:off x="955435" y="2043905"/>
            <a:ext cx="7274166" cy="6299996"/>
          </a:xfrm>
          <a:prstGeom prst="rect">
            <a:avLst/>
          </a:prstGeom>
          <a:solidFill>
            <a:schemeClr val="accent5">
              <a:lumMod val="40000"/>
              <a:lumOff val="60000"/>
            </a:schemeClr>
          </a:solidFill>
          <a:ln>
            <a:solidFill>
              <a:schemeClr val="tx1"/>
            </a:solidFill>
          </a:ln>
        </p:spPr>
        <p:txBody>
          <a:bodyPr vert="horz" lIns="137160" tIns="68580" rIns="137160" bIns="6858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300" b="1" dirty="0">
                <a:cs typeface="Calibri"/>
              </a:rPr>
              <a:t>We offer</a:t>
            </a:r>
          </a:p>
          <a:p>
            <a:pPr marL="0" indent="0" algn="just">
              <a:buNone/>
            </a:pPr>
            <a:endParaRPr lang="en-GB" sz="2300" b="1" dirty="0">
              <a:cs typeface="Calibri"/>
            </a:endParaRPr>
          </a:p>
          <a:p>
            <a:pPr marL="457196" indent="-457196" algn="just">
              <a:buFont typeface="+mj-lt"/>
              <a:buAutoNum type="arabicPeriod"/>
            </a:pPr>
            <a:r>
              <a:rPr lang="en-US" sz="2300" dirty="0">
                <a:cs typeface="Calibri"/>
              </a:rPr>
              <a:t>Liberate fashion choices with Fabric Fusion's user-friendly platform, enabling effortless mix-and-match customization for a truly unique and personalized look</a:t>
            </a:r>
          </a:p>
          <a:p>
            <a:pPr marL="457196" indent="-457196" algn="just">
              <a:buFont typeface="+mj-lt"/>
              <a:buAutoNum type="arabicPeriod"/>
            </a:pPr>
            <a:endParaRPr lang="en-US" sz="2300" dirty="0">
              <a:cs typeface="Calibri"/>
            </a:endParaRPr>
          </a:p>
          <a:p>
            <a:pPr marL="457196" indent="-457196" algn="just">
              <a:buFont typeface="+mj-lt"/>
              <a:buAutoNum type="arabicPeriod"/>
            </a:pPr>
            <a:r>
              <a:rPr lang="en-US" sz="2300" dirty="0">
                <a:cs typeface="Calibri"/>
              </a:rPr>
              <a:t>Designing unique and appealing outputs takes too long in today's market. Fabric Fusion solves this with AI integration, ensuring a quicker and efficient process for personalized designs.</a:t>
            </a:r>
          </a:p>
          <a:p>
            <a:pPr marL="457196" indent="-457196" algn="just">
              <a:buFont typeface="+mj-lt"/>
              <a:buAutoNum type="arabicPeriod"/>
            </a:pPr>
            <a:endParaRPr lang="en-US" sz="2300" dirty="0">
              <a:cs typeface="Calibri"/>
            </a:endParaRPr>
          </a:p>
          <a:p>
            <a:pPr marL="457196" indent="-457196" algn="just">
              <a:buFont typeface="+mj-lt"/>
              <a:buAutoNum type="arabicPeriod"/>
            </a:pPr>
            <a:r>
              <a:rPr lang="en-US" sz="2300" dirty="0">
                <a:cs typeface="Calibri"/>
              </a:rPr>
              <a:t>Boost Tamil fashion representation in dialogues by creating captivating designs and promoting them widely to increase awareness and appreciation, addressing the current disparity compared to comics and anime trends</a:t>
            </a:r>
          </a:p>
          <a:p>
            <a:pPr marL="457196" indent="-457196" algn="just">
              <a:buFont typeface="+mj-lt"/>
              <a:buAutoNum type="arabicPeriod"/>
            </a:pPr>
            <a:endParaRPr lang="en-GB" sz="2300" b="1" dirty="0">
              <a:cs typeface="Calibri"/>
            </a:endParaRPr>
          </a:p>
          <a:p>
            <a:pPr marL="0" indent="0" algn="just">
              <a:buNone/>
            </a:pPr>
            <a:endParaRPr lang="en-GB" sz="2700" dirty="0">
              <a:cs typeface="Calibri"/>
            </a:endParaRPr>
          </a:p>
          <a:p>
            <a:pPr marL="0" indent="0" algn="just">
              <a:buNone/>
            </a:pPr>
            <a:endParaRPr lang="en-GB" sz="2100" dirty="0">
              <a:cs typeface="Calibri"/>
            </a:endParaRPr>
          </a:p>
        </p:txBody>
      </p:sp>
      <p:sp>
        <p:nvSpPr>
          <p:cNvPr id="2" name="Rectangle 1"/>
          <p:cNvSpPr/>
          <p:nvPr/>
        </p:nvSpPr>
        <p:spPr>
          <a:xfrm>
            <a:off x="9117158" y="1111628"/>
            <a:ext cx="5867400" cy="8063744"/>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wrap="square" lIns="91439" tIns="45719" rIns="91439" bIns="45719">
            <a:spAutoFit/>
          </a:bodyPr>
          <a:lstStyle/>
          <a:p>
            <a:r>
              <a:rPr lang="en-GB" sz="2900" b="1" dirty="0"/>
              <a:t>Benefits:</a:t>
            </a:r>
          </a:p>
          <a:p>
            <a:endParaRPr lang="en-GB" sz="2900" b="1" dirty="0"/>
          </a:p>
          <a:p>
            <a:r>
              <a:rPr lang="en-US" sz="2300" dirty="0"/>
              <a:t>1.</a:t>
            </a:r>
            <a:r>
              <a:rPr lang="en-US" sz="2300" b="1" dirty="0"/>
              <a:t>Unique Designs</a:t>
            </a:r>
            <a:r>
              <a:rPr lang="en-US" sz="2300" dirty="0"/>
              <a:t>: Customers receive one-of-a-kind designs tailored to their preferences, ensuring their T-shirts stand out from the crowd and reflect their individual style and personality.</a:t>
            </a:r>
          </a:p>
          <a:p>
            <a:endParaRPr lang="en-US" sz="2300" dirty="0"/>
          </a:p>
          <a:p>
            <a:r>
              <a:rPr lang="en-US" sz="2300" dirty="0"/>
              <a:t>2. </a:t>
            </a:r>
            <a:r>
              <a:rPr lang="en-US" sz="2300" b="1" dirty="0"/>
              <a:t>Time Saving</a:t>
            </a:r>
            <a:r>
              <a:rPr lang="en-US" sz="2300" dirty="0"/>
              <a:t>: Our efficient processes and user-friendly platform save customers time by providing quick and convenient access to a wide range of customizable designs, eliminating the need for extensive searching or design work.</a:t>
            </a:r>
          </a:p>
          <a:p>
            <a:endParaRPr lang="en-US" sz="2300" dirty="0"/>
          </a:p>
          <a:p>
            <a:r>
              <a:rPr lang="en-US" sz="2300" dirty="0"/>
              <a:t>3</a:t>
            </a:r>
            <a:r>
              <a:rPr lang="en-US" sz="2300" b="1" dirty="0"/>
              <a:t>. Creating Different Trends</a:t>
            </a:r>
            <a:r>
              <a:rPr lang="en-US" sz="2300" dirty="0"/>
              <a:t>: By offering a diverse selection of designs and customization options, we empower customers to experiment with various styles and create their own fashion trends, fostering creativity and self-expression. This enables them to stay ahead of the curve and set new trends in the fashion industry.</a:t>
            </a:r>
            <a:endParaRPr lang="en-GB" sz="2300" dirty="0"/>
          </a:p>
        </p:txBody>
      </p:sp>
      <p:pic>
        <p:nvPicPr>
          <p:cNvPr id="3" name="Picture 2">
            <a:extLst>
              <a:ext uri="{FF2B5EF4-FFF2-40B4-BE49-F238E27FC236}">
                <a16:creationId xmlns:a16="http://schemas.microsoft.com/office/drawing/2014/main" id="{988FB632-DA86-7A11-69D2-833D48C49F44}"/>
              </a:ext>
            </a:extLst>
          </p:cNvPr>
          <p:cNvPicPr>
            <a:picLocks noChangeAspect="1"/>
          </p:cNvPicPr>
          <p:nvPr/>
        </p:nvPicPr>
        <p:blipFill>
          <a:blip r:embed="rId3"/>
          <a:stretch>
            <a:fillRect/>
          </a:stretch>
        </p:blipFill>
        <p:spPr>
          <a:xfrm>
            <a:off x="16154401" y="190502"/>
            <a:ext cx="1499746" cy="1585097"/>
          </a:xfrm>
          <a:prstGeom prst="rect">
            <a:avLst/>
          </a:prstGeom>
        </p:spPr>
      </p:pic>
    </p:spTree>
    <p:extLst>
      <p:ext uri="{BB962C8B-B14F-4D97-AF65-F5344CB8AC3E}">
        <p14:creationId xmlns:p14="http://schemas.microsoft.com/office/powerpoint/2010/main" val="264494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381000" y="0"/>
            <a:ext cx="12338484" cy="1019574"/>
          </a:xfrm>
          <a:prstGeom prst="rect">
            <a:avLst/>
          </a:prstGeom>
        </p:spPr>
        <p:txBody>
          <a:bodyPr wrap="square" lIns="0" tIns="0" rIns="0" bIns="0" rtlCol="0" anchor="t">
            <a:spAutoFit/>
          </a:bodyPr>
          <a:lstStyle/>
          <a:p>
            <a:pPr>
              <a:lnSpc>
                <a:spcPts val="8747"/>
              </a:lnSpc>
            </a:pPr>
            <a:r>
              <a:rPr lang="en-US" sz="5400" b="1" dirty="0"/>
              <a:t>Competition Analysis</a:t>
            </a:r>
          </a:p>
        </p:txBody>
      </p:sp>
      <p:graphicFrame>
        <p:nvGraphicFramePr>
          <p:cNvPr id="7" name="Table 6"/>
          <p:cNvGraphicFramePr>
            <a:graphicFrameLocks noGrp="1"/>
          </p:cNvGraphicFramePr>
          <p:nvPr>
            <p:extLst>
              <p:ext uri="{D42A27DB-BD31-4B8C-83A1-F6EECF244321}">
                <p14:modId xmlns:p14="http://schemas.microsoft.com/office/powerpoint/2010/main" val="1992818920"/>
              </p:ext>
            </p:extLst>
          </p:nvPr>
        </p:nvGraphicFramePr>
        <p:xfrm>
          <a:off x="1151112" y="1903140"/>
          <a:ext cx="14031400" cy="7047755"/>
        </p:xfrm>
        <a:graphic>
          <a:graphicData uri="http://schemas.openxmlformats.org/drawingml/2006/table">
            <a:tbl>
              <a:tblPr firstRow="1" bandRow="1">
                <a:tableStyleId>{073A0DAA-6AF3-43AB-8588-CEC1D06C72B9}</a:tableStyleId>
              </a:tblPr>
              <a:tblGrid>
                <a:gridCol w="2271800">
                  <a:extLst>
                    <a:ext uri="{9D8B030D-6E8A-4147-A177-3AD203B41FA5}">
                      <a16:colId xmlns:a16="http://schemas.microsoft.com/office/drawing/2014/main" val="666748423"/>
                    </a:ext>
                  </a:extLst>
                </a:gridCol>
                <a:gridCol w="2351920">
                  <a:extLst>
                    <a:ext uri="{9D8B030D-6E8A-4147-A177-3AD203B41FA5}">
                      <a16:colId xmlns:a16="http://schemas.microsoft.com/office/drawing/2014/main" val="837611741"/>
                    </a:ext>
                  </a:extLst>
                </a:gridCol>
                <a:gridCol w="2351920">
                  <a:extLst>
                    <a:ext uri="{9D8B030D-6E8A-4147-A177-3AD203B41FA5}">
                      <a16:colId xmlns:a16="http://schemas.microsoft.com/office/drawing/2014/main" val="2522811997"/>
                    </a:ext>
                  </a:extLst>
                </a:gridCol>
                <a:gridCol w="2351920">
                  <a:extLst>
                    <a:ext uri="{9D8B030D-6E8A-4147-A177-3AD203B41FA5}">
                      <a16:colId xmlns:a16="http://schemas.microsoft.com/office/drawing/2014/main" val="2808365038"/>
                    </a:ext>
                  </a:extLst>
                </a:gridCol>
                <a:gridCol w="2351920">
                  <a:extLst>
                    <a:ext uri="{9D8B030D-6E8A-4147-A177-3AD203B41FA5}">
                      <a16:colId xmlns:a16="http://schemas.microsoft.com/office/drawing/2014/main" val="842314674"/>
                    </a:ext>
                  </a:extLst>
                </a:gridCol>
                <a:gridCol w="2351920">
                  <a:extLst>
                    <a:ext uri="{9D8B030D-6E8A-4147-A177-3AD203B41FA5}">
                      <a16:colId xmlns:a16="http://schemas.microsoft.com/office/drawing/2014/main" val="3630476225"/>
                    </a:ext>
                  </a:extLst>
                </a:gridCol>
              </a:tblGrid>
              <a:tr h="646909">
                <a:tc>
                  <a:txBody>
                    <a:bodyPr/>
                    <a:lstStyle/>
                    <a:p>
                      <a:pPr algn="ctr"/>
                      <a:r>
                        <a:rPr lang="en-US" sz="2400" b="1" dirty="0">
                          <a:solidFill>
                            <a:schemeClr val="bg1"/>
                          </a:solidFill>
                        </a:rPr>
                        <a:t>Competitors</a:t>
                      </a:r>
                    </a:p>
                  </a:txBody>
                  <a:tcPr/>
                </a:tc>
                <a:tc>
                  <a:txBody>
                    <a:bodyPr/>
                    <a:lstStyle/>
                    <a:p>
                      <a:pPr algn="ctr"/>
                      <a:r>
                        <a:rPr lang="en-US" sz="2400" b="1" dirty="0" err="1">
                          <a:solidFill>
                            <a:schemeClr val="bg1"/>
                          </a:solidFill>
                        </a:rPr>
                        <a:t>Bewakoof</a:t>
                      </a:r>
                      <a:endParaRPr lang="en-US" sz="2400" b="1" dirty="0">
                        <a:solidFill>
                          <a:schemeClr val="bg1"/>
                        </a:solidFill>
                      </a:endParaRPr>
                    </a:p>
                  </a:txBody>
                  <a:tcPr/>
                </a:tc>
                <a:tc>
                  <a:txBody>
                    <a:bodyPr/>
                    <a:lstStyle/>
                    <a:p>
                      <a:pPr algn="ctr"/>
                      <a:r>
                        <a:rPr lang="en-US" sz="2400" b="1" dirty="0" err="1">
                          <a:solidFill>
                            <a:schemeClr val="bg1"/>
                          </a:solidFill>
                        </a:rPr>
                        <a:t>Inkmonk</a:t>
                      </a:r>
                      <a:endParaRPr lang="en-US" sz="2400" b="1" dirty="0">
                        <a:solidFill>
                          <a:schemeClr val="bg1"/>
                        </a:solidFill>
                      </a:endParaRPr>
                    </a:p>
                  </a:txBody>
                  <a:tcPr/>
                </a:tc>
                <a:tc>
                  <a:txBody>
                    <a:bodyPr/>
                    <a:lstStyle/>
                    <a:p>
                      <a:pPr algn="ctr"/>
                      <a:r>
                        <a:rPr lang="en-US" sz="2400" b="1" dirty="0" err="1">
                          <a:solidFill>
                            <a:schemeClr val="bg1"/>
                          </a:solidFill>
                        </a:rPr>
                        <a:t>Zudio</a:t>
                      </a:r>
                      <a:endParaRPr lang="en-US" sz="2400" b="1" dirty="0">
                        <a:solidFill>
                          <a:schemeClr val="bg1"/>
                        </a:solidFill>
                      </a:endParaRPr>
                    </a:p>
                  </a:txBody>
                  <a:tcPr/>
                </a:tc>
                <a:tc>
                  <a:txBody>
                    <a:bodyPr/>
                    <a:lstStyle/>
                    <a:p>
                      <a:pPr algn="ctr"/>
                      <a:r>
                        <a:rPr lang="en-US" sz="2400" b="1" dirty="0">
                          <a:solidFill>
                            <a:schemeClr val="bg1"/>
                          </a:solidFill>
                        </a:rPr>
                        <a:t>Max</a:t>
                      </a:r>
                    </a:p>
                  </a:txBody>
                  <a:tcPr/>
                </a:tc>
                <a:tc>
                  <a:txBody>
                    <a:bodyPr/>
                    <a:lstStyle/>
                    <a:p>
                      <a:pPr algn="ctr"/>
                      <a:r>
                        <a:rPr lang="en-US" sz="2400" b="1" dirty="0">
                          <a:solidFill>
                            <a:schemeClr val="bg1"/>
                          </a:solidFill>
                        </a:rPr>
                        <a:t>Fabric Fusion</a:t>
                      </a:r>
                    </a:p>
                  </a:txBody>
                  <a:tcPr/>
                </a:tc>
                <a:extLst>
                  <a:ext uri="{0D108BD9-81ED-4DB2-BD59-A6C34878D82A}">
                    <a16:rowId xmlns:a16="http://schemas.microsoft.com/office/drawing/2014/main" val="1806830575"/>
                  </a:ext>
                </a:extLst>
              </a:tr>
              <a:tr h="1536204">
                <a:tc>
                  <a:txBody>
                    <a:bodyPr/>
                    <a:lstStyle/>
                    <a:p>
                      <a:r>
                        <a:rPr lang="en-US" sz="2400" dirty="0"/>
                        <a:t>Product</a:t>
                      </a:r>
                    </a:p>
                  </a:txBody>
                  <a:tcPr/>
                </a:tc>
                <a:tc>
                  <a:txBody>
                    <a:bodyPr/>
                    <a:lstStyle/>
                    <a:p>
                      <a:r>
                        <a:rPr lang="en-US" sz="2400" dirty="0"/>
                        <a:t>Customizable Printed T  -shirt</a:t>
                      </a:r>
                    </a:p>
                  </a:txBody>
                  <a:tcPr/>
                </a:tc>
                <a:tc>
                  <a:txBody>
                    <a:bodyPr/>
                    <a:lstStyle/>
                    <a:p>
                      <a:pPr marL="0" marR="0" lvl="0" indent="0" algn="l" defTabSz="1632819" rtl="0" eaLnBrk="1" fontAlgn="auto" latinLnBrk="0" hangingPunct="1">
                        <a:lnSpc>
                          <a:spcPct val="100000"/>
                        </a:lnSpc>
                        <a:spcBef>
                          <a:spcPts val="0"/>
                        </a:spcBef>
                        <a:spcAft>
                          <a:spcPts val="0"/>
                        </a:spcAft>
                        <a:buClrTx/>
                        <a:buSzTx/>
                        <a:buFontTx/>
                        <a:buNone/>
                        <a:tabLst/>
                        <a:defRPr/>
                      </a:pPr>
                      <a:r>
                        <a:rPr lang="en-US" sz="2400" dirty="0"/>
                        <a:t>Customizable Design T-shirt</a:t>
                      </a:r>
                    </a:p>
                    <a:p>
                      <a:endParaRPr lang="en-US" sz="2400" dirty="0"/>
                    </a:p>
                  </a:txBody>
                  <a:tcPr/>
                </a:tc>
                <a:tc>
                  <a:txBody>
                    <a:bodyPr/>
                    <a:lstStyle/>
                    <a:p>
                      <a:r>
                        <a:rPr lang="en-US" sz="2400" dirty="0"/>
                        <a:t>Clothing</a:t>
                      </a:r>
                    </a:p>
                  </a:txBody>
                  <a:tcPr/>
                </a:tc>
                <a:tc>
                  <a:txBody>
                    <a:bodyPr/>
                    <a:lstStyle/>
                    <a:p>
                      <a:r>
                        <a:rPr lang="en-US" sz="2400" dirty="0"/>
                        <a:t>clothing</a:t>
                      </a:r>
                    </a:p>
                  </a:txBody>
                  <a:tcPr/>
                </a:tc>
                <a:tc>
                  <a:txBody>
                    <a:bodyPr/>
                    <a:lstStyle/>
                    <a:p>
                      <a:r>
                        <a:rPr lang="en-US" sz="2400" dirty="0"/>
                        <a:t>Customizable Printed T-shirt &amp; Printed T-shirt</a:t>
                      </a:r>
                    </a:p>
                    <a:p>
                      <a:endParaRPr lang="en-US" sz="2400" dirty="0"/>
                    </a:p>
                  </a:txBody>
                  <a:tcPr/>
                </a:tc>
                <a:extLst>
                  <a:ext uri="{0D108BD9-81ED-4DB2-BD59-A6C34878D82A}">
                    <a16:rowId xmlns:a16="http://schemas.microsoft.com/office/drawing/2014/main" val="584068931"/>
                  </a:ext>
                </a:extLst>
              </a:tr>
              <a:tr h="990980">
                <a:tc>
                  <a:txBody>
                    <a:bodyPr/>
                    <a:lstStyle/>
                    <a:p>
                      <a:r>
                        <a:rPr lang="en-US" sz="2400" dirty="0"/>
                        <a:t>Benefits</a:t>
                      </a:r>
                    </a:p>
                  </a:txBody>
                  <a:tcPr/>
                </a:tc>
                <a:tc>
                  <a:txBody>
                    <a:bodyPr/>
                    <a:lstStyle/>
                    <a:p>
                      <a:r>
                        <a:rPr lang="en-US" sz="2400" dirty="0"/>
                        <a:t>Custom Design</a:t>
                      </a:r>
                    </a:p>
                  </a:txBody>
                  <a:tcPr/>
                </a:tc>
                <a:tc>
                  <a:txBody>
                    <a:bodyPr/>
                    <a:lstStyle/>
                    <a:p>
                      <a:pPr marL="0" marR="0" lvl="0" indent="0" algn="l" defTabSz="1632819" rtl="0" eaLnBrk="1" fontAlgn="auto" latinLnBrk="0" hangingPunct="1">
                        <a:lnSpc>
                          <a:spcPct val="100000"/>
                        </a:lnSpc>
                        <a:spcBef>
                          <a:spcPts val="0"/>
                        </a:spcBef>
                        <a:spcAft>
                          <a:spcPts val="0"/>
                        </a:spcAft>
                        <a:buClrTx/>
                        <a:buSzTx/>
                        <a:buFontTx/>
                        <a:buNone/>
                        <a:tabLst/>
                        <a:defRPr/>
                      </a:pPr>
                      <a:r>
                        <a:rPr lang="en-US" sz="2400" dirty="0"/>
                        <a:t>Custom Design</a:t>
                      </a:r>
                    </a:p>
                    <a:p>
                      <a:endParaRPr lang="en-US" sz="2400" dirty="0"/>
                    </a:p>
                  </a:txBody>
                  <a:tcPr/>
                </a:tc>
                <a:tc>
                  <a:txBody>
                    <a:bodyPr/>
                    <a:lstStyle/>
                    <a:p>
                      <a:r>
                        <a:rPr lang="en-US" sz="2400" dirty="0"/>
                        <a:t>Affordable Price</a:t>
                      </a:r>
                    </a:p>
                  </a:txBody>
                  <a:tcPr/>
                </a:tc>
                <a:tc>
                  <a:txBody>
                    <a:bodyPr/>
                    <a:lstStyle/>
                    <a:p>
                      <a:r>
                        <a:rPr lang="en-US" sz="2400" dirty="0"/>
                        <a:t>Various Offers</a:t>
                      </a:r>
                    </a:p>
                  </a:txBody>
                  <a:tcPr/>
                </a:tc>
                <a:tc>
                  <a:txBody>
                    <a:bodyPr/>
                    <a:lstStyle/>
                    <a:p>
                      <a:pPr marL="0" marR="0" lvl="0" indent="0" algn="l" defTabSz="1632819" rtl="0" eaLnBrk="1" fontAlgn="auto" latinLnBrk="0" hangingPunct="1">
                        <a:lnSpc>
                          <a:spcPct val="100000"/>
                        </a:lnSpc>
                        <a:spcBef>
                          <a:spcPts val="0"/>
                        </a:spcBef>
                        <a:spcAft>
                          <a:spcPts val="0"/>
                        </a:spcAft>
                        <a:buClrTx/>
                        <a:buSzTx/>
                        <a:buFontTx/>
                        <a:buNone/>
                        <a:tabLst/>
                        <a:defRPr/>
                      </a:pPr>
                      <a:r>
                        <a:rPr lang="en-US" sz="2400" dirty="0"/>
                        <a:t>Custom Design</a:t>
                      </a:r>
                    </a:p>
                    <a:p>
                      <a:endParaRPr lang="en-US" sz="2400" dirty="0"/>
                    </a:p>
                  </a:txBody>
                  <a:tcPr/>
                </a:tc>
                <a:extLst>
                  <a:ext uri="{0D108BD9-81ED-4DB2-BD59-A6C34878D82A}">
                    <a16:rowId xmlns:a16="http://schemas.microsoft.com/office/drawing/2014/main" val="3832088801"/>
                  </a:ext>
                </a:extLst>
              </a:tr>
              <a:tr h="821691">
                <a:tc>
                  <a:txBody>
                    <a:bodyPr/>
                    <a:lstStyle/>
                    <a:p>
                      <a:r>
                        <a:rPr lang="en-US" sz="2400" dirty="0"/>
                        <a:t>Branding channels </a:t>
                      </a:r>
                    </a:p>
                  </a:txBody>
                  <a:tcPr/>
                </a:tc>
                <a:tc>
                  <a:txBody>
                    <a:bodyPr/>
                    <a:lstStyle/>
                    <a:p>
                      <a:r>
                        <a:rPr lang="en-US" sz="2400" dirty="0"/>
                        <a:t>Paid Promotion &amp;Social media</a:t>
                      </a:r>
                    </a:p>
                  </a:txBody>
                  <a:tcPr/>
                </a:tc>
                <a:tc>
                  <a:txBody>
                    <a:bodyPr/>
                    <a:lstStyle/>
                    <a:p>
                      <a:r>
                        <a:rPr lang="en-US" sz="2400" dirty="0"/>
                        <a:t>Social Media &amp;Paid Promotion</a:t>
                      </a:r>
                    </a:p>
                  </a:txBody>
                  <a:tcPr/>
                </a:tc>
                <a:tc>
                  <a:txBody>
                    <a:bodyPr/>
                    <a:lstStyle/>
                    <a:p>
                      <a:r>
                        <a:rPr lang="en-US" sz="2400" dirty="0"/>
                        <a:t>Influencer Branding</a:t>
                      </a:r>
                    </a:p>
                  </a:txBody>
                  <a:tcPr/>
                </a:tc>
                <a:tc>
                  <a:txBody>
                    <a:bodyPr/>
                    <a:lstStyle/>
                    <a:p>
                      <a:r>
                        <a:rPr lang="en-US" sz="2400" dirty="0"/>
                        <a:t>TV ads, social media</a:t>
                      </a:r>
                    </a:p>
                  </a:txBody>
                  <a:tcPr/>
                </a:tc>
                <a:tc>
                  <a:txBody>
                    <a:bodyPr/>
                    <a:lstStyle/>
                    <a:p>
                      <a:r>
                        <a:rPr lang="en-US" sz="2400" dirty="0"/>
                        <a:t>Social Media &amp; word of mouth</a:t>
                      </a:r>
                    </a:p>
                  </a:txBody>
                  <a:tcPr/>
                </a:tc>
                <a:extLst>
                  <a:ext uri="{0D108BD9-81ED-4DB2-BD59-A6C34878D82A}">
                    <a16:rowId xmlns:a16="http://schemas.microsoft.com/office/drawing/2014/main" val="457005780"/>
                  </a:ext>
                </a:extLst>
              </a:tr>
              <a:tr h="708787">
                <a:tc>
                  <a:txBody>
                    <a:bodyPr/>
                    <a:lstStyle/>
                    <a:p>
                      <a:r>
                        <a:rPr lang="en-US" sz="2400" dirty="0"/>
                        <a:t>Mode of Business</a:t>
                      </a:r>
                    </a:p>
                  </a:txBody>
                  <a:tcPr/>
                </a:tc>
                <a:tc>
                  <a:txBody>
                    <a:bodyPr/>
                    <a:lstStyle/>
                    <a:p>
                      <a:r>
                        <a:rPr lang="en-US" sz="2400" dirty="0"/>
                        <a:t>Online </a:t>
                      </a:r>
                    </a:p>
                  </a:txBody>
                  <a:tcPr/>
                </a:tc>
                <a:tc>
                  <a:txBody>
                    <a:bodyPr/>
                    <a:lstStyle/>
                    <a:p>
                      <a:r>
                        <a:rPr lang="en-US" sz="2400" dirty="0"/>
                        <a:t>Online</a:t>
                      </a:r>
                    </a:p>
                  </a:txBody>
                  <a:tcPr/>
                </a:tc>
                <a:tc>
                  <a:txBody>
                    <a:bodyPr/>
                    <a:lstStyle/>
                    <a:p>
                      <a:r>
                        <a:rPr lang="en-US" sz="2400" dirty="0"/>
                        <a:t>Online &amp; Offline</a:t>
                      </a:r>
                    </a:p>
                  </a:txBody>
                  <a:tcPr/>
                </a:tc>
                <a:tc>
                  <a:txBody>
                    <a:bodyPr/>
                    <a:lstStyle/>
                    <a:p>
                      <a:r>
                        <a:rPr lang="en-US" sz="2400" dirty="0"/>
                        <a:t>Online &amp; Offline</a:t>
                      </a:r>
                    </a:p>
                  </a:txBody>
                  <a:tcPr/>
                </a:tc>
                <a:tc>
                  <a:txBody>
                    <a:bodyPr/>
                    <a:lstStyle/>
                    <a:p>
                      <a:r>
                        <a:rPr lang="en-US" sz="2400" dirty="0"/>
                        <a:t>Online &amp; Offline</a:t>
                      </a:r>
                    </a:p>
                  </a:txBody>
                  <a:tcPr/>
                </a:tc>
                <a:extLst>
                  <a:ext uri="{0D108BD9-81ED-4DB2-BD59-A6C34878D82A}">
                    <a16:rowId xmlns:a16="http://schemas.microsoft.com/office/drawing/2014/main" val="3498795634"/>
                  </a:ext>
                </a:extLst>
              </a:tr>
              <a:tr h="821691">
                <a:tc>
                  <a:txBody>
                    <a:bodyPr/>
                    <a:lstStyle/>
                    <a:p>
                      <a:r>
                        <a:rPr lang="en-US" sz="2400" dirty="0"/>
                        <a:t>Limitations</a:t>
                      </a:r>
                    </a:p>
                  </a:txBody>
                  <a:tcPr/>
                </a:tc>
                <a:tc>
                  <a:txBody>
                    <a:bodyPr/>
                    <a:lstStyle/>
                    <a:p>
                      <a:r>
                        <a:rPr lang="en-US" sz="2400" dirty="0"/>
                        <a:t>Expensive</a:t>
                      </a:r>
                    </a:p>
                  </a:txBody>
                  <a:tcPr/>
                </a:tc>
                <a:tc>
                  <a:txBody>
                    <a:bodyPr/>
                    <a:lstStyle/>
                    <a:p>
                      <a:pPr marL="0" marR="0" lvl="0" indent="0" algn="l" defTabSz="1632819" rtl="0" eaLnBrk="1" fontAlgn="auto" latinLnBrk="0" hangingPunct="1">
                        <a:lnSpc>
                          <a:spcPct val="100000"/>
                        </a:lnSpc>
                        <a:spcBef>
                          <a:spcPts val="0"/>
                        </a:spcBef>
                        <a:spcAft>
                          <a:spcPts val="0"/>
                        </a:spcAft>
                        <a:buClrTx/>
                        <a:buSzTx/>
                        <a:buFontTx/>
                        <a:buNone/>
                        <a:tabLst/>
                        <a:defRPr/>
                      </a:pPr>
                      <a:r>
                        <a:rPr lang="en-US" sz="2400" dirty="0"/>
                        <a:t>Only Bulk Orders</a:t>
                      </a:r>
                    </a:p>
                    <a:p>
                      <a:endParaRPr lang="en-US" sz="2400" dirty="0"/>
                    </a:p>
                  </a:txBody>
                  <a:tcPr/>
                </a:tc>
                <a:tc>
                  <a:txBody>
                    <a:bodyPr/>
                    <a:lstStyle/>
                    <a:p>
                      <a:r>
                        <a:rPr lang="en-US" sz="2400" dirty="0"/>
                        <a:t>Repetitive Design</a:t>
                      </a:r>
                    </a:p>
                  </a:txBody>
                  <a:tcPr/>
                </a:tc>
                <a:tc>
                  <a:txBody>
                    <a:bodyPr/>
                    <a:lstStyle/>
                    <a:p>
                      <a:r>
                        <a:rPr lang="en-US" sz="2400" dirty="0"/>
                        <a:t>Overpriced</a:t>
                      </a:r>
                    </a:p>
                  </a:txBody>
                  <a:tcPr/>
                </a:tc>
                <a:tc>
                  <a:txBody>
                    <a:bodyPr/>
                    <a:lstStyle/>
                    <a:p>
                      <a:r>
                        <a:rPr lang="en-US" sz="2400" dirty="0"/>
                        <a:t>T-shirt Only</a:t>
                      </a:r>
                    </a:p>
                  </a:txBody>
                  <a:tcPr/>
                </a:tc>
                <a:extLst>
                  <a:ext uri="{0D108BD9-81ED-4DB2-BD59-A6C34878D82A}">
                    <a16:rowId xmlns:a16="http://schemas.microsoft.com/office/drawing/2014/main" val="1009763486"/>
                  </a:ext>
                </a:extLst>
              </a:tr>
              <a:tr h="1386506">
                <a:tc>
                  <a:txBody>
                    <a:bodyPr/>
                    <a:lstStyle/>
                    <a:p>
                      <a:r>
                        <a:rPr lang="en-US" sz="2400" dirty="0"/>
                        <a:t>UVP</a:t>
                      </a:r>
                    </a:p>
                  </a:txBody>
                  <a:tcPr/>
                </a:tc>
                <a:tc>
                  <a:txBody>
                    <a:bodyPr/>
                    <a:lstStyle/>
                    <a:p>
                      <a:r>
                        <a:rPr lang="en-US" sz="2400" dirty="0"/>
                        <a:t>Design With Customer Perspective</a:t>
                      </a:r>
                    </a:p>
                  </a:txBody>
                  <a:tcPr/>
                </a:tc>
                <a:tc>
                  <a:txBody>
                    <a:bodyPr/>
                    <a:lstStyle/>
                    <a:p>
                      <a:r>
                        <a:rPr lang="en-US" sz="2400" dirty="0"/>
                        <a:t>Handle Bulk Orders for Events</a:t>
                      </a:r>
                    </a:p>
                  </a:txBody>
                  <a:tcPr/>
                </a:tc>
                <a:tc>
                  <a:txBody>
                    <a:bodyPr/>
                    <a:lstStyle/>
                    <a:p>
                      <a:r>
                        <a:rPr lang="en-US" sz="2400" dirty="0"/>
                        <a:t>Economical</a:t>
                      </a:r>
                    </a:p>
                  </a:txBody>
                  <a:tcPr/>
                </a:tc>
                <a:tc>
                  <a:txBody>
                    <a:bodyPr/>
                    <a:lstStyle/>
                    <a:p>
                      <a:r>
                        <a:rPr lang="en-US" sz="2400" dirty="0"/>
                        <a:t> Availability </a:t>
                      </a:r>
                    </a:p>
                  </a:txBody>
                  <a:tcPr/>
                </a:tc>
                <a:tc>
                  <a:txBody>
                    <a:bodyPr/>
                    <a:lstStyle/>
                    <a:p>
                      <a:r>
                        <a:rPr lang="en-US" sz="2400" dirty="0"/>
                        <a:t>Low time Consumption</a:t>
                      </a:r>
                    </a:p>
                  </a:txBody>
                  <a:tcPr/>
                </a:tc>
                <a:extLst>
                  <a:ext uri="{0D108BD9-81ED-4DB2-BD59-A6C34878D82A}">
                    <a16:rowId xmlns:a16="http://schemas.microsoft.com/office/drawing/2014/main" val="1794513914"/>
                  </a:ext>
                </a:extLst>
              </a:tr>
            </a:tbl>
          </a:graphicData>
        </a:graphic>
      </p:graphicFrame>
      <p:pic>
        <p:nvPicPr>
          <p:cNvPr id="2" name="Picture 1">
            <a:extLst>
              <a:ext uri="{FF2B5EF4-FFF2-40B4-BE49-F238E27FC236}">
                <a16:creationId xmlns:a16="http://schemas.microsoft.com/office/drawing/2014/main" id="{F7BFEC58-2AB5-F1B6-658F-71778CA590B9}"/>
              </a:ext>
            </a:extLst>
          </p:cNvPr>
          <p:cNvPicPr>
            <a:picLocks noChangeAspect="1"/>
          </p:cNvPicPr>
          <p:nvPr/>
        </p:nvPicPr>
        <p:blipFill>
          <a:blip r:embed="rId2"/>
          <a:stretch>
            <a:fillRect/>
          </a:stretch>
        </p:blipFill>
        <p:spPr>
          <a:xfrm>
            <a:off x="16321455" y="243683"/>
            <a:ext cx="1499746" cy="1585097"/>
          </a:xfrm>
          <a:prstGeom prst="rect">
            <a:avLst/>
          </a:prstGeom>
        </p:spPr>
      </p:pic>
    </p:spTree>
    <p:extLst>
      <p:ext uri="{BB962C8B-B14F-4D97-AF65-F5344CB8AC3E}">
        <p14:creationId xmlns:p14="http://schemas.microsoft.com/office/powerpoint/2010/main" val="294694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txBox="1"/>
          <p:nvPr/>
        </p:nvSpPr>
        <p:spPr>
          <a:xfrm>
            <a:off x="772885" y="-72353"/>
            <a:ext cx="12338484" cy="1115690"/>
          </a:xfrm>
          <a:prstGeom prst="rect">
            <a:avLst/>
          </a:prstGeom>
        </p:spPr>
        <p:txBody>
          <a:bodyPr wrap="square" lIns="0" tIns="0" rIns="0" bIns="0" rtlCol="0" anchor="t">
            <a:spAutoFit/>
          </a:bodyPr>
          <a:lstStyle/>
          <a:p>
            <a:pPr>
              <a:lnSpc>
                <a:spcPts val="8747"/>
              </a:lnSpc>
            </a:pPr>
            <a:r>
              <a:rPr lang="en-US" sz="6000" b="1" dirty="0"/>
              <a:t>Lean Canvas</a:t>
            </a:r>
          </a:p>
        </p:txBody>
      </p:sp>
      <p:grpSp>
        <p:nvGrpSpPr>
          <p:cNvPr id="24" name="Group 23">
            <a:extLst>
              <a:ext uri="{FF2B5EF4-FFF2-40B4-BE49-F238E27FC236}">
                <a16:creationId xmlns:a16="http://schemas.microsoft.com/office/drawing/2014/main" id="{2871DA2D-B3CE-4F68-958C-EFD80A045093}"/>
              </a:ext>
            </a:extLst>
          </p:cNvPr>
          <p:cNvGrpSpPr/>
          <p:nvPr/>
        </p:nvGrpSpPr>
        <p:grpSpPr>
          <a:xfrm>
            <a:off x="582483" y="1355155"/>
            <a:ext cx="13952288" cy="8182928"/>
            <a:chOff x="1057033" y="956344"/>
            <a:chExt cx="9301525" cy="5455285"/>
          </a:xfrm>
          <a:noFill/>
        </p:grpSpPr>
        <p:sp>
          <p:nvSpPr>
            <p:cNvPr id="25" name="Rectangle 24">
              <a:extLst>
                <a:ext uri="{FF2B5EF4-FFF2-40B4-BE49-F238E27FC236}">
                  <a16:creationId xmlns:a16="http://schemas.microsoft.com/office/drawing/2014/main" id="{142DE8B1-BA37-482F-A9F6-BEF943895596}"/>
                </a:ext>
              </a:extLst>
            </p:cNvPr>
            <p:cNvSpPr/>
            <p:nvPr/>
          </p:nvSpPr>
          <p:spPr>
            <a:xfrm>
              <a:off x="1057033" y="956344"/>
              <a:ext cx="1870333" cy="406161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r>
                <a:rPr lang="en-GB" b="1" dirty="0">
                  <a:solidFill>
                    <a:schemeClr val="tx1"/>
                  </a:solidFill>
                </a:rPr>
                <a:t>PROBLEM</a:t>
              </a:r>
            </a:p>
            <a:p>
              <a:endParaRPr lang="en-GB" dirty="0">
                <a:solidFill>
                  <a:schemeClr val="tx1"/>
                </a:solidFill>
              </a:endParaRPr>
            </a:p>
            <a:p>
              <a:pPr marL="285750" indent="-285750">
                <a:buFont typeface="Arial" panose="020B0604020202020204" pitchFamily="34" charset="0"/>
                <a:buChar char="•"/>
              </a:pPr>
              <a:r>
                <a:rPr lang="en-US" dirty="0">
                  <a:solidFill>
                    <a:schemeClr val="tx1"/>
                  </a:solidFill>
                </a:rPr>
                <a:t>Customers want customized T-shirts that reflect their unique style and preferences.</a:t>
              </a:r>
            </a:p>
            <a:p>
              <a:pPr marL="285750" indent="-285750">
                <a:buFont typeface="Arial" panose="020B0604020202020204" pitchFamily="34" charset="0"/>
                <a:buChar char="•"/>
              </a:pPr>
              <a:r>
                <a:rPr lang="en-US" dirty="0">
                  <a:solidFill>
                    <a:schemeClr val="tx1"/>
                  </a:solidFill>
                </a:rPr>
                <a:t>Limited &amp; Repetitive Design</a:t>
              </a:r>
            </a:p>
            <a:p>
              <a:pPr marL="285750" indent="-285750">
                <a:buFont typeface="Arial" panose="020B0604020202020204" pitchFamily="34" charset="0"/>
                <a:buChar char="•"/>
              </a:pPr>
              <a:r>
                <a:rPr lang="en-US" dirty="0">
                  <a:solidFill>
                    <a:schemeClr val="tx1"/>
                  </a:solidFill>
                </a:rPr>
                <a:t>The design process can be quite time-consuming.</a:t>
              </a:r>
              <a:endParaRPr lang="en-GB" dirty="0">
                <a:solidFill>
                  <a:schemeClr val="tx1"/>
                </a:solidFill>
              </a:endParaRPr>
            </a:p>
            <a:p>
              <a:endParaRPr lang="en-GB" dirty="0">
                <a:solidFill>
                  <a:schemeClr val="tx1"/>
                </a:solidFill>
              </a:endParaRPr>
            </a:p>
            <a:p>
              <a:r>
                <a:rPr lang="en-GB" b="1" dirty="0">
                  <a:solidFill>
                    <a:schemeClr val="tx1"/>
                  </a:solidFill>
                </a:rPr>
                <a:t>EXISTING ALTERNATIVES</a:t>
              </a:r>
            </a:p>
            <a:p>
              <a:endParaRPr lang="en-GB" b="1" dirty="0">
                <a:solidFill>
                  <a:schemeClr val="tx1"/>
                </a:solidFill>
              </a:endParaRPr>
            </a:p>
            <a:p>
              <a:pPr marL="285750" indent="-285750">
                <a:buFont typeface="Arial" panose="020B0604020202020204" pitchFamily="34" charset="0"/>
                <a:buChar char="•"/>
              </a:pPr>
              <a:r>
                <a:rPr lang="en-US" dirty="0">
                  <a:solidFill>
                    <a:schemeClr val="tx1"/>
                  </a:solidFill>
                </a:rPr>
                <a:t>Some individuals invest more effort and time into customized designs.</a:t>
              </a:r>
            </a:p>
            <a:p>
              <a:pPr marL="285750" indent="-285750">
                <a:buFont typeface="Arial" panose="020B0604020202020204" pitchFamily="34" charset="0"/>
                <a:buChar char="•"/>
              </a:pPr>
              <a:r>
                <a:rPr lang="en-US" dirty="0">
                  <a:solidFill>
                    <a:schemeClr val="tx1"/>
                  </a:solidFill>
                </a:rPr>
                <a:t>Certain individuals find themselves with plain T-shirts in the end.</a:t>
              </a:r>
            </a:p>
            <a:p>
              <a:endParaRPr lang="en-GB" b="1" dirty="0">
                <a:solidFill>
                  <a:schemeClr val="tx1"/>
                </a:solidFill>
              </a:endParaRPr>
            </a:p>
          </p:txBody>
        </p:sp>
        <p:sp>
          <p:nvSpPr>
            <p:cNvPr id="26" name="Rectangle 25">
              <a:extLst>
                <a:ext uri="{FF2B5EF4-FFF2-40B4-BE49-F238E27FC236}">
                  <a16:creationId xmlns:a16="http://schemas.microsoft.com/office/drawing/2014/main" id="{DA61AF53-C124-49C7-9FFB-00E90C7BD86C}"/>
                </a:ext>
              </a:extLst>
            </p:cNvPr>
            <p:cNvSpPr/>
            <p:nvPr/>
          </p:nvSpPr>
          <p:spPr>
            <a:xfrm>
              <a:off x="3032477" y="3388749"/>
              <a:ext cx="1608198" cy="1629208"/>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r>
                <a:rPr lang="en-US" b="1" dirty="0">
                  <a:solidFill>
                    <a:schemeClr val="tx1"/>
                  </a:solidFill>
                </a:rPr>
                <a:t>KEY METRICS</a:t>
              </a:r>
            </a:p>
            <a:p>
              <a:endParaRPr lang="en-US" dirty="0">
                <a:solidFill>
                  <a:schemeClr val="tx1"/>
                </a:solidFill>
              </a:endParaRPr>
            </a:p>
            <a:p>
              <a:pPr marL="285750" indent="-285750">
                <a:buFont typeface="Arial" panose="020B0604020202020204" pitchFamily="34" charset="0"/>
                <a:buChar char="•"/>
              </a:pPr>
              <a:r>
                <a:rPr lang="en-US" dirty="0">
                  <a:solidFill>
                    <a:schemeClr val="tx1"/>
                  </a:solidFill>
                </a:rPr>
                <a:t>Customer lifetime value </a:t>
              </a:r>
            </a:p>
            <a:p>
              <a:pPr marL="285750" indent="-285750">
                <a:buFont typeface="Arial" panose="020B0604020202020204" pitchFamily="34" charset="0"/>
                <a:buChar char="•"/>
              </a:pPr>
              <a:r>
                <a:rPr lang="en-US" dirty="0">
                  <a:solidFill>
                    <a:schemeClr val="tx1"/>
                  </a:solidFill>
                </a:rPr>
                <a:t>Conversion rate</a:t>
              </a:r>
            </a:p>
            <a:p>
              <a:pPr marL="285750" indent="-285750">
                <a:buFont typeface="Arial" panose="020B0604020202020204" pitchFamily="34" charset="0"/>
                <a:buChar char="•"/>
              </a:pPr>
              <a:r>
                <a:rPr lang="en-US" dirty="0">
                  <a:solidFill>
                    <a:schemeClr val="tx1"/>
                  </a:solidFill>
                </a:rPr>
                <a:t> Customer satisfaction score.</a:t>
              </a: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endParaRPr lang="en-ZA" b="1" dirty="0">
                <a:solidFill>
                  <a:schemeClr val="tx1"/>
                </a:solidFill>
              </a:endParaRPr>
            </a:p>
          </p:txBody>
        </p:sp>
        <p:sp>
          <p:nvSpPr>
            <p:cNvPr id="27" name="Rectangle 26">
              <a:extLst>
                <a:ext uri="{FF2B5EF4-FFF2-40B4-BE49-F238E27FC236}">
                  <a16:creationId xmlns:a16="http://schemas.microsoft.com/office/drawing/2014/main" id="{8C3C327D-2A6A-43E6-8F62-9A1FFF479CDC}"/>
                </a:ext>
              </a:extLst>
            </p:cNvPr>
            <p:cNvSpPr/>
            <p:nvPr/>
          </p:nvSpPr>
          <p:spPr>
            <a:xfrm>
              <a:off x="3036352" y="956345"/>
              <a:ext cx="1608198" cy="235383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b="1" dirty="0">
                <a:solidFill>
                  <a:schemeClr val="tx1"/>
                </a:solidFill>
              </a:endParaRPr>
            </a:p>
            <a:p>
              <a:r>
                <a:rPr lang="en-US" b="1" dirty="0">
                  <a:solidFill>
                    <a:schemeClr val="tx1"/>
                  </a:solidFill>
                </a:rPr>
                <a:t>SOLUTION</a:t>
              </a:r>
            </a:p>
            <a:p>
              <a:pPr marL="285750" indent="-285750">
                <a:buFont typeface="Arial" panose="020B0604020202020204" pitchFamily="34" charset="0"/>
                <a:buChar char="•"/>
              </a:pPr>
              <a:r>
                <a:rPr lang="en-US" dirty="0">
                  <a:solidFill>
                    <a:schemeClr val="tx1"/>
                  </a:solidFill>
                </a:rPr>
                <a:t>Fabric Fusion offers a user-friendly platform for mix-and-match customization</a:t>
              </a:r>
            </a:p>
            <a:p>
              <a:pPr marL="285750" indent="-285750">
                <a:buFont typeface="Arial" panose="020B0604020202020204" pitchFamily="34" charset="0"/>
                <a:buChar char="•"/>
              </a:pPr>
              <a:r>
                <a:rPr lang="en-US" dirty="0">
                  <a:solidFill>
                    <a:schemeClr val="tx1"/>
                  </a:solidFill>
                </a:rPr>
                <a:t>We uses AI to speed up design processes, meeting the demand for personalized fashion.</a:t>
              </a:r>
            </a:p>
            <a:p>
              <a:endParaRPr lang="en-US" dirty="0">
                <a:solidFill>
                  <a:schemeClr val="tx1"/>
                </a:solidFill>
              </a:endParaRPr>
            </a:p>
            <a:p>
              <a:endParaRPr lang="en-ZA" dirty="0">
                <a:solidFill>
                  <a:schemeClr val="tx1"/>
                </a:solidFill>
              </a:endParaRPr>
            </a:p>
          </p:txBody>
        </p:sp>
        <p:sp>
          <p:nvSpPr>
            <p:cNvPr id="28" name="Rectangle 27">
              <a:extLst>
                <a:ext uri="{FF2B5EF4-FFF2-40B4-BE49-F238E27FC236}">
                  <a16:creationId xmlns:a16="http://schemas.microsoft.com/office/drawing/2014/main" id="{EB374BDD-612A-4745-8EB3-8C7D069E8146}"/>
                </a:ext>
              </a:extLst>
            </p:cNvPr>
            <p:cNvSpPr/>
            <p:nvPr/>
          </p:nvSpPr>
          <p:spPr>
            <a:xfrm>
              <a:off x="4752681" y="956344"/>
              <a:ext cx="1835913" cy="406161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UNIQUE VALUE PROPOSITION</a:t>
              </a:r>
            </a:p>
            <a:p>
              <a:pPr marL="285750" indent="-285750">
                <a:buFont typeface="Arial" panose="020B0604020202020204" pitchFamily="34" charset="0"/>
                <a:buChar char="•"/>
              </a:pPr>
              <a:endParaRPr lang="en-US" b="1" dirty="0">
                <a:solidFill>
                  <a:schemeClr val="tx1"/>
                </a:solidFill>
              </a:endParaRPr>
            </a:p>
            <a:p>
              <a:pPr marL="285750" indent="-285750">
                <a:buFont typeface="Arial" panose="020B0604020202020204" pitchFamily="34" charset="0"/>
                <a:buChar char="•"/>
              </a:pPr>
              <a:r>
                <a:rPr lang="en-US" dirty="0">
                  <a:solidFill>
                    <a:schemeClr val="tx1"/>
                  </a:solidFill>
                </a:rPr>
                <a:t>customizable T-shirt designs created with AI for a unique and personalized experience.</a:t>
              </a:r>
            </a:p>
            <a:p>
              <a:pPr marL="285750" indent="-285750">
                <a:buFont typeface="Arial" panose="020B0604020202020204" pitchFamily="34" charset="0"/>
                <a:buChar char="•"/>
              </a:pPr>
              <a:r>
                <a:rPr lang="en-US" dirty="0">
                  <a:solidFill>
                    <a:schemeClr val="tx1"/>
                  </a:solidFill>
                </a:rPr>
                <a:t>Economical</a:t>
              </a:r>
            </a:p>
            <a:p>
              <a:endParaRPr lang="en-US" dirty="0">
                <a:solidFill>
                  <a:schemeClr val="tx1"/>
                </a:solidFill>
              </a:endParaRPr>
            </a:p>
            <a:p>
              <a:r>
                <a:rPr lang="en-US" b="1" dirty="0">
                  <a:solidFill>
                    <a:schemeClr val="tx1"/>
                  </a:solidFill>
                </a:rPr>
                <a:t>HIGH-LEVEL CONCEPT</a:t>
              </a:r>
            </a:p>
            <a:p>
              <a:pPr marL="285750" indent="-285750">
                <a:buFont typeface="Arial" panose="020B0604020202020204" pitchFamily="34" charset="0"/>
                <a:buChar char="•"/>
              </a:pPr>
              <a:endParaRPr lang="en-US" b="1" dirty="0">
                <a:solidFill>
                  <a:schemeClr val="tx1"/>
                </a:solidFill>
              </a:endParaRPr>
            </a:p>
            <a:p>
              <a:pPr marL="285750" indent="-285750">
                <a:buFont typeface="Arial" panose="020B0604020202020204" pitchFamily="34" charset="0"/>
                <a:buChar char="•"/>
              </a:pPr>
              <a:r>
                <a:rPr lang="en-US" dirty="0">
                  <a:solidFill>
                    <a:schemeClr val="tx1"/>
                  </a:solidFill>
                </a:rPr>
                <a:t>Fabric Fusion builds a vibrant online community where fashion enthusiasts can share and discover personalized designs</a:t>
              </a:r>
            </a:p>
            <a:p>
              <a:pPr marL="285750" indent="-285750">
                <a:buFont typeface="Arial" panose="020B0604020202020204" pitchFamily="34" charset="0"/>
                <a:buChar char="•"/>
              </a:pPr>
              <a:r>
                <a:rPr lang="en-US" dirty="0">
                  <a:solidFill>
                    <a:schemeClr val="tx1"/>
                  </a:solidFill>
                </a:rPr>
                <a:t>fostering creativity and connection across borders</a:t>
              </a:r>
              <a:r>
                <a:rPr lang="en-US" b="1" dirty="0">
                  <a:solidFill>
                    <a:schemeClr val="tx1"/>
                  </a:solidFill>
                </a:rPr>
                <a:t>.</a:t>
              </a:r>
            </a:p>
          </p:txBody>
        </p:sp>
        <p:sp>
          <p:nvSpPr>
            <p:cNvPr id="29" name="Rectangle 28">
              <a:extLst>
                <a:ext uri="{FF2B5EF4-FFF2-40B4-BE49-F238E27FC236}">
                  <a16:creationId xmlns:a16="http://schemas.microsoft.com/office/drawing/2014/main" id="{2BA62365-66A4-404F-8375-01904FBE1169}"/>
                </a:ext>
              </a:extLst>
            </p:cNvPr>
            <p:cNvSpPr/>
            <p:nvPr/>
          </p:nvSpPr>
          <p:spPr>
            <a:xfrm>
              <a:off x="6696725" y="956344"/>
              <a:ext cx="1657072" cy="232611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UNFAIR ADVANTAGE</a:t>
              </a: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r>
                <a:rPr lang="en-US" dirty="0">
                  <a:solidFill>
                    <a:schemeClr val="tx1"/>
                  </a:solidFill>
                </a:rPr>
                <a:t>Fabric Fusion's AI platform enables rapid design iteration</a:t>
              </a: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r>
                <a:rPr lang="en-US" dirty="0">
                  <a:solidFill>
                    <a:schemeClr val="tx1"/>
                  </a:solidFill>
                </a:rPr>
                <a:t> leveraging customer feedback and market trends for enhanced speed and agility.</a:t>
              </a:r>
              <a:endParaRPr lang="en-ZA" dirty="0">
                <a:solidFill>
                  <a:schemeClr val="tx1"/>
                </a:solidFill>
              </a:endParaRPr>
            </a:p>
            <a:p>
              <a:endParaRPr lang="en-ZA" dirty="0">
                <a:solidFill>
                  <a:schemeClr val="tx1"/>
                </a:solidFill>
              </a:endParaRPr>
            </a:p>
          </p:txBody>
        </p:sp>
        <p:sp>
          <p:nvSpPr>
            <p:cNvPr id="30" name="Rectangle 29">
              <a:extLst>
                <a:ext uri="{FF2B5EF4-FFF2-40B4-BE49-F238E27FC236}">
                  <a16:creationId xmlns:a16="http://schemas.microsoft.com/office/drawing/2014/main" id="{F7BC84B1-956D-42A5-8672-FCFD7B07D99A}"/>
                </a:ext>
              </a:extLst>
            </p:cNvPr>
            <p:cNvSpPr/>
            <p:nvPr/>
          </p:nvSpPr>
          <p:spPr>
            <a:xfrm>
              <a:off x="6678199" y="3435328"/>
              <a:ext cx="1657072" cy="153605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r>
                <a:rPr lang="en-US" b="1" dirty="0">
                  <a:solidFill>
                    <a:schemeClr val="tx1"/>
                  </a:solidFill>
                </a:rPr>
                <a:t>CHANNELS</a:t>
              </a:r>
            </a:p>
            <a:p>
              <a:endParaRPr lang="en-US" b="1" dirty="0">
                <a:solidFill>
                  <a:schemeClr val="tx1"/>
                </a:solidFill>
              </a:endParaRPr>
            </a:p>
            <a:p>
              <a:pPr marL="257176" indent="-257176">
                <a:buFont typeface="Arial" panose="020B0604020202020204" pitchFamily="34" charset="0"/>
                <a:buChar char="•"/>
              </a:pPr>
              <a:r>
                <a:rPr lang="en-US" dirty="0">
                  <a:solidFill>
                    <a:schemeClr val="tx1"/>
                  </a:solidFill>
                </a:rPr>
                <a:t>Online Store</a:t>
              </a:r>
            </a:p>
            <a:p>
              <a:pPr marL="257176" indent="-257176">
                <a:buFont typeface="Arial" panose="020B0604020202020204" pitchFamily="34" charset="0"/>
                <a:buChar char="•"/>
              </a:pPr>
              <a:r>
                <a:rPr lang="en-US" dirty="0">
                  <a:solidFill>
                    <a:schemeClr val="tx1"/>
                  </a:solidFill>
                </a:rPr>
                <a:t>Social Media </a:t>
              </a:r>
            </a:p>
            <a:p>
              <a:pPr marL="257176" indent="-257176">
                <a:buFont typeface="Arial" panose="020B0604020202020204" pitchFamily="34" charset="0"/>
                <a:buChar char="•"/>
              </a:pPr>
              <a:r>
                <a:rPr lang="en-US" dirty="0">
                  <a:solidFill>
                    <a:schemeClr val="tx1"/>
                  </a:solidFill>
                </a:rPr>
                <a:t>Instagram</a:t>
              </a:r>
            </a:p>
            <a:p>
              <a:pPr marL="257176" indent="-257176">
                <a:buFont typeface="Arial" panose="020B0604020202020204" pitchFamily="34" charset="0"/>
                <a:buChar char="•"/>
              </a:pPr>
              <a:r>
                <a:rPr lang="en-US" dirty="0">
                  <a:solidFill>
                    <a:schemeClr val="tx1"/>
                  </a:solidFill>
                </a:rPr>
                <a:t>Word of mouth</a:t>
              </a: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endParaRPr lang="en-US" dirty="0">
                <a:solidFill>
                  <a:schemeClr val="tx1"/>
                </a:solidFill>
              </a:endParaRPr>
            </a:p>
            <a:p>
              <a:endParaRPr lang="en-ZA" b="1" dirty="0">
                <a:solidFill>
                  <a:schemeClr val="tx1"/>
                </a:solidFill>
              </a:endParaRPr>
            </a:p>
          </p:txBody>
        </p:sp>
        <p:sp>
          <p:nvSpPr>
            <p:cNvPr id="31" name="Rectangle 30">
              <a:extLst>
                <a:ext uri="{FF2B5EF4-FFF2-40B4-BE49-F238E27FC236}">
                  <a16:creationId xmlns:a16="http://schemas.microsoft.com/office/drawing/2014/main" id="{FAC9E9F4-9BD4-4F01-9A69-4B416DF6CD3A}"/>
                </a:ext>
              </a:extLst>
            </p:cNvPr>
            <p:cNvSpPr/>
            <p:nvPr/>
          </p:nvSpPr>
          <p:spPr>
            <a:xfrm>
              <a:off x="5781668" y="5124246"/>
              <a:ext cx="4576890" cy="128738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REVENUE STREAMS</a:t>
              </a:r>
            </a:p>
            <a:p>
              <a:endParaRPr lang="en-US" b="1" dirty="0">
                <a:solidFill>
                  <a:schemeClr val="tx1"/>
                </a:solidFill>
              </a:endParaRPr>
            </a:p>
            <a:p>
              <a:pPr marL="257176" indent="-257176">
                <a:buFont typeface="Arial" panose="020B0604020202020204" pitchFamily="34" charset="0"/>
                <a:buChar char="•"/>
              </a:pPr>
              <a:r>
                <a:rPr lang="en-US" dirty="0">
                  <a:solidFill>
                    <a:schemeClr val="tx1"/>
                  </a:solidFill>
                </a:rPr>
                <a:t>Direct Sales</a:t>
              </a:r>
            </a:p>
            <a:p>
              <a:pPr marL="257176" indent="-257176">
                <a:buFont typeface="Arial" panose="020B0604020202020204" pitchFamily="34" charset="0"/>
                <a:buChar char="•"/>
              </a:pPr>
              <a:r>
                <a:rPr lang="en-US" dirty="0">
                  <a:solidFill>
                    <a:schemeClr val="tx1"/>
                  </a:solidFill>
                </a:rPr>
                <a:t>Customization Fees</a:t>
              </a:r>
            </a:p>
            <a:p>
              <a:pPr marL="257176" indent="-257176">
                <a:buFont typeface="Arial" panose="020B0604020202020204" pitchFamily="34" charset="0"/>
                <a:buChar char="•"/>
              </a:pPr>
              <a:r>
                <a:rPr lang="en-US" dirty="0">
                  <a:solidFill>
                    <a:schemeClr val="tx1"/>
                  </a:solidFill>
                </a:rPr>
                <a:t> Bulk Orders</a:t>
              </a:r>
            </a:p>
            <a:p>
              <a:pPr marL="257176" indent="-257176">
                <a:buFont typeface="Arial" panose="020B0604020202020204" pitchFamily="34" charset="0"/>
                <a:buChar char="•"/>
              </a:pPr>
              <a:r>
                <a:rPr lang="en-US" dirty="0">
                  <a:solidFill>
                    <a:schemeClr val="tx1"/>
                  </a:solidFill>
                </a:rPr>
                <a:t> Subscription Model.</a:t>
              </a:r>
            </a:p>
          </p:txBody>
        </p:sp>
        <p:sp>
          <p:nvSpPr>
            <p:cNvPr id="32" name="Rectangle 31">
              <a:extLst>
                <a:ext uri="{FF2B5EF4-FFF2-40B4-BE49-F238E27FC236}">
                  <a16:creationId xmlns:a16="http://schemas.microsoft.com/office/drawing/2014/main" id="{009C3843-A5E1-4267-892B-5C21CFF1D0BF}"/>
                </a:ext>
              </a:extLst>
            </p:cNvPr>
            <p:cNvSpPr/>
            <p:nvPr/>
          </p:nvSpPr>
          <p:spPr>
            <a:xfrm>
              <a:off x="8464027" y="956344"/>
              <a:ext cx="1894531" cy="404983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CUSTOMER SEGMENTS</a:t>
              </a:r>
            </a:p>
            <a:p>
              <a:endParaRPr lang="en-US" b="1" dirty="0">
                <a:solidFill>
                  <a:schemeClr val="tx1"/>
                </a:solidFill>
              </a:endParaRPr>
            </a:p>
            <a:p>
              <a:pPr marL="285750" indent="-285750">
                <a:buFont typeface="Arial" panose="020B0604020202020204" pitchFamily="34" charset="0"/>
                <a:buChar char="•"/>
              </a:pPr>
              <a:r>
                <a:rPr lang="en-US" dirty="0">
                  <a:solidFill>
                    <a:schemeClr val="tx1"/>
                  </a:solidFill>
                </a:rPr>
                <a:t> Fashion-conscious individuals</a:t>
              </a:r>
            </a:p>
            <a:p>
              <a:pPr marL="285750" indent="-285750">
                <a:buFont typeface="Arial" panose="020B0604020202020204" pitchFamily="34" charset="0"/>
                <a:buChar char="•"/>
              </a:pPr>
              <a:r>
                <a:rPr lang="en-US" dirty="0">
                  <a:solidFill>
                    <a:schemeClr val="tx1"/>
                  </a:solidFill>
                </a:rPr>
                <a:t>Event Organizer</a:t>
              </a:r>
            </a:p>
            <a:p>
              <a:pPr marL="285750" indent="-285750">
                <a:buFont typeface="Arial" panose="020B0604020202020204" pitchFamily="34" charset="0"/>
                <a:buChar char="•"/>
              </a:pPr>
              <a:r>
                <a:rPr lang="en-US" dirty="0">
                  <a:solidFill>
                    <a:schemeClr val="tx1"/>
                  </a:solidFill>
                </a:rPr>
                <a:t>Boutique owners</a:t>
              </a:r>
            </a:p>
            <a:p>
              <a:pPr marL="285750" indent="-285750">
                <a:buFont typeface="Arial" panose="020B0604020202020204" pitchFamily="34" charset="0"/>
                <a:buChar char="•"/>
              </a:pPr>
              <a:r>
                <a:rPr lang="en-US" dirty="0">
                  <a:solidFill>
                    <a:schemeClr val="tx1"/>
                  </a:solidFill>
                </a:rPr>
                <a:t>Fashion influencers</a:t>
              </a:r>
            </a:p>
            <a:p>
              <a:endParaRPr lang="en-US" dirty="0">
                <a:solidFill>
                  <a:schemeClr val="tx1"/>
                </a:solidFill>
              </a:endParaRPr>
            </a:p>
            <a:p>
              <a:r>
                <a:rPr lang="en-US" b="1" dirty="0">
                  <a:solidFill>
                    <a:schemeClr val="tx1"/>
                  </a:solidFill>
                </a:rPr>
                <a:t>EARLY ADOPTERS </a:t>
              </a:r>
            </a:p>
            <a:p>
              <a:endParaRPr lang="en-US" b="1" dirty="0">
                <a:solidFill>
                  <a:schemeClr val="tx1"/>
                </a:solidFill>
              </a:endParaRPr>
            </a:p>
            <a:p>
              <a:pPr marL="285750" indent="-285750">
                <a:buFont typeface="Arial" panose="020B0604020202020204" pitchFamily="34" charset="0"/>
                <a:buChar char="•"/>
              </a:pPr>
              <a:r>
                <a:rPr lang="en-US" dirty="0">
                  <a:solidFill>
                    <a:schemeClr val="tx1"/>
                  </a:solidFill>
                </a:rPr>
                <a:t>Fashion-forward individuals who seek unique and personalized clothing options.</a:t>
              </a:r>
            </a:p>
            <a:p>
              <a:pPr marL="285750" indent="-285750">
                <a:buFont typeface="Arial" panose="020B0604020202020204" pitchFamily="34" charset="0"/>
                <a:buChar char="•"/>
              </a:pPr>
              <a:r>
                <a:rPr lang="en-US" dirty="0">
                  <a:solidFill>
                    <a:schemeClr val="tx1"/>
                  </a:solidFill>
                </a:rPr>
                <a:t>Event planners looking for customized apparel for special occasions.</a:t>
              </a:r>
            </a:p>
            <a:p>
              <a:pPr marL="285750" indent="-285750">
                <a:buFont typeface="Arial" panose="020B0604020202020204" pitchFamily="34" charset="0"/>
                <a:buChar char="•"/>
              </a:pPr>
              <a:r>
                <a:rPr lang="en-US" dirty="0">
                  <a:solidFill>
                    <a:schemeClr val="tx1"/>
                  </a:solidFill>
                </a:rPr>
                <a:t>Fashion influencers and trendsetters eager to showcase personalized styles to their followers.</a:t>
              </a:r>
            </a:p>
          </p:txBody>
        </p:sp>
        <p:sp>
          <p:nvSpPr>
            <p:cNvPr id="33" name="Rectangle 32">
              <a:extLst>
                <a:ext uri="{FF2B5EF4-FFF2-40B4-BE49-F238E27FC236}">
                  <a16:creationId xmlns:a16="http://schemas.microsoft.com/office/drawing/2014/main" id="{B433AFEF-AAB0-4118-9790-7694BAC47BCE}"/>
                </a:ext>
              </a:extLst>
            </p:cNvPr>
            <p:cNvSpPr/>
            <p:nvPr/>
          </p:nvSpPr>
          <p:spPr>
            <a:xfrm>
              <a:off x="1057033" y="5096531"/>
              <a:ext cx="4599726" cy="1315098"/>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b="1" dirty="0">
                <a:solidFill>
                  <a:schemeClr val="tx1"/>
                </a:solidFill>
              </a:endParaRPr>
            </a:p>
            <a:p>
              <a:r>
                <a:rPr lang="en-US" b="1" dirty="0">
                  <a:solidFill>
                    <a:schemeClr val="tx1"/>
                  </a:solidFill>
                </a:rPr>
                <a:t>COST STRUCTURE</a:t>
              </a:r>
            </a:p>
            <a:p>
              <a:r>
                <a:rPr lang="en-US" b="1" dirty="0">
                  <a:solidFill>
                    <a:schemeClr val="tx1"/>
                  </a:solidFill>
                </a:rPr>
                <a:t>                                 </a:t>
              </a:r>
            </a:p>
            <a:p>
              <a:r>
                <a:rPr lang="en-US" dirty="0">
                  <a:solidFill>
                    <a:schemeClr val="tx1"/>
                  </a:solidFill>
                </a:rPr>
                <a:t>Variable Costs: Costs tied directly to the production and sale of custom T-shirts, including materials and inventory management.</a:t>
              </a:r>
            </a:p>
            <a:p>
              <a:endParaRPr lang="en-US" dirty="0">
                <a:solidFill>
                  <a:schemeClr val="tx1"/>
                </a:solidFill>
              </a:endParaRPr>
            </a:p>
            <a:p>
              <a:r>
                <a:rPr lang="en-US" dirty="0">
                  <a:solidFill>
                    <a:schemeClr val="tx1"/>
                  </a:solidFill>
                </a:rPr>
                <a:t>Fixed Costs: Costs that remain consistent irrespective of the number of custom T-shirts sold, covering expenses like Platform &amp; hosting charges. </a:t>
              </a:r>
            </a:p>
            <a:p>
              <a:endParaRPr lang="en-ZA" dirty="0">
                <a:solidFill>
                  <a:schemeClr val="tx1"/>
                </a:solidFill>
              </a:endParaRPr>
            </a:p>
            <a:p>
              <a:endParaRPr lang="en-ZA" dirty="0">
                <a:solidFill>
                  <a:schemeClr val="tx1"/>
                </a:solidFill>
              </a:endParaRPr>
            </a:p>
          </p:txBody>
        </p:sp>
      </p:grpSp>
      <p:pic>
        <p:nvPicPr>
          <p:cNvPr id="6" name="Picture 5">
            <a:extLst>
              <a:ext uri="{FF2B5EF4-FFF2-40B4-BE49-F238E27FC236}">
                <a16:creationId xmlns:a16="http://schemas.microsoft.com/office/drawing/2014/main" id="{51682969-A53D-B841-8263-BA07EF2D4808}"/>
              </a:ext>
            </a:extLst>
          </p:cNvPr>
          <p:cNvPicPr>
            <a:picLocks noChangeAspect="1"/>
          </p:cNvPicPr>
          <p:nvPr/>
        </p:nvPicPr>
        <p:blipFill>
          <a:blip r:embed="rId2"/>
          <a:stretch>
            <a:fillRect/>
          </a:stretch>
        </p:blipFill>
        <p:spPr>
          <a:xfrm>
            <a:off x="16154401" y="190502"/>
            <a:ext cx="1499746" cy="1585097"/>
          </a:xfrm>
          <a:prstGeom prst="rect">
            <a:avLst/>
          </a:prstGeom>
        </p:spPr>
      </p:pic>
    </p:spTree>
    <p:extLst>
      <p:ext uri="{BB962C8B-B14F-4D97-AF65-F5344CB8AC3E}">
        <p14:creationId xmlns:p14="http://schemas.microsoft.com/office/powerpoint/2010/main" val="328139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16" y="307319"/>
            <a:ext cx="4191000" cy="652462"/>
          </a:xfrm>
        </p:spPr>
        <p:txBody>
          <a:bodyPr>
            <a:normAutofit fontScale="90000"/>
          </a:bodyPr>
          <a:lstStyle/>
          <a:p>
            <a:pPr algn="l"/>
            <a:r>
              <a:rPr lang="en-US" sz="4400" dirty="0">
                <a:solidFill>
                  <a:schemeClr val="tx1"/>
                </a:solidFill>
              </a:rPr>
              <a:t>MVP</a:t>
            </a:r>
            <a:endParaRPr lang="en-US" dirty="0">
              <a:solidFill>
                <a:schemeClr val="tx1"/>
              </a:solidFill>
            </a:endParaRPr>
          </a:p>
        </p:txBody>
      </p:sp>
      <p:sp>
        <p:nvSpPr>
          <p:cNvPr id="3" name="TextBox 2"/>
          <p:cNvSpPr txBox="1"/>
          <p:nvPr/>
        </p:nvSpPr>
        <p:spPr>
          <a:xfrm>
            <a:off x="287016" y="462980"/>
            <a:ext cx="17497944" cy="2169825"/>
          </a:xfrm>
          <a:prstGeom prst="rect">
            <a:avLst/>
          </a:prstGeom>
          <a:noFill/>
        </p:spPr>
        <p:txBody>
          <a:bodyPr wrap="square" rtlCol="0">
            <a:spAutoFit/>
          </a:bodyPr>
          <a:lstStyle/>
          <a:p>
            <a:pPr>
              <a:buClrTx/>
            </a:pPr>
            <a:r>
              <a:rPr lang="en-US" sz="2700" dirty="0"/>
              <a:t>                                                                </a:t>
            </a:r>
            <a:r>
              <a:rPr lang="en-US" sz="2700" b="1" dirty="0"/>
              <a:t>  PRODUCT DESCRIPTION</a:t>
            </a:r>
          </a:p>
          <a:p>
            <a:pPr>
              <a:buClrTx/>
            </a:pPr>
            <a:endParaRPr lang="en-US" sz="2700" b="1" dirty="0"/>
          </a:p>
          <a:p>
            <a:pPr>
              <a:buClrTx/>
            </a:pPr>
            <a:r>
              <a:rPr lang="en-US" sz="2700" dirty="0"/>
              <a:t>Fabric Fusion is an innovative online platform that revolutionizes the way people interact with fashion by offering customizable T-shirts designed with the help of AI technology. Our platform empowers customers to express their individuality and style through personalized designs that reflect their unique preferences and personality.</a:t>
            </a:r>
          </a:p>
        </p:txBody>
      </p:sp>
      <p:pic>
        <p:nvPicPr>
          <p:cNvPr id="8" name="Picture 7">
            <a:extLst>
              <a:ext uri="{FF2B5EF4-FFF2-40B4-BE49-F238E27FC236}">
                <a16:creationId xmlns:a16="http://schemas.microsoft.com/office/drawing/2014/main" id="{FD18B259-D870-6C6E-EB75-43B2E468C3D9}"/>
              </a:ext>
            </a:extLst>
          </p:cNvPr>
          <p:cNvPicPr>
            <a:picLocks noChangeAspect="1"/>
          </p:cNvPicPr>
          <p:nvPr/>
        </p:nvPicPr>
        <p:blipFill>
          <a:blip r:embed="rId2"/>
          <a:stretch>
            <a:fillRect/>
          </a:stretch>
        </p:blipFill>
        <p:spPr>
          <a:xfrm>
            <a:off x="16154401" y="190502"/>
            <a:ext cx="1499746" cy="1585097"/>
          </a:xfrm>
          <a:prstGeom prst="rect">
            <a:avLst/>
          </a:prstGeom>
        </p:spPr>
      </p:pic>
      <p:sp>
        <p:nvSpPr>
          <p:cNvPr id="14" name="Rectangle 13">
            <a:extLst>
              <a:ext uri="{FF2B5EF4-FFF2-40B4-BE49-F238E27FC236}">
                <a16:creationId xmlns:a16="http://schemas.microsoft.com/office/drawing/2014/main" id="{3349C0E2-34D7-FBFD-216F-2CFB60896287}"/>
              </a:ext>
            </a:extLst>
          </p:cNvPr>
          <p:cNvSpPr/>
          <p:nvPr/>
        </p:nvSpPr>
        <p:spPr>
          <a:xfrm>
            <a:off x="8567936" y="2863143"/>
            <a:ext cx="6840760" cy="6929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buClrTx/>
            </a:pPr>
            <a:r>
              <a:rPr lang="en-US" sz="2400" b="1" dirty="0">
                <a:solidFill>
                  <a:prstClr val="black"/>
                </a:solidFill>
                <a:latin typeface="Calibri" panose="020F0502020204030204"/>
              </a:rPr>
              <a:t>How It Works:</a:t>
            </a:r>
          </a:p>
          <a:p>
            <a:pPr marL="457200" indent="-457200">
              <a:buClrTx/>
              <a:buFont typeface="Arial" panose="020B0604020202020204" pitchFamily="34" charset="0"/>
              <a:buChar char="•"/>
            </a:pPr>
            <a:endParaRPr lang="en-US" sz="2000" b="1" dirty="0">
              <a:solidFill>
                <a:prstClr val="black"/>
              </a:solidFill>
              <a:latin typeface="Calibri" panose="020F0502020204030204"/>
            </a:endParaRPr>
          </a:p>
          <a:p>
            <a:pPr marL="457200" indent="-457200">
              <a:buClrTx/>
              <a:buFont typeface="Arial" panose="020B0604020202020204" pitchFamily="34" charset="0"/>
              <a:buChar char="•"/>
            </a:pPr>
            <a:r>
              <a:rPr lang="en-US" sz="2000" dirty="0">
                <a:solidFill>
                  <a:prstClr val="black"/>
                </a:solidFill>
                <a:latin typeface="Calibri" panose="020F0502020204030204"/>
              </a:rPr>
              <a:t>Customers provide input and preferences regarding their desired T-shirt design through Fabric Fusion's platform.</a:t>
            </a:r>
          </a:p>
          <a:p>
            <a:pPr marL="457200" indent="-457200">
              <a:buClrTx/>
              <a:buFont typeface="Arial" panose="020B0604020202020204" pitchFamily="34" charset="0"/>
              <a:buChar char="•"/>
            </a:pPr>
            <a:r>
              <a:rPr lang="en-US" sz="2000" dirty="0">
                <a:solidFill>
                  <a:prstClr val="black"/>
                </a:solidFill>
                <a:latin typeface="Calibri" panose="020F0502020204030204"/>
              </a:rPr>
              <a:t>Our team analyzes the customer's input and generates personalized design with help of Ai tools based on their preferences.</a:t>
            </a:r>
          </a:p>
          <a:p>
            <a:pPr marL="457200" indent="-457200">
              <a:buClrTx/>
              <a:buFont typeface="Arial" panose="020B0604020202020204" pitchFamily="34" charset="0"/>
              <a:buChar char="•"/>
            </a:pPr>
            <a:r>
              <a:rPr lang="en-US" sz="2000" dirty="0">
                <a:solidFill>
                  <a:prstClr val="black"/>
                </a:solidFill>
                <a:latin typeface="Calibri" panose="020F0502020204030204"/>
              </a:rPr>
              <a:t>We review the AI-generated designs and make any necessary adjustments or enhancements to ensure the final design meets the customer's expectations.</a:t>
            </a:r>
          </a:p>
          <a:p>
            <a:pPr marL="457200" indent="-457200">
              <a:buClrTx/>
              <a:buFont typeface="Arial" panose="020B0604020202020204" pitchFamily="34" charset="0"/>
              <a:buChar char="•"/>
            </a:pPr>
            <a:r>
              <a:rPr lang="en-US" sz="2000" dirty="0">
                <a:solidFill>
                  <a:prstClr val="black"/>
                </a:solidFill>
                <a:latin typeface="Calibri" panose="020F0502020204030204"/>
              </a:rPr>
              <a:t>Once the design is finalized, then T-shirt is Printed and  ready to ship.</a:t>
            </a:r>
          </a:p>
          <a:p>
            <a:pPr marL="457200" indent="-457200">
              <a:buClrTx/>
              <a:buFont typeface="Arial" panose="020B0604020202020204" pitchFamily="34" charset="0"/>
              <a:buChar char="•"/>
            </a:pPr>
            <a:r>
              <a:rPr lang="en-US" sz="2000" dirty="0">
                <a:solidFill>
                  <a:prstClr val="black"/>
                </a:solidFill>
                <a:latin typeface="Calibri" panose="020F0502020204030204"/>
              </a:rPr>
              <a:t>Fabric Fusion's production team utilizes high-quality materials and printing techniques to create the custom-designed T-shirt according to the finalized design.</a:t>
            </a:r>
          </a:p>
          <a:p>
            <a:pPr marL="457200" indent="-457200">
              <a:buClrTx/>
              <a:buFont typeface="Arial" panose="020B0604020202020204" pitchFamily="34" charset="0"/>
              <a:buChar char="•"/>
            </a:pPr>
            <a:r>
              <a:rPr lang="en-US" sz="2000" dirty="0">
                <a:solidFill>
                  <a:prstClr val="black"/>
                </a:solidFill>
                <a:latin typeface="Calibri" panose="020F0502020204030204"/>
              </a:rPr>
              <a:t>The finished T-shirt is then shipped directly to the customer's doorstep, ready to be worn and enjoyed.</a:t>
            </a:r>
            <a:endParaRPr lang="en-IN" sz="2000" dirty="0">
              <a:solidFill>
                <a:prstClr val="black"/>
              </a:solidFill>
              <a:latin typeface="Calibri" panose="020F0502020204030204"/>
            </a:endParaRPr>
          </a:p>
          <a:p>
            <a:endParaRPr lang="en-US" dirty="0"/>
          </a:p>
        </p:txBody>
      </p:sp>
      <p:sp>
        <p:nvSpPr>
          <p:cNvPr id="18" name="Rectangle 17">
            <a:extLst>
              <a:ext uri="{FF2B5EF4-FFF2-40B4-BE49-F238E27FC236}">
                <a16:creationId xmlns:a16="http://schemas.microsoft.com/office/drawing/2014/main" id="{BCD36CDA-09DF-7F08-E60E-0575174CEC68}"/>
              </a:ext>
            </a:extLst>
          </p:cNvPr>
          <p:cNvSpPr/>
          <p:nvPr/>
        </p:nvSpPr>
        <p:spPr>
          <a:xfrm>
            <a:off x="863080" y="2894024"/>
            <a:ext cx="6552728" cy="6929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buClrTx/>
            </a:pPr>
            <a:r>
              <a:rPr lang="en-US" sz="2400" b="1" dirty="0">
                <a:solidFill>
                  <a:schemeClr val="tx1"/>
                </a:solidFill>
              </a:rPr>
              <a:t>KEY FEATURES:</a:t>
            </a:r>
          </a:p>
          <a:p>
            <a:pPr>
              <a:buClrTx/>
            </a:pPr>
            <a:endParaRPr lang="en-US" sz="1800" b="1" dirty="0"/>
          </a:p>
          <a:p>
            <a:pPr marL="457200" indent="-457200">
              <a:buClrTx/>
              <a:buFont typeface="Arial" panose="020B0604020202020204" pitchFamily="34" charset="0"/>
              <a:buChar char="•"/>
            </a:pPr>
            <a:r>
              <a:rPr lang="en-US" sz="2000" b="1" dirty="0">
                <a:solidFill>
                  <a:prstClr val="black"/>
                </a:solidFill>
                <a:latin typeface="Calibri" panose="020F0502020204030204"/>
              </a:rPr>
              <a:t>AI-Powered Design Assistance: </a:t>
            </a:r>
            <a:r>
              <a:rPr lang="en-US" sz="2000" dirty="0">
                <a:solidFill>
                  <a:prstClr val="black"/>
                </a:solidFill>
                <a:latin typeface="Calibri" panose="020F0502020204030204"/>
              </a:rPr>
              <a:t>Fabric Fusion's AI algorithms analyze customer input and preferences to generate personalized T-shirt designs tailored to each individual's style and preferences.</a:t>
            </a:r>
          </a:p>
          <a:p>
            <a:pPr marL="457200" indent="-457200">
              <a:buClrTx/>
              <a:buFont typeface="Arial" panose="020B0604020202020204" pitchFamily="34" charset="0"/>
              <a:buChar char="•"/>
            </a:pPr>
            <a:r>
              <a:rPr lang="en-US" sz="2000" b="1" dirty="0">
                <a:solidFill>
                  <a:prstClr val="black"/>
                </a:solidFill>
                <a:latin typeface="Calibri" panose="020F0502020204030204"/>
              </a:rPr>
              <a:t>Professional Designers: </a:t>
            </a:r>
            <a:r>
              <a:rPr lang="en-US" sz="2000" dirty="0">
                <a:solidFill>
                  <a:prstClr val="black"/>
                </a:solidFill>
                <a:latin typeface="Calibri" panose="020F0502020204030204"/>
              </a:rPr>
              <a:t>Our team of skilled designers works in tandem with the AI tool to create high-quality and visually appealing T-shirt designs that meet customer specifications.</a:t>
            </a:r>
          </a:p>
          <a:p>
            <a:pPr marL="457200" indent="-457200">
              <a:buClrTx/>
              <a:buFont typeface="Arial" panose="020B0604020202020204" pitchFamily="34" charset="0"/>
              <a:buChar char="•"/>
            </a:pPr>
            <a:r>
              <a:rPr lang="en-US" sz="2000" b="1" dirty="0">
                <a:solidFill>
                  <a:prstClr val="black"/>
                </a:solidFill>
                <a:latin typeface="Calibri" panose="020F0502020204030204"/>
              </a:rPr>
              <a:t>Seamless Ordering Process: </a:t>
            </a:r>
            <a:r>
              <a:rPr lang="en-US" sz="2000" dirty="0">
                <a:solidFill>
                  <a:prstClr val="black"/>
                </a:solidFill>
                <a:latin typeface="Calibri" panose="020F0502020204030204"/>
              </a:rPr>
              <a:t>Customers can easily provide their input and preferences through our user-friendly platform, and the AI tool and designers take care of the rest, ensuring a hassle-free ordering process.</a:t>
            </a:r>
          </a:p>
          <a:p>
            <a:pPr marL="457200" indent="-457200">
              <a:buClrTx/>
              <a:buFont typeface="Arial" panose="020B0604020202020204" pitchFamily="34" charset="0"/>
              <a:buChar char="•"/>
            </a:pPr>
            <a:r>
              <a:rPr lang="en-US" sz="2000" b="1" dirty="0">
                <a:solidFill>
                  <a:prstClr val="black"/>
                </a:solidFill>
                <a:latin typeface="Calibri" panose="020F0502020204030204"/>
              </a:rPr>
              <a:t>High-Quality Products:</a:t>
            </a:r>
            <a:r>
              <a:rPr lang="en-US" sz="2000" dirty="0">
                <a:solidFill>
                  <a:prstClr val="black"/>
                </a:solidFill>
                <a:latin typeface="Calibri" panose="020F0502020204030204"/>
              </a:rPr>
              <a:t> Fabric Fusion utilizes top-quality materials and printing techniques to produce custom-designed T-shirts that meet the highest standards of quality and durability.</a:t>
            </a:r>
            <a:endParaRPr lang="en-US" sz="2000" b="1" dirty="0"/>
          </a:p>
          <a:p>
            <a:endParaRPr lang="en-US" dirty="0"/>
          </a:p>
        </p:txBody>
      </p:sp>
    </p:spTree>
    <p:extLst>
      <p:ext uri="{BB962C8B-B14F-4D97-AF65-F5344CB8AC3E}">
        <p14:creationId xmlns:p14="http://schemas.microsoft.com/office/powerpoint/2010/main" val="323203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467" y="190502"/>
            <a:ext cx="4608512" cy="652462"/>
          </a:xfrm>
        </p:spPr>
        <p:txBody>
          <a:bodyPr>
            <a:normAutofit/>
          </a:bodyPr>
          <a:lstStyle/>
          <a:p>
            <a:pPr algn="l"/>
            <a:r>
              <a:rPr lang="en-US" dirty="0">
                <a:solidFill>
                  <a:schemeClr val="tx1"/>
                </a:solidFill>
                <a:latin typeface="+mj-lt"/>
              </a:rPr>
              <a:t>Venture Website</a:t>
            </a:r>
          </a:p>
        </p:txBody>
      </p:sp>
      <p:pic>
        <p:nvPicPr>
          <p:cNvPr id="8" name="Picture 7">
            <a:extLst>
              <a:ext uri="{FF2B5EF4-FFF2-40B4-BE49-F238E27FC236}">
                <a16:creationId xmlns:a16="http://schemas.microsoft.com/office/drawing/2014/main" id="{90F472B6-CD7C-23FB-95D4-CFB32F80BFDF}"/>
              </a:ext>
            </a:extLst>
          </p:cNvPr>
          <p:cNvPicPr>
            <a:picLocks noChangeAspect="1"/>
          </p:cNvPicPr>
          <p:nvPr/>
        </p:nvPicPr>
        <p:blipFill>
          <a:blip r:embed="rId2"/>
          <a:stretch>
            <a:fillRect/>
          </a:stretch>
        </p:blipFill>
        <p:spPr>
          <a:xfrm>
            <a:off x="16154401" y="174948"/>
            <a:ext cx="1499746" cy="1585097"/>
          </a:xfrm>
          <a:prstGeom prst="rect">
            <a:avLst/>
          </a:prstGeom>
        </p:spPr>
      </p:pic>
      <p:sp>
        <p:nvSpPr>
          <p:cNvPr id="15" name="TextBox 14">
            <a:extLst>
              <a:ext uri="{FF2B5EF4-FFF2-40B4-BE49-F238E27FC236}">
                <a16:creationId xmlns:a16="http://schemas.microsoft.com/office/drawing/2014/main" id="{48CA2197-D49C-01CD-26A1-22AD20EBD375}"/>
              </a:ext>
            </a:extLst>
          </p:cNvPr>
          <p:cNvSpPr txBox="1"/>
          <p:nvPr/>
        </p:nvSpPr>
        <p:spPr>
          <a:xfrm>
            <a:off x="7794511" y="9309475"/>
            <a:ext cx="4824536" cy="461665"/>
          </a:xfrm>
          <a:prstGeom prst="rect">
            <a:avLst/>
          </a:prstGeom>
          <a:noFill/>
        </p:spPr>
        <p:txBody>
          <a:bodyPr wrap="square" rtlCol="0">
            <a:spAutoFit/>
          </a:bodyPr>
          <a:lstStyle/>
          <a:p>
            <a:r>
              <a:rPr lang="en-US" sz="2400" dirty="0">
                <a:hlinkClick r:id="rId3"/>
              </a:rPr>
              <a:t>https://fabric-fusion.company.site/</a:t>
            </a:r>
            <a:endParaRPr lang="en-US" sz="2400" dirty="0"/>
          </a:p>
        </p:txBody>
      </p:sp>
      <p:sp>
        <p:nvSpPr>
          <p:cNvPr id="16" name="TextBox 15">
            <a:extLst>
              <a:ext uri="{FF2B5EF4-FFF2-40B4-BE49-F238E27FC236}">
                <a16:creationId xmlns:a16="http://schemas.microsoft.com/office/drawing/2014/main" id="{F1F1D583-1BC8-446B-29F4-1C8B97D33DF9}"/>
              </a:ext>
            </a:extLst>
          </p:cNvPr>
          <p:cNvSpPr txBox="1"/>
          <p:nvPr/>
        </p:nvSpPr>
        <p:spPr>
          <a:xfrm>
            <a:off x="6000136" y="9309320"/>
            <a:ext cx="1901290" cy="461665"/>
          </a:xfrm>
          <a:prstGeom prst="rect">
            <a:avLst/>
          </a:prstGeom>
          <a:noFill/>
        </p:spPr>
        <p:txBody>
          <a:bodyPr wrap="none" rtlCol="0">
            <a:spAutoFit/>
          </a:bodyPr>
          <a:lstStyle/>
          <a:p>
            <a:r>
              <a:rPr lang="en-US" sz="2400" b="1" dirty="0"/>
              <a:t>Website Link:</a:t>
            </a:r>
          </a:p>
        </p:txBody>
      </p:sp>
      <p:pic>
        <p:nvPicPr>
          <p:cNvPr id="4" name="Picture 3">
            <a:extLst>
              <a:ext uri="{FF2B5EF4-FFF2-40B4-BE49-F238E27FC236}">
                <a16:creationId xmlns:a16="http://schemas.microsoft.com/office/drawing/2014/main" id="{73795F54-C8D1-9F5D-0CBD-CED22F36354A}"/>
              </a:ext>
            </a:extLst>
          </p:cNvPr>
          <p:cNvPicPr>
            <a:picLocks noChangeAspect="1"/>
          </p:cNvPicPr>
          <p:nvPr/>
        </p:nvPicPr>
        <p:blipFill>
          <a:blip r:embed="rId4"/>
          <a:stretch>
            <a:fillRect/>
          </a:stretch>
        </p:blipFill>
        <p:spPr>
          <a:xfrm>
            <a:off x="789804" y="1084079"/>
            <a:ext cx="7706124" cy="3774756"/>
          </a:xfrm>
          <a:prstGeom prst="rect">
            <a:avLst/>
          </a:prstGeom>
        </p:spPr>
      </p:pic>
      <p:pic>
        <p:nvPicPr>
          <p:cNvPr id="6" name="Picture 5">
            <a:extLst>
              <a:ext uri="{FF2B5EF4-FFF2-40B4-BE49-F238E27FC236}">
                <a16:creationId xmlns:a16="http://schemas.microsoft.com/office/drawing/2014/main" id="{A77FC921-2842-7711-7190-A92050AC7462}"/>
              </a:ext>
            </a:extLst>
          </p:cNvPr>
          <p:cNvPicPr>
            <a:picLocks noChangeAspect="1"/>
          </p:cNvPicPr>
          <p:nvPr/>
        </p:nvPicPr>
        <p:blipFill>
          <a:blip r:embed="rId5"/>
          <a:stretch>
            <a:fillRect/>
          </a:stretch>
        </p:blipFill>
        <p:spPr>
          <a:xfrm>
            <a:off x="795248" y="5311132"/>
            <a:ext cx="7706124" cy="3776724"/>
          </a:xfrm>
          <a:prstGeom prst="rect">
            <a:avLst/>
          </a:prstGeom>
        </p:spPr>
      </p:pic>
      <p:pic>
        <p:nvPicPr>
          <p:cNvPr id="18" name="Picture 17">
            <a:extLst>
              <a:ext uri="{FF2B5EF4-FFF2-40B4-BE49-F238E27FC236}">
                <a16:creationId xmlns:a16="http://schemas.microsoft.com/office/drawing/2014/main" id="{31290350-29A6-ABE3-665E-A5FA34F735DD}"/>
              </a:ext>
            </a:extLst>
          </p:cNvPr>
          <p:cNvPicPr>
            <a:picLocks noChangeAspect="1"/>
          </p:cNvPicPr>
          <p:nvPr/>
        </p:nvPicPr>
        <p:blipFill>
          <a:blip r:embed="rId6"/>
          <a:stretch>
            <a:fillRect/>
          </a:stretch>
        </p:blipFill>
        <p:spPr>
          <a:xfrm>
            <a:off x="8711952" y="1082111"/>
            <a:ext cx="7743091" cy="3776724"/>
          </a:xfrm>
          <a:prstGeom prst="rect">
            <a:avLst/>
          </a:prstGeom>
        </p:spPr>
      </p:pic>
      <p:pic>
        <p:nvPicPr>
          <p:cNvPr id="20" name="Picture 19">
            <a:extLst>
              <a:ext uri="{FF2B5EF4-FFF2-40B4-BE49-F238E27FC236}">
                <a16:creationId xmlns:a16="http://schemas.microsoft.com/office/drawing/2014/main" id="{EBF2B65A-356F-E9E7-3EB0-DC4D3D68F66C}"/>
              </a:ext>
            </a:extLst>
          </p:cNvPr>
          <p:cNvPicPr>
            <a:picLocks noChangeAspect="1"/>
          </p:cNvPicPr>
          <p:nvPr/>
        </p:nvPicPr>
        <p:blipFill>
          <a:blip r:embed="rId7"/>
          <a:stretch>
            <a:fillRect/>
          </a:stretch>
        </p:blipFill>
        <p:spPr>
          <a:xfrm>
            <a:off x="8709411" y="5288729"/>
            <a:ext cx="7706124" cy="3774756"/>
          </a:xfrm>
          <a:prstGeom prst="rect">
            <a:avLst/>
          </a:prstGeom>
        </p:spPr>
      </p:pic>
    </p:spTree>
    <p:extLst>
      <p:ext uri="{BB962C8B-B14F-4D97-AF65-F5344CB8AC3E}">
        <p14:creationId xmlns:p14="http://schemas.microsoft.com/office/powerpoint/2010/main" val="160365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18ED-AB79-40E4-51C1-964A8DDDEE83}"/>
              </a:ext>
            </a:extLst>
          </p:cNvPr>
          <p:cNvSpPr>
            <a:spLocks noGrp="1"/>
          </p:cNvSpPr>
          <p:nvPr>
            <p:ph type="title"/>
          </p:nvPr>
        </p:nvSpPr>
        <p:spPr/>
        <p:txBody>
          <a:bodyPr/>
          <a:lstStyle/>
          <a:p>
            <a:r>
              <a:rPr lang="en-US" dirty="0"/>
              <a:t>Ai generated Sample Designs </a:t>
            </a:r>
          </a:p>
        </p:txBody>
      </p:sp>
      <p:pic>
        <p:nvPicPr>
          <p:cNvPr id="4" name="Picture 3">
            <a:extLst>
              <a:ext uri="{FF2B5EF4-FFF2-40B4-BE49-F238E27FC236}">
                <a16:creationId xmlns:a16="http://schemas.microsoft.com/office/drawing/2014/main" id="{1669FAA3-7A16-663E-D8E6-991FE74F8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048" y="2191172"/>
            <a:ext cx="2571750" cy="2571750"/>
          </a:xfrm>
          <a:prstGeom prst="rect">
            <a:avLst/>
          </a:prstGeom>
        </p:spPr>
      </p:pic>
      <p:pic>
        <p:nvPicPr>
          <p:cNvPr id="6" name="Picture 5">
            <a:extLst>
              <a:ext uri="{FF2B5EF4-FFF2-40B4-BE49-F238E27FC236}">
                <a16:creationId xmlns:a16="http://schemas.microsoft.com/office/drawing/2014/main" id="{58496ACE-98FB-A42E-2305-B725D84A060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089622" y="5287516"/>
            <a:ext cx="2571750" cy="2571750"/>
          </a:xfrm>
          <a:prstGeom prst="rect">
            <a:avLst/>
          </a:prstGeom>
        </p:spPr>
      </p:pic>
      <p:pic>
        <p:nvPicPr>
          <p:cNvPr id="8" name="Picture 7">
            <a:extLst>
              <a:ext uri="{FF2B5EF4-FFF2-40B4-BE49-F238E27FC236}">
                <a16:creationId xmlns:a16="http://schemas.microsoft.com/office/drawing/2014/main" id="{5635A579-6F8D-0348-7D49-DDD8AAF030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118210" y="5230276"/>
            <a:ext cx="2571750" cy="2571750"/>
          </a:xfrm>
          <a:prstGeom prst="rect">
            <a:avLst/>
          </a:prstGeom>
        </p:spPr>
      </p:pic>
      <p:pic>
        <p:nvPicPr>
          <p:cNvPr id="10" name="Picture 9">
            <a:extLst>
              <a:ext uri="{FF2B5EF4-FFF2-40B4-BE49-F238E27FC236}">
                <a16:creationId xmlns:a16="http://schemas.microsoft.com/office/drawing/2014/main" id="{F8E403AF-98B8-5940-1D24-478BDCB53E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98572" y="2175451"/>
            <a:ext cx="2571750" cy="2571750"/>
          </a:xfrm>
          <a:prstGeom prst="rect">
            <a:avLst/>
          </a:prstGeom>
        </p:spPr>
      </p:pic>
      <p:pic>
        <p:nvPicPr>
          <p:cNvPr id="12" name="Picture 11">
            <a:extLst>
              <a:ext uri="{FF2B5EF4-FFF2-40B4-BE49-F238E27FC236}">
                <a16:creationId xmlns:a16="http://schemas.microsoft.com/office/drawing/2014/main" id="{D7E7A45C-086D-AD21-6625-9E6E1A1A92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918435" y="2191172"/>
            <a:ext cx="2571750" cy="2571750"/>
          </a:xfrm>
          <a:prstGeom prst="rect">
            <a:avLst/>
          </a:prstGeom>
        </p:spPr>
      </p:pic>
      <p:pic>
        <p:nvPicPr>
          <p:cNvPr id="14" name="Picture 13">
            <a:extLst>
              <a:ext uri="{FF2B5EF4-FFF2-40B4-BE49-F238E27FC236}">
                <a16:creationId xmlns:a16="http://schemas.microsoft.com/office/drawing/2014/main" id="{ED9DC298-BD54-9376-B5FD-E29FF544029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006579" y="2155741"/>
            <a:ext cx="2571750" cy="2571750"/>
          </a:xfrm>
          <a:prstGeom prst="rect">
            <a:avLst/>
          </a:prstGeom>
        </p:spPr>
      </p:pic>
      <p:pic>
        <p:nvPicPr>
          <p:cNvPr id="16" name="Picture 15">
            <a:extLst>
              <a:ext uri="{FF2B5EF4-FFF2-40B4-BE49-F238E27FC236}">
                <a16:creationId xmlns:a16="http://schemas.microsoft.com/office/drawing/2014/main" id="{C659E458-799B-8909-E092-1ED1D7F467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5048" y="5287516"/>
            <a:ext cx="2571750" cy="2571750"/>
          </a:xfrm>
          <a:prstGeom prst="rect">
            <a:avLst/>
          </a:prstGeom>
        </p:spPr>
      </p:pic>
      <p:pic>
        <p:nvPicPr>
          <p:cNvPr id="18" name="Picture 17">
            <a:extLst>
              <a:ext uri="{FF2B5EF4-FFF2-40B4-BE49-F238E27FC236}">
                <a16:creationId xmlns:a16="http://schemas.microsoft.com/office/drawing/2014/main" id="{89B59004-D765-85CA-7624-CC27DC01536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98572" y="5287516"/>
            <a:ext cx="2571750" cy="2571750"/>
          </a:xfrm>
          <a:prstGeom prst="rect">
            <a:avLst/>
          </a:prstGeom>
        </p:spPr>
      </p:pic>
      <p:pic>
        <p:nvPicPr>
          <p:cNvPr id="20" name="Picture 19">
            <a:extLst>
              <a:ext uri="{FF2B5EF4-FFF2-40B4-BE49-F238E27FC236}">
                <a16:creationId xmlns:a16="http://schemas.microsoft.com/office/drawing/2014/main" id="{A6D17DBA-4755-1AA9-DF86-BB00028FADE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6258391" y="5287516"/>
            <a:ext cx="2571750" cy="2571750"/>
          </a:xfrm>
          <a:prstGeom prst="rect">
            <a:avLst/>
          </a:prstGeom>
        </p:spPr>
      </p:pic>
      <p:pic>
        <p:nvPicPr>
          <p:cNvPr id="24" name="Picture 23">
            <a:extLst>
              <a:ext uri="{FF2B5EF4-FFF2-40B4-BE49-F238E27FC236}">
                <a16:creationId xmlns:a16="http://schemas.microsoft.com/office/drawing/2014/main" id="{1C6D5114-2BC2-308A-D82F-F7DA8DFE9E3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29950" y="2191172"/>
            <a:ext cx="2571750" cy="2571750"/>
          </a:xfrm>
          <a:prstGeom prst="rect">
            <a:avLst/>
          </a:prstGeom>
        </p:spPr>
      </p:pic>
      <p:pic>
        <p:nvPicPr>
          <p:cNvPr id="26" name="Picture 25">
            <a:extLst>
              <a:ext uri="{FF2B5EF4-FFF2-40B4-BE49-F238E27FC236}">
                <a16:creationId xmlns:a16="http://schemas.microsoft.com/office/drawing/2014/main" id="{2C46B8A4-4815-2F26-8A1E-B28575E671B4}"/>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6258391" y="2191172"/>
            <a:ext cx="2571750" cy="2571750"/>
          </a:xfrm>
          <a:prstGeom prst="rect">
            <a:avLst/>
          </a:prstGeom>
        </p:spPr>
      </p:pic>
      <p:pic>
        <p:nvPicPr>
          <p:cNvPr id="28" name="Picture 27">
            <a:extLst>
              <a:ext uri="{FF2B5EF4-FFF2-40B4-BE49-F238E27FC236}">
                <a16:creationId xmlns:a16="http://schemas.microsoft.com/office/drawing/2014/main" id="{2BEB84B0-CB5C-9501-AC22-BB308A1DE03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2006579" y="5287516"/>
            <a:ext cx="2571750" cy="2571750"/>
          </a:xfrm>
          <a:prstGeom prst="rect">
            <a:avLst/>
          </a:prstGeom>
        </p:spPr>
      </p:pic>
      <p:pic>
        <p:nvPicPr>
          <p:cNvPr id="30" name="Picture 29">
            <a:extLst>
              <a:ext uri="{FF2B5EF4-FFF2-40B4-BE49-F238E27FC236}">
                <a16:creationId xmlns:a16="http://schemas.microsoft.com/office/drawing/2014/main" id="{D06F5F95-BAF0-B960-7C09-094FA04C1DED}"/>
              </a:ext>
            </a:extLst>
          </p:cNvPr>
          <p:cNvPicPr>
            <a:picLocks noChangeAspect="1"/>
          </p:cNvPicPr>
          <p:nvPr/>
        </p:nvPicPr>
        <p:blipFill>
          <a:blip r:embed="rId14"/>
          <a:stretch>
            <a:fillRect/>
          </a:stretch>
        </p:blipFill>
        <p:spPr>
          <a:xfrm>
            <a:off x="16154401" y="190502"/>
            <a:ext cx="1499746" cy="1585097"/>
          </a:xfrm>
          <a:prstGeom prst="rect">
            <a:avLst/>
          </a:prstGeom>
        </p:spPr>
      </p:pic>
    </p:spTree>
    <p:extLst>
      <p:ext uri="{BB962C8B-B14F-4D97-AF65-F5344CB8AC3E}">
        <p14:creationId xmlns:p14="http://schemas.microsoft.com/office/powerpoint/2010/main" val="2960612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A7CA15-1F3C-2885-C365-8B82FC910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543100"/>
            <a:ext cx="7421577" cy="6217103"/>
          </a:xfrm>
          <a:prstGeom prst="rect">
            <a:avLst/>
          </a:prstGeom>
        </p:spPr>
      </p:pic>
      <p:pic>
        <p:nvPicPr>
          <p:cNvPr id="6" name="Picture 5">
            <a:extLst>
              <a:ext uri="{FF2B5EF4-FFF2-40B4-BE49-F238E27FC236}">
                <a16:creationId xmlns:a16="http://schemas.microsoft.com/office/drawing/2014/main" id="{51214935-B0FC-D399-F102-BA6FDC2D4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7631" y="1543100"/>
            <a:ext cx="7056784" cy="6217103"/>
          </a:xfrm>
          <a:prstGeom prst="rect">
            <a:avLst/>
          </a:prstGeom>
        </p:spPr>
      </p:pic>
      <p:sp>
        <p:nvSpPr>
          <p:cNvPr id="7" name="Title 1">
            <a:extLst>
              <a:ext uri="{FF2B5EF4-FFF2-40B4-BE49-F238E27FC236}">
                <a16:creationId xmlns:a16="http://schemas.microsoft.com/office/drawing/2014/main" id="{4D06A5B6-76A4-F109-5C2E-30BE38E16162}"/>
              </a:ext>
            </a:extLst>
          </p:cNvPr>
          <p:cNvSpPr>
            <a:spLocks noGrp="1"/>
          </p:cNvSpPr>
          <p:nvPr>
            <p:ph type="title"/>
          </p:nvPr>
        </p:nvSpPr>
        <p:spPr>
          <a:xfrm>
            <a:off x="914400" y="547691"/>
            <a:ext cx="15773400" cy="652462"/>
          </a:xfrm>
        </p:spPr>
        <p:txBody>
          <a:bodyPr/>
          <a:lstStyle/>
          <a:p>
            <a:r>
              <a:rPr lang="en-US" dirty="0"/>
              <a:t>Ai tool(copilot)</a:t>
            </a:r>
          </a:p>
        </p:txBody>
      </p:sp>
      <p:sp>
        <p:nvSpPr>
          <p:cNvPr id="8" name="TextBox 7">
            <a:extLst>
              <a:ext uri="{FF2B5EF4-FFF2-40B4-BE49-F238E27FC236}">
                <a16:creationId xmlns:a16="http://schemas.microsoft.com/office/drawing/2014/main" id="{B5330E31-435F-7CAB-2020-332CCFDFFEA1}"/>
              </a:ext>
            </a:extLst>
          </p:cNvPr>
          <p:cNvSpPr txBox="1"/>
          <p:nvPr/>
        </p:nvSpPr>
        <p:spPr>
          <a:xfrm>
            <a:off x="1325621" y="8108093"/>
            <a:ext cx="14833648" cy="1631216"/>
          </a:xfrm>
          <a:prstGeom prst="rect">
            <a:avLst/>
          </a:prstGeom>
          <a:noFill/>
        </p:spPr>
        <p:txBody>
          <a:bodyPr wrap="square" rtlCol="0">
            <a:spAutoFit/>
          </a:bodyPr>
          <a:lstStyle/>
          <a:p>
            <a:pPr algn="just"/>
            <a:r>
              <a:rPr lang="en-US" sz="2000" b="1" dirty="0"/>
              <a:t>At present, our team predominantly utilizes open-source AI solutions. However, we are contemplating integrating paid AI services supported by APIs into our website framework in the future. This strategic consideration would allow us to broaden our technological capabilities modestly, potentially enhancing user experiences through additional functionalities and personalized interactions. By cautiously embracing these advanced AI tools, we aim to stay abreast of technological advancements while catering to our customers' evolving requirements.</a:t>
            </a:r>
          </a:p>
        </p:txBody>
      </p:sp>
      <p:pic>
        <p:nvPicPr>
          <p:cNvPr id="9" name="Picture 8">
            <a:extLst>
              <a:ext uri="{FF2B5EF4-FFF2-40B4-BE49-F238E27FC236}">
                <a16:creationId xmlns:a16="http://schemas.microsoft.com/office/drawing/2014/main" id="{5850F3EC-0DA5-B49E-F23C-18789587A608}"/>
              </a:ext>
            </a:extLst>
          </p:cNvPr>
          <p:cNvPicPr>
            <a:picLocks noChangeAspect="1"/>
          </p:cNvPicPr>
          <p:nvPr/>
        </p:nvPicPr>
        <p:blipFill>
          <a:blip r:embed="rId4"/>
          <a:stretch>
            <a:fillRect/>
          </a:stretch>
        </p:blipFill>
        <p:spPr>
          <a:xfrm>
            <a:off x="16154401" y="190502"/>
            <a:ext cx="1499746" cy="1585097"/>
          </a:xfrm>
          <a:prstGeom prst="rect">
            <a:avLst/>
          </a:prstGeom>
        </p:spPr>
      </p:pic>
    </p:spTree>
    <p:extLst>
      <p:ext uri="{BB962C8B-B14F-4D97-AF65-F5344CB8AC3E}">
        <p14:creationId xmlns:p14="http://schemas.microsoft.com/office/powerpoint/2010/main" val="423859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71052-44D4-871B-404A-B35CF1242DD0}"/>
              </a:ext>
            </a:extLst>
          </p:cNvPr>
          <p:cNvSpPr>
            <a:spLocks noGrp="1"/>
          </p:cNvSpPr>
          <p:nvPr>
            <p:ph type="title"/>
          </p:nvPr>
        </p:nvSpPr>
        <p:spPr/>
        <p:txBody>
          <a:bodyPr/>
          <a:lstStyle/>
          <a:p>
            <a:r>
              <a:rPr lang="en-US" dirty="0"/>
              <a:t>Social Media</a:t>
            </a:r>
          </a:p>
        </p:txBody>
      </p:sp>
      <p:pic>
        <p:nvPicPr>
          <p:cNvPr id="4" name="Picture 3">
            <a:extLst>
              <a:ext uri="{FF2B5EF4-FFF2-40B4-BE49-F238E27FC236}">
                <a16:creationId xmlns:a16="http://schemas.microsoft.com/office/drawing/2014/main" id="{C36C51BA-5E33-FE36-2D5A-B512DD0525FE}"/>
              </a:ext>
            </a:extLst>
          </p:cNvPr>
          <p:cNvPicPr>
            <a:picLocks noChangeAspect="1"/>
          </p:cNvPicPr>
          <p:nvPr/>
        </p:nvPicPr>
        <p:blipFill rotWithShape="1">
          <a:blip r:embed="rId2">
            <a:extLst>
              <a:ext uri="{28A0092B-C50C-407E-A947-70E740481C1C}">
                <a14:useLocalDpi xmlns:a14="http://schemas.microsoft.com/office/drawing/2010/main" val="0"/>
              </a:ext>
            </a:extLst>
          </a:blip>
          <a:srcRect t="-8603" b="13704"/>
          <a:stretch/>
        </p:blipFill>
        <p:spPr>
          <a:xfrm>
            <a:off x="2519264" y="999420"/>
            <a:ext cx="5040560" cy="7960504"/>
          </a:xfrm>
          <a:prstGeom prst="rect">
            <a:avLst/>
          </a:prstGeom>
        </p:spPr>
      </p:pic>
      <p:pic>
        <p:nvPicPr>
          <p:cNvPr id="9" name="Picture 8">
            <a:extLst>
              <a:ext uri="{FF2B5EF4-FFF2-40B4-BE49-F238E27FC236}">
                <a16:creationId xmlns:a16="http://schemas.microsoft.com/office/drawing/2014/main" id="{F551F3E7-CA33-C32A-F8A0-267F8ADCFB36}"/>
              </a:ext>
            </a:extLst>
          </p:cNvPr>
          <p:cNvPicPr>
            <a:picLocks noChangeAspect="1"/>
          </p:cNvPicPr>
          <p:nvPr/>
        </p:nvPicPr>
        <p:blipFill>
          <a:blip r:embed="rId3"/>
          <a:stretch>
            <a:fillRect/>
          </a:stretch>
        </p:blipFill>
        <p:spPr>
          <a:xfrm>
            <a:off x="16154401" y="190502"/>
            <a:ext cx="1499746" cy="1585097"/>
          </a:xfrm>
          <a:prstGeom prst="rect">
            <a:avLst/>
          </a:prstGeom>
        </p:spPr>
      </p:pic>
      <p:pic>
        <p:nvPicPr>
          <p:cNvPr id="5" name="Picture 4">
            <a:extLst>
              <a:ext uri="{FF2B5EF4-FFF2-40B4-BE49-F238E27FC236}">
                <a16:creationId xmlns:a16="http://schemas.microsoft.com/office/drawing/2014/main" id="{43FB8B97-FF2A-D14F-4395-714E06446F8C}"/>
              </a:ext>
            </a:extLst>
          </p:cNvPr>
          <p:cNvPicPr>
            <a:picLocks noChangeAspect="1"/>
          </p:cNvPicPr>
          <p:nvPr/>
        </p:nvPicPr>
        <p:blipFill>
          <a:blip r:embed="rId4"/>
          <a:stretch>
            <a:fillRect/>
          </a:stretch>
        </p:blipFill>
        <p:spPr>
          <a:xfrm>
            <a:off x="7981461" y="1657586"/>
            <a:ext cx="8172940" cy="7302338"/>
          </a:xfrm>
          <a:prstGeom prst="rect">
            <a:avLst/>
          </a:prstGeom>
        </p:spPr>
      </p:pic>
    </p:spTree>
    <p:extLst>
      <p:ext uri="{BB962C8B-B14F-4D97-AF65-F5344CB8AC3E}">
        <p14:creationId xmlns:p14="http://schemas.microsoft.com/office/powerpoint/2010/main" val="1573728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3">
            <a:extLst>
              <a:ext uri="{FF2B5EF4-FFF2-40B4-BE49-F238E27FC236}">
                <a16:creationId xmlns:a16="http://schemas.microsoft.com/office/drawing/2014/main" id="{3CAEC04B-1429-4612-89DB-5CA4F4B031FD}"/>
              </a:ext>
            </a:extLst>
          </p:cNvPr>
          <p:cNvSpPr txBox="1">
            <a:spLocks/>
          </p:cNvSpPr>
          <p:nvPr/>
        </p:nvSpPr>
        <p:spPr>
          <a:xfrm>
            <a:off x="376232" y="330449"/>
            <a:ext cx="15087600" cy="1266400"/>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8747"/>
              </a:lnSpc>
              <a:buClrTx/>
              <a:buFontTx/>
              <a:buNone/>
            </a:pPr>
            <a:r>
              <a:rPr lang="en-GB" sz="3000" b="1" dirty="0">
                <a:solidFill>
                  <a:prstClr val="black"/>
                </a:solidFill>
                <a:latin typeface="Raleway"/>
              </a:rPr>
              <a:t>  </a:t>
            </a:r>
            <a:r>
              <a:rPr lang="en-GB" sz="6000" dirty="0">
                <a:solidFill>
                  <a:schemeClr val="accent2"/>
                </a:solidFill>
                <a:latin typeface="Antonio Bold"/>
                <a:ea typeface="+mn-ea"/>
                <a:cs typeface="+mn-cs"/>
              </a:rPr>
              <a:t>MVP Validation</a:t>
            </a:r>
            <a:endParaRPr lang="en-US" sz="6000" dirty="0">
              <a:solidFill>
                <a:schemeClr val="accent2"/>
              </a:solidFill>
              <a:latin typeface="Antonio Bold"/>
              <a:ea typeface="+mn-ea"/>
              <a:cs typeface="+mn-cs"/>
            </a:endParaRPr>
          </a:p>
        </p:txBody>
      </p:sp>
      <p:sp>
        <p:nvSpPr>
          <p:cNvPr id="110" name="Rectangle 109">
            <a:extLst>
              <a:ext uri="{FF2B5EF4-FFF2-40B4-BE49-F238E27FC236}">
                <a16:creationId xmlns:a16="http://schemas.microsoft.com/office/drawing/2014/main" id="{51D08DA0-06DC-8B4E-BD66-A9F65085D413}"/>
              </a:ext>
            </a:extLst>
          </p:cNvPr>
          <p:cNvSpPr/>
          <p:nvPr/>
        </p:nvSpPr>
        <p:spPr>
          <a:xfrm>
            <a:off x="595245" y="1491396"/>
            <a:ext cx="16673468" cy="816933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Barlow" panose="00000800000000000000" pitchFamily="2" charset="0"/>
            </a:endParaRPr>
          </a:p>
        </p:txBody>
      </p:sp>
      <p:cxnSp>
        <p:nvCxnSpPr>
          <p:cNvPr id="133" name="Straight Connector 132">
            <a:extLst>
              <a:ext uri="{FF2B5EF4-FFF2-40B4-BE49-F238E27FC236}">
                <a16:creationId xmlns:a16="http://schemas.microsoft.com/office/drawing/2014/main" id="{97A66D7F-E190-4448-B607-C21D56C9EC0E}"/>
              </a:ext>
            </a:extLst>
          </p:cNvPr>
          <p:cNvCxnSpPr>
            <a:cxnSpLocks/>
          </p:cNvCxnSpPr>
          <p:nvPr/>
        </p:nvCxnSpPr>
        <p:spPr>
          <a:xfrm flipH="1" flipV="1">
            <a:off x="8458200" y="1596849"/>
            <a:ext cx="0" cy="79584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1671FBED-F807-C244-997A-A62DD004EDFB}"/>
              </a:ext>
            </a:extLst>
          </p:cNvPr>
          <p:cNvSpPr txBox="1"/>
          <p:nvPr/>
        </p:nvSpPr>
        <p:spPr>
          <a:xfrm>
            <a:off x="652488" y="2577445"/>
            <a:ext cx="3299254" cy="338554"/>
          </a:xfrm>
          <a:prstGeom prst="rect">
            <a:avLst/>
          </a:prstGeom>
          <a:noFill/>
        </p:spPr>
        <p:txBody>
          <a:bodyPr wrap="square" rtlCol="0">
            <a:spAutoFit/>
          </a:bodyPr>
          <a:lstStyle/>
          <a:p>
            <a:r>
              <a:rPr lang="en-GB" sz="1600" b="1" dirty="0">
                <a:latin typeface="Barlow" panose="00000800000000000000" pitchFamily="2" charset="0"/>
              </a:rPr>
              <a:t>Test Details:</a:t>
            </a:r>
          </a:p>
        </p:txBody>
      </p:sp>
      <p:sp>
        <p:nvSpPr>
          <p:cNvPr id="135" name="TextBox 134">
            <a:extLst>
              <a:ext uri="{FF2B5EF4-FFF2-40B4-BE49-F238E27FC236}">
                <a16:creationId xmlns:a16="http://schemas.microsoft.com/office/drawing/2014/main" id="{FEA05CF0-7156-F54C-B0C2-FBC0374002EC}"/>
              </a:ext>
            </a:extLst>
          </p:cNvPr>
          <p:cNvSpPr txBox="1"/>
          <p:nvPr/>
        </p:nvSpPr>
        <p:spPr>
          <a:xfrm>
            <a:off x="730785" y="4945627"/>
            <a:ext cx="3299254" cy="338554"/>
          </a:xfrm>
          <a:prstGeom prst="rect">
            <a:avLst/>
          </a:prstGeom>
          <a:noFill/>
        </p:spPr>
        <p:txBody>
          <a:bodyPr wrap="square" rtlCol="0">
            <a:spAutoFit/>
          </a:bodyPr>
          <a:lstStyle/>
          <a:p>
            <a:r>
              <a:rPr lang="en-GB" sz="1600" b="1" dirty="0">
                <a:latin typeface="Barlow" panose="00000800000000000000" pitchFamily="2" charset="0"/>
              </a:rPr>
              <a:t>Results of Test:</a:t>
            </a:r>
          </a:p>
        </p:txBody>
      </p:sp>
      <p:sp>
        <p:nvSpPr>
          <p:cNvPr id="136" name="TextBox 135">
            <a:extLst>
              <a:ext uri="{FF2B5EF4-FFF2-40B4-BE49-F238E27FC236}">
                <a16:creationId xmlns:a16="http://schemas.microsoft.com/office/drawing/2014/main" id="{28E58E65-6693-2848-B580-E0CC47E8C136}"/>
              </a:ext>
            </a:extLst>
          </p:cNvPr>
          <p:cNvSpPr txBox="1"/>
          <p:nvPr/>
        </p:nvSpPr>
        <p:spPr>
          <a:xfrm>
            <a:off x="9993726" y="2292334"/>
            <a:ext cx="3299254" cy="338554"/>
          </a:xfrm>
          <a:prstGeom prst="rect">
            <a:avLst/>
          </a:prstGeom>
          <a:noFill/>
        </p:spPr>
        <p:txBody>
          <a:bodyPr wrap="square" rtlCol="0">
            <a:spAutoFit/>
          </a:bodyPr>
          <a:lstStyle/>
          <a:p>
            <a:r>
              <a:rPr lang="en-GB" sz="1600" b="1" dirty="0">
                <a:latin typeface="Barlow" panose="00000800000000000000" pitchFamily="2" charset="0"/>
              </a:rPr>
              <a:t>Conclusion:</a:t>
            </a:r>
          </a:p>
        </p:txBody>
      </p:sp>
      <p:sp>
        <p:nvSpPr>
          <p:cNvPr id="137" name="TextBox 136">
            <a:extLst>
              <a:ext uri="{FF2B5EF4-FFF2-40B4-BE49-F238E27FC236}">
                <a16:creationId xmlns:a16="http://schemas.microsoft.com/office/drawing/2014/main" id="{7430E071-9B96-1446-8F6F-64CD7A481BC2}"/>
              </a:ext>
            </a:extLst>
          </p:cNvPr>
          <p:cNvSpPr txBox="1"/>
          <p:nvPr/>
        </p:nvSpPr>
        <p:spPr>
          <a:xfrm>
            <a:off x="9023277" y="5022678"/>
            <a:ext cx="6922820" cy="1815882"/>
          </a:xfrm>
          <a:prstGeom prst="rect">
            <a:avLst/>
          </a:prstGeom>
          <a:noFill/>
        </p:spPr>
        <p:txBody>
          <a:bodyPr wrap="square" rtlCol="0">
            <a:spAutoFit/>
          </a:bodyPr>
          <a:lstStyle/>
          <a:p>
            <a:r>
              <a:rPr lang="en-GB" sz="1600" b="1" dirty="0">
                <a:latin typeface="Barlow" panose="00000800000000000000" pitchFamily="2" charset="0"/>
              </a:rPr>
              <a:t>Realizations / Insights:</a:t>
            </a:r>
          </a:p>
          <a:p>
            <a:endParaRPr lang="en-GB" sz="1600" b="1" dirty="0">
              <a:latin typeface="Barlow" panose="00000800000000000000" pitchFamily="2" charset="0"/>
            </a:endParaRPr>
          </a:p>
          <a:p>
            <a:pPr algn="just"/>
            <a:r>
              <a:rPr lang="en-US" sz="1600" dirty="0">
                <a:latin typeface="Barlow" panose="00000800000000000000" pitchFamily="2" charset="0"/>
              </a:rPr>
              <a:t>Robust demand for personalized T-shirt designs and positive feedback on our user-friendly platform suggest promising growth. Strengthening marketing and incentivizing customer referrals can enhance our reach. Ongoing refinement and prioritizing customer satisfaction are essential for sustained success.</a:t>
            </a:r>
            <a:endParaRPr lang="en-GB" sz="1600" dirty="0">
              <a:latin typeface="Barlow" panose="00000800000000000000" pitchFamily="2" charset="0"/>
            </a:endParaRPr>
          </a:p>
        </p:txBody>
      </p:sp>
      <p:sp>
        <p:nvSpPr>
          <p:cNvPr id="138" name="TextBox 137">
            <a:extLst>
              <a:ext uri="{FF2B5EF4-FFF2-40B4-BE49-F238E27FC236}">
                <a16:creationId xmlns:a16="http://schemas.microsoft.com/office/drawing/2014/main" id="{2C2B3B00-73BC-054E-9F8B-8D188EEB2FB0}"/>
              </a:ext>
            </a:extLst>
          </p:cNvPr>
          <p:cNvSpPr txBox="1"/>
          <p:nvPr/>
        </p:nvSpPr>
        <p:spPr>
          <a:xfrm>
            <a:off x="9137930" y="7186783"/>
            <a:ext cx="5910725" cy="2062103"/>
          </a:xfrm>
          <a:prstGeom prst="rect">
            <a:avLst/>
          </a:prstGeom>
          <a:noFill/>
        </p:spPr>
        <p:txBody>
          <a:bodyPr wrap="square" rtlCol="0">
            <a:spAutoFit/>
          </a:bodyPr>
          <a:lstStyle/>
          <a:p>
            <a:r>
              <a:rPr lang="en-GB" sz="1600" b="1" dirty="0">
                <a:latin typeface="Barlow" panose="00000800000000000000" pitchFamily="2" charset="0"/>
              </a:rPr>
              <a:t>Next Steps:</a:t>
            </a:r>
          </a:p>
          <a:p>
            <a:endParaRPr lang="en-GB" sz="1600" b="1" dirty="0">
              <a:latin typeface="Barlow" panose="00000800000000000000" pitchFamily="2" charset="0"/>
            </a:endParaRPr>
          </a:p>
          <a:p>
            <a:pPr marL="342900" indent="-342900" algn="just">
              <a:buFont typeface="+mj-lt"/>
              <a:buAutoNum type="arabicPeriod"/>
            </a:pPr>
            <a:r>
              <a:rPr lang="en-US" sz="1600" dirty="0">
                <a:latin typeface="Barlow" panose="00000800000000000000" pitchFamily="2" charset="0"/>
              </a:rPr>
              <a:t>Strengthen marketing for wider reach.</a:t>
            </a:r>
          </a:p>
          <a:p>
            <a:pPr marL="342900" indent="-342900" algn="just">
              <a:buFont typeface="+mj-lt"/>
              <a:buAutoNum type="arabicPeriod"/>
            </a:pPr>
            <a:r>
              <a:rPr lang="en-US" sz="1600" dirty="0">
                <a:latin typeface="Barlow" panose="00000800000000000000" pitchFamily="2" charset="0"/>
              </a:rPr>
              <a:t>Introduce referral programs for customer evangelism.</a:t>
            </a:r>
          </a:p>
          <a:p>
            <a:pPr marL="342900" indent="-342900" algn="just">
              <a:buFont typeface="+mj-lt"/>
              <a:buAutoNum type="arabicPeriod"/>
            </a:pPr>
            <a:r>
              <a:rPr lang="en-US" sz="1600" dirty="0">
                <a:latin typeface="Barlow" panose="00000800000000000000" pitchFamily="2" charset="0"/>
              </a:rPr>
              <a:t>Gather feedback for platform refinement.</a:t>
            </a:r>
          </a:p>
          <a:p>
            <a:pPr marL="342900" indent="-342900" algn="just">
              <a:buFont typeface="+mj-lt"/>
              <a:buAutoNum type="arabicPeriod"/>
            </a:pPr>
            <a:r>
              <a:rPr lang="en-US" sz="1600" dirty="0">
                <a:latin typeface="Barlow" panose="00000800000000000000" pitchFamily="2" charset="0"/>
              </a:rPr>
              <a:t> Prioritize customer support and engagement.</a:t>
            </a:r>
          </a:p>
          <a:p>
            <a:pPr marL="342900" indent="-342900" algn="just">
              <a:buFont typeface="+mj-lt"/>
              <a:buAutoNum type="arabicPeriod"/>
            </a:pPr>
            <a:r>
              <a:rPr lang="en-US" sz="1600" dirty="0">
                <a:latin typeface="Barlow" panose="00000800000000000000" pitchFamily="2" charset="0"/>
              </a:rPr>
              <a:t>Include Ai Api to our website</a:t>
            </a:r>
            <a:endParaRPr lang="en-GB" sz="1600" dirty="0">
              <a:latin typeface="Barlow" panose="00000800000000000000" pitchFamily="2" charset="0"/>
            </a:endParaRPr>
          </a:p>
          <a:p>
            <a:endParaRPr lang="en-GB" sz="1600" b="1" dirty="0">
              <a:latin typeface="Barlow" panose="00000800000000000000" pitchFamily="2" charset="0"/>
            </a:endParaRPr>
          </a:p>
        </p:txBody>
      </p:sp>
      <p:sp>
        <p:nvSpPr>
          <p:cNvPr id="139" name="TextBox 138">
            <a:extLst>
              <a:ext uri="{FF2B5EF4-FFF2-40B4-BE49-F238E27FC236}">
                <a16:creationId xmlns:a16="http://schemas.microsoft.com/office/drawing/2014/main" id="{85F8CBB3-C33D-0B4D-8BEA-8C46D5F70F1E}"/>
              </a:ext>
            </a:extLst>
          </p:cNvPr>
          <p:cNvSpPr txBox="1"/>
          <p:nvPr/>
        </p:nvSpPr>
        <p:spPr>
          <a:xfrm>
            <a:off x="731735" y="3004562"/>
            <a:ext cx="3034805" cy="584775"/>
          </a:xfrm>
          <a:prstGeom prst="rect">
            <a:avLst/>
          </a:prstGeom>
          <a:noFill/>
        </p:spPr>
        <p:txBody>
          <a:bodyPr wrap="none" rtlCol="0">
            <a:spAutoFit/>
          </a:bodyPr>
          <a:lstStyle/>
          <a:p>
            <a:r>
              <a:rPr lang="en-GB" sz="1600" b="1" dirty="0">
                <a:latin typeface="Barlow" panose="00000800000000000000" pitchFamily="2" charset="0"/>
              </a:rPr>
              <a:t>How long will we test this MVP?</a:t>
            </a:r>
          </a:p>
          <a:p>
            <a:r>
              <a:rPr lang="en-GB" sz="1600" dirty="0">
                <a:latin typeface="Barlow" panose="00000800000000000000" pitchFamily="2" charset="0"/>
              </a:rPr>
              <a:t>3 to 5 months</a:t>
            </a:r>
          </a:p>
        </p:txBody>
      </p:sp>
      <p:sp>
        <p:nvSpPr>
          <p:cNvPr id="140" name="TextBox 139">
            <a:extLst>
              <a:ext uri="{FF2B5EF4-FFF2-40B4-BE49-F238E27FC236}">
                <a16:creationId xmlns:a16="http://schemas.microsoft.com/office/drawing/2014/main" id="{F64229BF-1A85-6D45-B2B7-855A518F1B89}"/>
              </a:ext>
            </a:extLst>
          </p:cNvPr>
          <p:cNvSpPr txBox="1"/>
          <p:nvPr/>
        </p:nvSpPr>
        <p:spPr>
          <a:xfrm>
            <a:off x="708403" y="4133612"/>
            <a:ext cx="3241593" cy="830997"/>
          </a:xfrm>
          <a:prstGeom prst="rect">
            <a:avLst/>
          </a:prstGeom>
          <a:noFill/>
        </p:spPr>
        <p:txBody>
          <a:bodyPr wrap="none" rtlCol="0">
            <a:spAutoFit/>
          </a:bodyPr>
          <a:lstStyle/>
          <a:p>
            <a:r>
              <a:rPr lang="en-GB" sz="1600" b="1" dirty="0">
                <a:latin typeface="Barlow" panose="00000800000000000000" pitchFamily="2" charset="0"/>
              </a:rPr>
              <a:t>How will we get to that audience?</a:t>
            </a:r>
          </a:p>
          <a:p>
            <a:r>
              <a:rPr lang="en-GB" sz="1600" dirty="0">
                <a:latin typeface="Barlow" panose="00000500000000000000" pitchFamily="2" charset="0"/>
              </a:rPr>
              <a:t>Through college and social media</a:t>
            </a:r>
          </a:p>
          <a:p>
            <a:endParaRPr lang="en-GB" sz="1600" b="1" dirty="0">
              <a:latin typeface="Barlow" panose="00000800000000000000" pitchFamily="2" charset="0"/>
            </a:endParaRPr>
          </a:p>
        </p:txBody>
      </p:sp>
      <p:sp>
        <p:nvSpPr>
          <p:cNvPr id="141" name="TextBox 140">
            <a:extLst>
              <a:ext uri="{FF2B5EF4-FFF2-40B4-BE49-F238E27FC236}">
                <a16:creationId xmlns:a16="http://schemas.microsoft.com/office/drawing/2014/main" id="{18EC7D1D-EFBB-2E4F-9EFB-AB531420D6FC}"/>
              </a:ext>
            </a:extLst>
          </p:cNvPr>
          <p:cNvSpPr txBox="1"/>
          <p:nvPr/>
        </p:nvSpPr>
        <p:spPr>
          <a:xfrm>
            <a:off x="715046" y="3594451"/>
            <a:ext cx="5646097" cy="584775"/>
          </a:xfrm>
          <a:prstGeom prst="rect">
            <a:avLst/>
          </a:prstGeom>
          <a:noFill/>
        </p:spPr>
        <p:txBody>
          <a:bodyPr wrap="none" rtlCol="0">
            <a:spAutoFit/>
          </a:bodyPr>
          <a:lstStyle/>
          <a:p>
            <a:r>
              <a:rPr lang="en-GB" sz="1600" b="1" dirty="0">
                <a:latin typeface="Barlow" panose="00000800000000000000" pitchFamily="2" charset="0"/>
              </a:rPr>
              <a:t>Who is our target audience for the test? How many of them?</a:t>
            </a:r>
          </a:p>
          <a:p>
            <a:r>
              <a:rPr lang="en-GB" sz="1600" dirty="0">
                <a:latin typeface="Barlow" panose="00000500000000000000" pitchFamily="2" charset="0"/>
              </a:rPr>
              <a:t>College students and Fashion Influencer, 50-100 persons</a:t>
            </a:r>
          </a:p>
        </p:txBody>
      </p:sp>
      <p:sp>
        <p:nvSpPr>
          <p:cNvPr id="142" name="Rectangle 141">
            <a:extLst>
              <a:ext uri="{FF2B5EF4-FFF2-40B4-BE49-F238E27FC236}">
                <a16:creationId xmlns:a16="http://schemas.microsoft.com/office/drawing/2014/main" id="{DCB024B3-A3D8-5942-AD22-2BBF7AC46378}"/>
              </a:ext>
            </a:extLst>
          </p:cNvPr>
          <p:cNvSpPr/>
          <p:nvPr/>
        </p:nvSpPr>
        <p:spPr>
          <a:xfrm>
            <a:off x="10165494" y="3077597"/>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3" name="TextBox 142">
            <a:extLst>
              <a:ext uri="{FF2B5EF4-FFF2-40B4-BE49-F238E27FC236}">
                <a16:creationId xmlns:a16="http://schemas.microsoft.com/office/drawing/2014/main" id="{B01EE1C5-A970-0647-A387-B5E639C06D66}"/>
              </a:ext>
            </a:extLst>
          </p:cNvPr>
          <p:cNvSpPr txBox="1"/>
          <p:nvPr/>
        </p:nvSpPr>
        <p:spPr>
          <a:xfrm>
            <a:off x="10412440" y="2673706"/>
            <a:ext cx="1295547" cy="338554"/>
          </a:xfrm>
          <a:prstGeom prst="rect">
            <a:avLst/>
          </a:prstGeom>
          <a:noFill/>
        </p:spPr>
        <p:txBody>
          <a:bodyPr wrap="none" rtlCol="0">
            <a:spAutoFit/>
          </a:bodyPr>
          <a:lstStyle/>
          <a:p>
            <a:r>
              <a:rPr lang="en-GB" sz="1600" dirty="0">
                <a:latin typeface="Barlow" panose="00000800000000000000" pitchFamily="2" charset="0"/>
              </a:rPr>
              <a:t>Persevere</a:t>
            </a:r>
          </a:p>
        </p:txBody>
      </p:sp>
      <p:sp>
        <p:nvSpPr>
          <p:cNvPr id="144" name="TextBox 143">
            <a:extLst>
              <a:ext uri="{FF2B5EF4-FFF2-40B4-BE49-F238E27FC236}">
                <a16:creationId xmlns:a16="http://schemas.microsoft.com/office/drawing/2014/main" id="{2E6F00F6-742E-C24C-92EB-6D9513CB41D0}"/>
              </a:ext>
            </a:extLst>
          </p:cNvPr>
          <p:cNvSpPr txBox="1"/>
          <p:nvPr/>
        </p:nvSpPr>
        <p:spPr>
          <a:xfrm>
            <a:off x="10412440" y="3030521"/>
            <a:ext cx="801823" cy="338554"/>
          </a:xfrm>
          <a:prstGeom prst="rect">
            <a:avLst/>
          </a:prstGeom>
          <a:noFill/>
        </p:spPr>
        <p:txBody>
          <a:bodyPr wrap="none" rtlCol="0">
            <a:spAutoFit/>
          </a:bodyPr>
          <a:lstStyle/>
          <a:p>
            <a:r>
              <a:rPr lang="en-GB" sz="1600" dirty="0">
                <a:latin typeface="Barlow" panose="00000800000000000000" pitchFamily="2" charset="0"/>
              </a:rPr>
              <a:t>Pivot</a:t>
            </a:r>
          </a:p>
        </p:txBody>
      </p:sp>
      <p:sp>
        <p:nvSpPr>
          <p:cNvPr id="145" name="TextBox 144">
            <a:extLst>
              <a:ext uri="{FF2B5EF4-FFF2-40B4-BE49-F238E27FC236}">
                <a16:creationId xmlns:a16="http://schemas.microsoft.com/office/drawing/2014/main" id="{60063187-BB1B-A444-B619-E14E03BA62DF}"/>
              </a:ext>
            </a:extLst>
          </p:cNvPr>
          <p:cNvSpPr txBox="1"/>
          <p:nvPr/>
        </p:nvSpPr>
        <p:spPr>
          <a:xfrm>
            <a:off x="10388995" y="3390844"/>
            <a:ext cx="1912703" cy="338554"/>
          </a:xfrm>
          <a:prstGeom prst="rect">
            <a:avLst/>
          </a:prstGeom>
          <a:noFill/>
        </p:spPr>
        <p:txBody>
          <a:bodyPr wrap="none" rtlCol="0">
            <a:spAutoFit/>
          </a:bodyPr>
          <a:lstStyle/>
          <a:p>
            <a:r>
              <a:rPr lang="en-GB" sz="1600" dirty="0">
                <a:latin typeface="Barlow" panose="00000800000000000000" pitchFamily="2" charset="0"/>
              </a:rPr>
              <a:t>Not conclusive</a:t>
            </a:r>
          </a:p>
        </p:txBody>
      </p:sp>
      <p:sp>
        <p:nvSpPr>
          <p:cNvPr id="146" name="Rectangle 145">
            <a:extLst>
              <a:ext uri="{FF2B5EF4-FFF2-40B4-BE49-F238E27FC236}">
                <a16:creationId xmlns:a16="http://schemas.microsoft.com/office/drawing/2014/main" id="{B6E6BF1D-5E5B-5243-AA5E-F55C0BC6CB58}"/>
              </a:ext>
            </a:extLst>
          </p:cNvPr>
          <p:cNvSpPr/>
          <p:nvPr/>
        </p:nvSpPr>
        <p:spPr>
          <a:xfrm>
            <a:off x="10170879" y="3439245"/>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7" name="Rectangle 146">
            <a:extLst>
              <a:ext uri="{FF2B5EF4-FFF2-40B4-BE49-F238E27FC236}">
                <a16:creationId xmlns:a16="http://schemas.microsoft.com/office/drawing/2014/main" id="{AAE7E61C-15D7-594A-94D7-75068E7F9D29}"/>
              </a:ext>
            </a:extLst>
          </p:cNvPr>
          <p:cNvSpPr/>
          <p:nvPr/>
        </p:nvSpPr>
        <p:spPr>
          <a:xfrm>
            <a:off x="10169611" y="2711009"/>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8" name="TextBox 147">
            <a:extLst>
              <a:ext uri="{FF2B5EF4-FFF2-40B4-BE49-F238E27FC236}">
                <a16:creationId xmlns:a16="http://schemas.microsoft.com/office/drawing/2014/main" id="{9118EE0E-947B-0F47-A725-AA544F75E946}"/>
              </a:ext>
            </a:extLst>
          </p:cNvPr>
          <p:cNvSpPr txBox="1"/>
          <p:nvPr/>
        </p:nvSpPr>
        <p:spPr>
          <a:xfrm>
            <a:off x="595245" y="1702677"/>
            <a:ext cx="7487907" cy="830997"/>
          </a:xfrm>
          <a:prstGeom prst="rect">
            <a:avLst/>
          </a:prstGeom>
          <a:noFill/>
        </p:spPr>
        <p:txBody>
          <a:bodyPr wrap="square" rtlCol="0">
            <a:spAutoFit/>
          </a:bodyPr>
          <a:lstStyle/>
          <a:p>
            <a:r>
              <a:rPr lang="en-GB" sz="1600" b="1" dirty="0">
                <a:latin typeface="Barlow" panose="00000800000000000000" pitchFamily="2" charset="0"/>
              </a:rPr>
              <a:t>What is your MVP</a:t>
            </a:r>
          </a:p>
          <a:p>
            <a:r>
              <a:rPr lang="en-US" sz="1600" dirty="0">
                <a:latin typeface="Barlow" panose="00000800000000000000" pitchFamily="2" charset="0"/>
              </a:rPr>
              <a:t>Fabric Fusion's MVP is a platform for generating personalized T-shirt designs based on user inputs.</a:t>
            </a:r>
            <a:endParaRPr lang="en-GB" sz="1600" dirty="0">
              <a:latin typeface="Barlow" panose="00000800000000000000" pitchFamily="2" charset="0"/>
            </a:endParaRPr>
          </a:p>
        </p:txBody>
      </p:sp>
      <p:sp>
        <p:nvSpPr>
          <p:cNvPr id="149" name="TextBox 148">
            <a:extLst>
              <a:ext uri="{FF2B5EF4-FFF2-40B4-BE49-F238E27FC236}">
                <a16:creationId xmlns:a16="http://schemas.microsoft.com/office/drawing/2014/main" id="{65F1A852-0296-784A-8B55-666EC2213AD5}"/>
              </a:ext>
            </a:extLst>
          </p:cNvPr>
          <p:cNvSpPr txBox="1"/>
          <p:nvPr/>
        </p:nvSpPr>
        <p:spPr>
          <a:xfrm>
            <a:off x="708403" y="5423538"/>
            <a:ext cx="7374744" cy="830997"/>
          </a:xfrm>
          <a:prstGeom prst="rect">
            <a:avLst/>
          </a:prstGeom>
          <a:noFill/>
        </p:spPr>
        <p:txBody>
          <a:bodyPr wrap="square" rtlCol="0">
            <a:spAutoFit/>
          </a:bodyPr>
          <a:lstStyle/>
          <a:p>
            <a:r>
              <a:rPr lang="en-GB" sz="1600" b="1" dirty="0">
                <a:latin typeface="Barlow" panose="00000800000000000000" pitchFamily="2" charset="0"/>
              </a:rPr>
              <a:t>Did enough customers buy? Why or why not?</a:t>
            </a:r>
          </a:p>
          <a:p>
            <a:r>
              <a:rPr lang="en-US" sz="1600" dirty="0">
                <a:latin typeface="Barlow" panose="00000800000000000000" pitchFamily="2" charset="0"/>
              </a:rPr>
              <a:t>Customers bought enough due to effective marketing strategies and strong product-market fit.</a:t>
            </a:r>
            <a:endParaRPr lang="en-GB" sz="1600" dirty="0">
              <a:latin typeface="Barlow" panose="00000800000000000000" pitchFamily="2" charset="0"/>
            </a:endParaRPr>
          </a:p>
        </p:txBody>
      </p:sp>
      <p:sp>
        <p:nvSpPr>
          <p:cNvPr id="150" name="TextBox 149">
            <a:extLst>
              <a:ext uri="{FF2B5EF4-FFF2-40B4-BE49-F238E27FC236}">
                <a16:creationId xmlns:a16="http://schemas.microsoft.com/office/drawing/2014/main" id="{E19D8FFA-C619-0B4F-92CF-D27367E4FAE7}"/>
              </a:ext>
            </a:extLst>
          </p:cNvPr>
          <p:cNvSpPr txBox="1"/>
          <p:nvPr/>
        </p:nvSpPr>
        <p:spPr>
          <a:xfrm>
            <a:off x="763523" y="6355786"/>
            <a:ext cx="7319624" cy="830997"/>
          </a:xfrm>
          <a:prstGeom prst="rect">
            <a:avLst/>
          </a:prstGeom>
          <a:noFill/>
        </p:spPr>
        <p:txBody>
          <a:bodyPr wrap="square" rtlCol="0">
            <a:spAutoFit/>
          </a:bodyPr>
          <a:lstStyle/>
          <a:p>
            <a:r>
              <a:rPr lang="en-GB" sz="1600" b="1" dirty="0">
                <a:latin typeface="Barlow" panose="00000800000000000000" pitchFamily="2" charset="0"/>
              </a:rPr>
              <a:t>Did customers pay the price we expected? Why or why not?</a:t>
            </a:r>
          </a:p>
          <a:p>
            <a:r>
              <a:rPr lang="en-US" sz="1600" dirty="0">
                <a:latin typeface="Barlow" panose="00000800000000000000" pitchFamily="2" charset="0"/>
              </a:rPr>
              <a:t>Customers paid the expected price due to perceived value and competitive pricing strategy.</a:t>
            </a:r>
            <a:endParaRPr lang="en-GB" sz="1600" dirty="0">
              <a:latin typeface="Barlow" panose="00000800000000000000" pitchFamily="2" charset="0"/>
            </a:endParaRPr>
          </a:p>
        </p:txBody>
      </p:sp>
      <p:sp>
        <p:nvSpPr>
          <p:cNvPr id="151" name="TextBox 150">
            <a:extLst>
              <a:ext uri="{FF2B5EF4-FFF2-40B4-BE49-F238E27FC236}">
                <a16:creationId xmlns:a16="http://schemas.microsoft.com/office/drawing/2014/main" id="{57EDA9B1-7A7D-DC46-85AD-020525D3F1D1}"/>
              </a:ext>
            </a:extLst>
          </p:cNvPr>
          <p:cNvSpPr txBox="1"/>
          <p:nvPr/>
        </p:nvSpPr>
        <p:spPr>
          <a:xfrm>
            <a:off x="708403" y="7294893"/>
            <a:ext cx="7222042" cy="1077218"/>
          </a:xfrm>
          <a:prstGeom prst="rect">
            <a:avLst/>
          </a:prstGeom>
          <a:noFill/>
        </p:spPr>
        <p:txBody>
          <a:bodyPr wrap="square" rtlCol="0">
            <a:spAutoFit/>
          </a:bodyPr>
          <a:lstStyle/>
          <a:p>
            <a:r>
              <a:rPr lang="en-GB" sz="1600" b="1" dirty="0">
                <a:latin typeface="Barlow" panose="00000800000000000000" pitchFamily="2" charset="0"/>
              </a:rPr>
              <a:t>Did customers come back to our product or show interest in doing so? Why or why not?</a:t>
            </a:r>
          </a:p>
          <a:p>
            <a:r>
              <a:rPr lang="en-US" sz="1600" dirty="0">
                <a:latin typeface="Barlow" panose="00000800000000000000" pitchFamily="2" charset="0"/>
              </a:rPr>
              <a:t>Customers showed interest in returning due to positive user experience and satisfaction with the personalized designs.</a:t>
            </a:r>
            <a:endParaRPr lang="en-GB" sz="1600" dirty="0">
              <a:latin typeface="Barlow" panose="00000800000000000000" pitchFamily="2" charset="0"/>
            </a:endParaRPr>
          </a:p>
        </p:txBody>
      </p:sp>
      <p:sp>
        <p:nvSpPr>
          <p:cNvPr id="152" name="TextBox 151">
            <a:extLst>
              <a:ext uri="{FF2B5EF4-FFF2-40B4-BE49-F238E27FC236}">
                <a16:creationId xmlns:a16="http://schemas.microsoft.com/office/drawing/2014/main" id="{CB6141DC-819C-2A45-B9F6-A119949D60F3}"/>
              </a:ext>
            </a:extLst>
          </p:cNvPr>
          <p:cNvSpPr txBox="1"/>
          <p:nvPr/>
        </p:nvSpPr>
        <p:spPr>
          <a:xfrm>
            <a:off x="751027" y="8489316"/>
            <a:ext cx="6321323" cy="1077218"/>
          </a:xfrm>
          <a:prstGeom prst="rect">
            <a:avLst/>
          </a:prstGeom>
          <a:noFill/>
        </p:spPr>
        <p:txBody>
          <a:bodyPr wrap="square" rtlCol="0">
            <a:spAutoFit/>
          </a:bodyPr>
          <a:lstStyle/>
          <a:p>
            <a:r>
              <a:rPr lang="en-GB" sz="1600" b="1" dirty="0">
                <a:latin typeface="Barlow" panose="00000800000000000000" pitchFamily="2" charset="0"/>
              </a:rPr>
              <a:t>Did customers recommend our product to others or evangelize about it? Why or why not? </a:t>
            </a:r>
          </a:p>
          <a:p>
            <a:r>
              <a:rPr lang="en-US" sz="1600" dirty="0">
                <a:latin typeface="Barlow" panose="00000800000000000000" pitchFamily="2" charset="0"/>
              </a:rPr>
              <a:t>Customers evangelized about our product due to its unique customization options and high-quality designs.</a:t>
            </a:r>
            <a:endParaRPr lang="en-GB" sz="1600" dirty="0">
              <a:latin typeface="Barlow" panose="00000800000000000000" pitchFamily="2" charset="0"/>
            </a:endParaRPr>
          </a:p>
        </p:txBody>
      </p:sp>
      <p:cxnSp>
        <p:nvCxnSpPr>
          <p:cNvPr id="153" name="Straight Connector 152"/>
          <p:cNvCxnSpPr/>
          <p:nvPr/>
        </p:nvCxnSpPr>
        <p:spPr>
          <a:xfrm flipV="1">
            <a:off x="714912" y="4762500"/>
            <a:ext cx="164341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c 4" descr="Checkmark">
            <a:extLst>
              <a:ext uri="{FF2B5EF4-FFF2-40B4-BE49-F238E27FC236}">
                <a16:creationId xmlns:a16="http://schemas.microsoft.com/office/drawing/2014/main" id="{10BC38E5-2BBC-F823-4607-A8A4BBE088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55689" y="2546018"/>
            <a:ext cx="375232" cy="411642"/>
          </a:xfrm>
          <a:prstGeom prst="rect">
            <a:avLst/>
          </a:prstGeom>
        </p:spPr>
      </p:pic>
      <p:pic>
        <p:nvPicPr>
          <p:cNvPr id="7" name="Picture 6">
            <a:extLst>
              <a:ext uri="{FF2B5EF4-FFF2-40B4-BE49-F238E27FC236}">
                <a16:creationId xmlns:a16="http://schemas.microsoft.com/office/drawing/2014/main" id="{24E7108A-E74B-B62D-5CA9-9D7F65A83932}"/>
              </a:ext>
            </a:extLst>
          </p:cNvPr>
          <p:cNvPicPr>
            <a:picLocks noChangeAspect="1"/>
          </p:cNvPicPr>
          <p:nvPr/>
        </p:nvPicPr>
        <p:blipFill>
          <a:blip r:embed="rId5"/>
          <a:stretch>
            <a:fillRect/>
          </a:stretch>
        </p:blipFill>
        <p:spPr>
          <a:xfrm>
            <a:off x="16154401" y="190502"/>
            <a:ext cx="1499746" cy="1585097"/>
          </a:xfrm>
          <a:prstGeom prst="rect">
            <a:avLst/>
          </a:prstGeom>
        </p:spPr>
      </p:pic>
    </p:spTree>
    <p:extLst>
      <p:ext uri="{BB962C8B-B14F-4D97-AF65-F5344CB8AC3E}">
        <p14:creationId xmlns:p14="http://schemas.microsoft.com/office/powerpoint/2010/main" val="1612461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81596FE8-134B-42C6-AEA2-AA21D93A48CC}"/>
              </a:ext>
            </a:extLst>
          </p:cNvPr>
          <p:cNvSpPr txBox="1">
            <a:spLocks/>
          </p:cNvSpPr>
          <p:nvPr/>
        </p:nvSpPr>
        <p:spPr>
          <a:xfrm>
            <a:off x="480767" y="151003"/>
            <a:ext cx="6787299" cy="1266401"/>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000" dirty="0">
                <a:solidFill>
                  <a:prstClr val="black"/>
                </a:solidFill>
                <a:latin typeface="Raleway"/>
              </a:rPr>
              <a:t>  </a:t>
            </a:r>
            <a:r>
              <a:rPr lang="en-GB" sz="6000" dirty="0">
                <a:solidFill>
                  <a:srgbClr val="C00000"/>
                </a:solidFill>
                <a:latin typeface="Antonio Bold"/>
                <a:ea typeface="+mn-ea"/>
                <a:cs typeface="+mn-cs"/>
              </a:rPr>
              <a:t>Sales Plan</a:t>
            </a:r>
            <a:endParaRPr lang="en-US" sz="6000" dirty="0">
              <a:solidFill>
                <a:srgbClr val="C00000"/>
              </a:solidFill>
              <a:latin typeface="Antonio Bold"/>
              <a:ea typeface="+mn-ea"/>
              <a:cs typeface="+mn-cs"/>
            </a:endParaRPr>
          </a:p>
        </p:txBody>
      </p:sp>
      <p:graphicFrame>
        <p:nvGraphicFramePr>
          <p:cNvPr id="8" name="Diagramm 2">
            <a:extLst>
              <a:ext uri="{FF2B5EF4-FFF2-40B4-BE49-F238E27FC236}">
                <a16:creationId xmlns:a16="http://schemas.microsoft.com/office/drawing/2014/main" id="{09669046-E64D-4AF8-AD3D-185A4A11FFD5}"/>
              </a:ext>
            </a:extLst>
          </p:cNvPr>
          <p:cNvGraphicFramePr/>
          <p:nvPr>
            <p:extLst>
              <p:ext uri="{D42A27DB-BD31-4B8C-83A1-F6EECF244321}">
                <p14:modId xmlns:p14="http://schemas.microsoft.com/office/powerpoint/2010/main" val="1018162361"/>
              </p:ext>
            </p:extLst>
          </p:nvPr>
        </p:nvGraphicFramePr>
        <p:xfrm>
          <a:off x="202373" y="2924767"/>
          <a:ext cx="5665027" cy="60479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p:cNvSpPr/>
          <p:nvPr/>
        </p:nvSpPr>
        <p:spPr>
          <a:xfrm>
            <a:off x="182880" y="1870451"/>
            <a:ext cx="4031873" cy="507831"/>
          </a:xfrm>
          <a:prstGeom prst="rect">
            <a:avLst/>
          </a:prstGeom>
        </p:spPr>
        <p:txBody>
          <a:bodyPr wrap="none">
            <a:spAutoFit/>
          </a:bodyPr>
          <a:lstStyle/>
          <a:p>
            <a:r>
              <a:rPr lang="en-GB" sz="2700" b="1" dirty="0">
                <a:solidFill>
                  <a:prstClr val="black"/>
                </a:solidFill>
                <a:latin typeface="Raleway"/>
              </a:rPr>
              <a:t>Customer Sales Funnel</a:t>
            </a:r>
            <a:endParaRPr lang="en-US" sz="2700" b="1" dirty="0">
              <a:solidFill>
                <a:prstClr val="black"/>
              </a:solidFill>
              <a:latin typeface="Raleway"/>
            </a:endParaRPr>
          </a:p>
        </p:txBody>
      </p:sp>
      <p:graphicFrame>
        <p:nvGraphicFramePr>
          <p:cNvPr id="17" name="Table 16"/>
          <p:cNvGraphicFramePr>
            <a:graphicFrameLocks noGrp="1"/>
          </p:cNvGraphicFramePr>
          <p:nvPr>
            <p:extLst>
              <p:ext uri="{D42A27DB-BD31-4B8C-83A1-F6EECF244321}">
                <p14:modId xmlns:p14="http://schemas.microsoft.com/office/powerpoint/2010/main" val="1422623596"/>
              </p:ext>
            </p:extLst>
          </p:nvPr>
        </p:nvGraphicFramePr>
        <p:xfrm>
          <a:off x="5867400" y="2924767"/>
          <a:ext cx="12085632" cy="3760627"/>
        </p:xfrm>
        <a:graphic>
          <a:graphicData uri="http://schemas.openxmlformats.org/drawingml/2006/table">
            <a:tbl>
              <a:tblPr firstRow="1" firstCol="1" bandRow="1">
                <a:tableStyleId>{00A15C55-8517-42AA-B614-E9B94910E393}</a:tableStyleId>
              </a:tblPr>
              <a:tblGrid>
                <a:gridCol w="2288309">
                  <a:extLst>
                    <a:ext uri="{9D8B030D-6E8A-4147-A177-3AD203B41FA5}">
                      <a16:colId xmlns:a16="http://schemas.microsoft.com/office/drawing/2014/main" val="20000"/>
                    </a:ext>
                  </a:extLst>
                </a:gridCol>
                <a:gridCol w="2347275">
                  <a:extLst>
                    <a:ext uri="{9D8B030D-6E8A-4147-A177-3AD203B41FA5}">
                      <a16:colId xmlns:a16="http://schemas.microsoft.com/office/drawing/2014/main" val="20001"/>
                    </a:ext>
                  </a:extLst>
                </a:gridCol>
                <a:gridCol w="2653442">
                  <a:extLst>
                    <a:ext uri="{9D8B030D-6E8A-4147-A177-3AD203B41FA5}">
                      <a16:colId xmlns:a16="http://schemas.microsoft.com/office/drawing/2014/main" val="20002"/>
                    </a:ext>
                  </a:extLst>
                </a:gridCol>
                <a:gridCol w="2449331">
                  <a:extLst>
                    <a:ext uri="{9D8B030D-6E8A-4147-A177-3AD203B41FA5}">
                      <a16:colId xmlns:a16="http://schemas.microsoft.com/office/drawing/2014/main" val="20003"/>
                    </a:ext>
                  </a:extLst>
                </a:gridCol>
                <a:gridCol w="2347275">
                  <a:extLst>
                    <a:ext uri="{9D8B030D-6E8A-4147-A177-3AD203B41FA5}">
                      <a16:colId xmlns:a16="http://schemas.microsoft.com/office/drawing/2014/main" val="20004"/>
                    </a:ext>
                  </a:extLst>
                </a:gridCol>
              </a:tblGrid>
              <a:tr h="542645">
                <a:tc>
                  <a:txBody>
                    <a:bodyPr/>
                    <a:lstStyle/>
                    <a:p>
                      <a:pPr marL="0" marR="0">
                        <a:lnSpc>
                          <a:spcPct val="107000"/>
                        </a:lnSpc>
                        <a:spcBef>
                          <a:spcPts val="0"/>
                        </a:spcBef>
                        <a:spcAft>
                          <a:spcPts val="800"/>
                        </a:spcAft>
                      </a:pPr>
                      <a:r>
                        <a:rPr lang="en-US" sz="1800" dirty="0">
                          <a:effectLst/>
                        </a:rPr>
                        <a:t>1</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2</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3</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4</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5</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extLst>
                  <a:ext uri="{0D108BD9-81ED-4DB2-BD59-A6C34878D82A}">
                    <a16:rowId xmlns:a16="http://schemas.microsoft.com/office/drawing/2014/main" val="10000"/>
                  </a:ext>
                </a:extLst>
              </a:tr>
              <a:tr h="1625024">
                <a:tc>
                  <a:txBody>
                    <a:bodyPr/>
                    <a:lstStyle/>
                    <a:p>
                      <a:pPr marL="0" marR="0">
                        <a:lnSpc>
                          <a:spcPct val="107000"/>
                        </a:lnSpc>
                        <a:spcBef>
                          <a:spcPts val="0"/>
                        </a:spcBef>
                        <a:spcAft>
                          <a:spcPts val="800"/>
                        </a:spcAft>
                      </a:pPr>
                      <a:r>
                        <a:rPr lang="en-US" sz="1800" dirty="0">
                          <a:effectLst/>
                        </a:rPr>
                        <a:t>Target Customer Segment (Type)</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Target Customer Segment  (Number)</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Channels to be used to attract the target customer segment</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Estimated number of leads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Estimated cost to convert these leads to actual customers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extLst>
                  <a:ext uri="{0D108BD9-81ED-4DB2-BD59-A6C34878D82A}">
                    <a16:rowId xmlns:a16="http://schemas.microsoft.com/office/drawing/2014/main" val="10001"/>
                  </a:ext>
                </a:extLst>
              </a:tr>
              <a:tr h="530986">
                <a:tc>
                  <a:txBody>
                    <a:bodyPr/>
                    <a:lstStyle/>
                    <a:p>
                      <a:pPr marL="0" marR="0">
                        <a:lnSpc>
                          <a:spcPct val="107000"/>
                        </a:lnSpc>
                        <a:spcBef>
                          <a:spcPts val="0"/>
                        </a:spcBef>
                        <a:spcAft>
                          <a:spcPts val="800"/>
                        </a:spcAft>
                      </a:pPr>
                      <a:r>
                        <a:rPr lang="en-US" sz="2400" dirty="0">
                          <a:effectLst/>
                        </a:rPr>
                        <a:t> </a:t>
                      </a:r>
                      <a:r>
                        <a:rPr lang="en-US" sz="2000" dirty="0">
                          <a:effectLst/>
                        </a:rPr>
                        <a:t>  Students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gn="ctr">
                        <a:lnSpc>
                          <a:spcPct val="107000"/>
                        </a:lnSpc>
                        <a:spcBef>
                          <a:spcPts val="0"/>
                        </a:spcBef>
                        <a:spcAft>
                          <a:spcPts val="800"/>
                        </a:spcAft>
                      </a:pPr>
                      <a:r>
                        <a:rPr lang="en-US" sz="2400" dirty="0">
                          <a:effectLst/>
                        </a:rPr>
                        <a:t> </a:t>
                      </a:r>
                      <a:r>
                        <a:rPr lang="en-US" sz="2000" b="0" dirty="0">
                          <a:effectLst/>
                        </a:rPr>
                        <a:t>50K+</a:t>
                      </a:r>
                      <a:endParaRPr lang="en-IN" sz="2700" b="0"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400" dirty="0">
                          <a:effectLst/>
                        </a:rPr>
                        <a:t> </a:t>
                      </a:r>
                      <a:r>
                        <a:rPr lang="en-US" sz="2000" dirty="0">
                          <a:effectLst/>
                        </a:rPr>
                        <a:t>Events &amp; Social Media</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000" dirty="0">
                          <a:effectLst/>
                        </a:rPr>
                        <a:t>             7k+</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400" dirty="0">
                          <a:effectLst/>
                        </a:rPr>
                        <a:t> </a:t>
                      </a:r>
                      <a:r>
                        <a:rPr lang="en-US" sz="2000" dirty="0">
                          <a:effectLst/>
                        </a:rPr>
                        <a:t>25k</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2"/>
                  </a:ext>
                </a:extLst>
              </a:tr>
              <a:tr h="530986">
                <a:tc>
                  <a:txBody>
                    <a:bodyPr/>
                    <a:lstStyle/>
                    <a:p>
                      <a:pPr marL="0" marR="0">
                        <a:lnSpc>
                          <a:spcPct val="107000"/>
                        </a:lnSpc>
                        <a:spcBef>
                          <a:spcPts val="0"/>
                        </a:spcBef>
                        <a:spcAft>
                          <a:spcPts val="800"/>
                        </a:spcAft>
                      </a:pPr>
                      <a:r>
                        <a:rPr lang="en-US" sz="2400" dirty="0">
                          <a:effectLst/>
                        </a:rPr>
                        <a:t> </a:t>
                      </a:r>
                      <a:r>
                        <a:rPr lang="en-US" sz="2000" dirty="0">
                          <a:effectLst/>
                        </a:rPr>
                        <a:t>Fashion Influencer</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gn="ctr">
                        <a:lnSpc>
                          <a:spcPct val="107000"/>
                        </a:lnSpc>
                        <a:spcBef>
                          <a:spcPts val="0"/>
                        </a:spcBef>
                        <a:spcAft>
                          <a:spcPts val="800"/>
                        </a:spcAft>
                      </a:pPr>
                      <a:r>
                        <a:rPr lang="en-US" sz="2000" dirty="0">
                          <a:effectLst/>
                        </a:rPr>
                        <a:t> 10K+</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000" dirty="0">
                          <a:effectLst/>
                        </a:rPr>
                        <a:t> Social Media</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000" dirty="0">
                          <a:effectLst/>
                        </a:rPr>
                        <a:t>              2k+</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000" dirty="0">
                          <a:effectLst/>
                        </a:rPr>
                        <a:t> 6K</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3"/>
                  </a:ext>
                </a:extLst>
              </a:tr>
              <a:tr h="530986">
                <a:tc>
                  <a:txBody>
                    <a:bodyPr/>
                    <a:lstStyle/>
                    <a:p>
                      <a:pPr marL="0" marR="0">
                        <a:lnSpc>
                          <a:spcPct val="107000"/>
                        </a:lnSpc>
                        <a:spcBef>
                          <a:spcPts val="0"/>
                        </a:spcBef>
                        <a:spcAft>
                          <a:spcPts val="800"/>
                        </a:spcAft>
                      </a:pPr>
                      <a:r>
                        <a:rPr lang="en-US" sz="2400" dirty="0">
                          <a:effectLst/>
                        </a:rPr>
                        <a:t> </a:t>
                      </a:r>
                      <a:r>
                        <a:rPr lang="en-US" sz="2000" dirty="0">
                          <a:effectLst/>
                        </a:rPr>
                        <a:t>Event Organizer</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gn="ctr">
                        <a:lnSpc>
                          <a:spcPct val="107000"/>
                        </a:lnSpc>
                        <a:spcBef>
                          <a:spcPts val="0"/>
                        </a:spcBef>
                        <a:spcAft>
                          <a:spcPts val="800"/>
                        </a:spcAft>
                      </a:pPr>
                      <a:r>
                        <a:rPr lang="en-US" sz="2000" dirty="0">
                          <a:effectLst/>
                        </a:rPr>
                        <a:t> 10k+</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000" dirty="0">
                          <a:effectLst/>
                        </a:rPr>
                        <a:t> Events &amp; Social Media</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000" dirty="0">
                          <a:effectLst/>
                        </a:rPr>
                        <a:t>              3K+</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gn="ctr">
                        <a:lnSpc>
                          <a:spcPct val="107000"/>
                        </a:lnSpc>
                        <a:spcBef>
                          <a:spcPts val="0"/>
                        </a:spcBef>
                        <a:spcAft>
                          <a:spcPts val="800"/>
                        </a:spcAft>
                      </a:pPr>
                      <a:r>
                        <a:rPr lang="en-US" sz="2000" dirty="0">
                          <a:effectLst/>
                        </a:rPr>
                        <a:t> 4K</a:t>
                      </a:r>
                      <a:endParaRPr lang="en-IN"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
        <p:nvSpPr>
          <p:cNvPr id="18" name="Rectangle 17"/>
          <p:cNvSpPr/>
          <p:nvPr/>
        </p:nvSpPr>
        <p:spPr>
          <a:xfrm>
            <a:off x="9372600" y="2124366"/>
            <a:ext cx="4596130" cy="507831"/>
          </a:xfrm>
          <a:prstGeom prst="rect">
            <a:avLst/>
          </a:prstGeom>
        </p:spPr>
        <p:txBody>
          <a:bodyPr wrap="none">
            <a:spAutoFit/>
          </a:bodyPr>
          <a:lstStyle/>
          <a:p>
            <a:r>
              <a:rPr lang="en-GB" sz="2700" b="1" dirty="0">
                <a:solidFill>
                  <a:prstClr val="black"/>
                </a:solidFill>
                <a:latin typeface="Raleway"/>
              </a:rPr>
              <a:t>Customer Acquisition Plan</a:t>
            </a:r>
            <a:endParaRPr lang="en-US" sz="2700" b="1" dirty="0">
              <a:solidFill>
                <a:prstClr val="black"/>
              </a:solidFill>
              <a:latin typeface="Raleway"/>
            </a:endParaRPr>
          </a:p>
        </p:txBody>
      </p:sp>
      <p:pic>
        <p:nvPicPr>
          <p:cNvPr id="2" name="Picture 1">
            <a:extLst>
              <a:ext uri="{FF2B5EF4-FFF2-40B4-BE49-F238E27FC236}">
                <a16:creationId xmlns:a16="http://schemas.microsoft.com/office/drawing/2014/main" id="{ECCD9B50-338D-985A-60C9-BB0A2F885E58}"/>
              </a:ext>
            </a:extLst>
          </p:cNvPr>
          <p:cNvPicPr>
            <a:picLocks noChangeAspect="1"/>
          </p:cNvPicPr>
          <p:nvPr/>
        </p:nvPicPr>
        <p:blipFill>
          <a:blip r:embed="rId8"/>
          <a:stretch>
            <a:fillRect/>
          </a:stretch>
        </p:blipFill>
        <p:spPr>
          <a:xfrm>
            <a:off x="16154401" y="190502"/>
            <a:ext cx="1499746" cy="1585097"/>
          </a:xfrm>
          <a:prstGeom prst="rect">
            <a:avLst/>
          </a:prstGeom>
        </p:spPr>
      </p:pic>
    </p:spTree>
    <p:extLst>
      <p:ext uri="{BB962C8B-B14F-4D97-AF65-F5344CB8AC3E}">
        <p14:creationId xmlns:p14="http://schemas.microsoft.com/office/powerpoint/2010/main" val="3641551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94247" y="1771809"/>
            <a:ext cx="1377754" cy="76041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15" name="Title 14"/>
          <p:cNvSpPr>
            <a:spLocks noGrp="1"/>
          </p:cNvSpPr>
          <p:nvPr>
            <p:ph type="title"/>
          </p:nvPr>
        </p:nvSpPr>
        <p:spPr>
          <a:xfrm>
            <a:off x="914400" y="478597"/>
            <a:ext cx="15773400" cy="652462"/>
          </a:xfrm>
          <a:noFill/>
        </p:spPr>
        <p:txBody>
          <a:bodyPr>
            <a:normAutofit fontScale="90000"/>
          </a:bodyPr>
          <a:lstStyle/>
          <a:p>
            <a:r>
              <a:rPr lang="en-US" sz="4000" dirty="0"/>
              <a:t>Go-to-Market Strategy</a:t>
            </a:r>
          </a:p>
        </p:txBody>
      </p:sp>
      <p:sp>
        <p:nvSpPr>
          <p:cNvPr id="16" name="TextBox 15"/>
          <p:cNvSpPr txBox="1"/>
          <p:nvPr/>
        </p:nvSpPr>
        <p:spPr>
          <a:xfrm>
            <a:off x="903708" y="1162305"/>
            <a:ext cx="16357600" cy="2923877"/>
          </a:xfrm>
          <a:prstGeom prst="rect">
            <a:avLst/>
          </a:prstGeom>
          <a:noFill/>
        </p:spPr>
        <p:txBody>
          <a:bodyPr wrap="square" rtlCol="0" anchor="t">
            <a:spAutoFit/>
          </a:bodyPr>
          <a:lstStyle/>
          <a:p>
            <a:r>
              <a:rPr lang="en-US" sz="2600" b="1" dirty="0"/>
              <a:t>Social Media Presence:</a:t>
            </a:r>
          </a:p>
          <a:p>
            <a:endParaRPr lang="en-US" sz="3600" b="1" dirty="0"/>
          </a:p>
          <a:p>
            <a:pPr marL="685800" indent="-685800">
              <a:buFont typeface="Arial" panose="020B0604020202020204" pitchFamily="34" charset="0"/>
              <a:buChar char="•"/>
            </a:pPr>
            <a:r>
              <a:rPr lang="en-US" sz="2400" b="1" i="1" dirty="0"/>
              <a:t>Facebook: </a:t>
            </a:r>
            <a:r>
              <a:rPr lang="en-US" sz="2400" i="1" dirty="0"/>
              <a:t>Regular posts featuring customer testimonials, product highlights, and interactive polls.</a:t>
            </a:r>
          </a:p>
          <a:p>
            <a:pPr marL="685800" indent="-685800">
              <a:buFont typeface="Arial" panose="020B0604020202020204" pitchFamily="34" charset="0"/>
              <a:buChar char="•"/>
            </a:pPr>
            <a:r>
              <a:rPr lang="en-US" sz="2400" b="1" i="1" dirty="0"/>
              <a:t>Instagram: </a:t>
            </a:r>
            <a:r>
              <a:rPr lang="en-US" sz="2400" i="1" dirty="0"/>
              <a:t>Daily posts showcasing T-shirt designs, user-generated content, and stories featuring design processes and customer feedback.</a:t>
            </a:r>
          </a:p>
          <a:p>
            <a:pPr marL="685800" indent="-685800">
              <a:buFont typeface="Arial" panose="020B0604020202020204" pitchFamily="34" charset="0"/>
              <a:buChar char="•"/>
            </a:pPr>
            <a:r>
              <a:rPr lang="en-US" sz="2400" b="1" i="1" dirty="0"/>
              <a:t>Twitter: </a:t>
            </a:r>
            <a:r>
              <a:rPr lang="en-US" sz="2400" i="1" dirty="0"/>
              <a:t>Quick updates, engagement with trending topics, and customer service responses.</a:t>
            </a:r>
          </a:p>
          <a:p>
            <a:pPr marL="685800" indent="-685800">
              <a:buFont typeface="Arial" panose="020B0604020202020204" pitchFamily="34" charset="0"/>
              <a:buChar char="•"/>
            </a:pPr>
            <a:r>
              <a:rPr lang="en-US" sz="2400" b="1" i="1" dirty="0"/>
              <a:t>Pinterest: </a:t>
            </a:r>
            <a:r>
              <a:rPr lang="en-US" sz="2400" i="1" dirty="0"/>
              <a:t>Curated boards with T-shirt design inspirations and style guides.</a:t>
            </a:r>
            <a:endParaRPr lang="en-US" sz="2400" i="1" dirty="0">
              <a:cs typeface="Calibri" panose="020F0502020204030204"/>
            </a:endParaRPr>
          </a:p>
        </p:txBody>
      </p:sp>
      <p:pic>
        <p:nvPicPr>
          <p:cNvPr id="3" name="Picture 2">
            <a:extLst>
              <a:ext uri="{FF2B5EF4-FFF2-40B4-BE49-F238E27FC236}">
                <a16:creationId xmlns:a16="http://schemas.microsoft.com/office/drawing/2014/main" id="{14656549-2282-C6BB-9CFC-4795DF6D4BFE}"/>
              </a:ext>
            </a:extLst>
          </p:cNvPr>
          <p:cNvPicPr>
            <a:picLocks noChangeAspect="1"/>
          </p:cNvPicPr>
          <p:nvPr/>
        </p:nvPicPr>
        <p:blipFill>
          <a:blip r:embed="rId3"/>
          <a:stretch>
            <a:fillRect/>
          </a:stretch>
        </p:blipFill>
        <p:spPr>
          <a:xfrm>
            <a:off x="16154401" y="190502"/>
            <a:ext cx="1499746" cy="1585097"/>
          </a:xfrm>
          <a:prstGeom prst="rect">
            <a:avLst/>
          </a:prstGeom>
        </p:spPr>
      </p:pic>
      <p:sp>
        <p:nvSpPr>
          <p:cNvPr id="4" name="TextBox 3">
            <a:extLst>
              <a:ext uri="{FF2B5EF4-FFF2-40B4-BE49-F238E27FC236}">
                <a16:creationId xmlns:a16="http://schemas.microsoft.com/office/drawing/2014/main" id="{E6316FF1-893C-7871-E50A-C70A27222A11}"/>
              </a:ext>
            </a:extLst>
          </p:cNvPr>
          <p:cNvSpPr txBox="1"/>
          <p:nvPr/>
        </p:nvSpPr>
        <p:spPr>
          <a:xfrm>
            <a:off x="903708" y="4242377"/>
            <a:ext cx="13803956" cy="1631216"/>
          </a:xfrm>
          <a:prstGeom prst="rect">
            <a:avLst/>
          </a:prstGeom>
          <a:noFill/>
        </p:spPr>
        <p:txBody>
          <a:bodyPr wrap="square" rtlCol="0">
            <a:spAutoFit/>
          </a:bodyPr>
          <a:lstStyle/>
          <a:p>
            <a:r>
              <a:rPr lang="en-US" sz="2600" b="1" dirty="0"/>
              <a:t>Positioning Statement:</a:t>
            </a:r>
          </a:p>
          <a:p>
            <a:endParaRPr lang="en-US" sz="2400" dirty="0"/>
          </a:p>
          <a:p>
            <a:r>
              <a:rPr lang="en-US" sz="2400" b="1" i="1" dirty="0"/>
              <a:t>Statement: </a:t>
            </a:r>
            <a:r>
              <a:rPr lang="en-US" sz="2400" dirty="0"/>
              <a:t>"Fabric Fusion: Personalized T-shirt designs crafted uniquely for you, combining your vision with our design expertise to create high-quality, custom apparel that stands out."</a:t>
            </a:r>
          </a:p>
        </p:txBody>
      </p:sp>
      <p:sp>
        <p:nvSpPr>
          <p:cNvPr id="9" name="TextBox 8">
            <a:extLst>
              <a:ext uri="{FF2B5EF4-FFF2-40B4-BE49-F238E27FC236}">
                <a16:creationId xmlns:a16="http://schemas.microsoft.com/office/drawing/2014/main" id="{0D2FA82A-7ABD-A30E-3225-4F7E0143D2C6}"/>
              </a:ext>
            </a:extLst>
          </p:cNvPr>
          <p:cNvSpPr txBox="1"/>
          <p:nvPr/>
        </p:nvSpPr>
        <p:spPr>
          <a:xfrm>
            <a:off x="914401" y="6015002"/>
            <a:ext cx="16357600" cy="4247317"/>
          </a:xfrm>
          <a:prstGeom prst="rect">
            <a:avLst/>
          </a:prstGeom>
          <a:noFill/>
        </p:spPr>
        <p:txBody>
          <a:bodyPr wrap="square" rtlCol="0" anchor="t">
            <a:spAutoFit/>
          </a:bodyPr>
          <a:lstStyle/>
          <a:p>
            <a:r>
              <a:rPr lang="en-US" sz="2600" b="1" dirty="0"/>
              <a:t>Action Plan to Reach Sales/Customer Target for the Next Year:</a:t>
            </a:r>
          </a:p>
          <a:p>
            <a:endParaRPr lang="en-US" sz="2800" b="1" dirty="0"/>
          </a:p>
          <a:p>
            <a:r>
              <a:rPr lang="en-US" sz="2400" b="1" dirty="0"/>
              <a:t>Q1:</a:t>
            </a:r>
          </a:p>
          <a:p>
            <a:pPr marL="342900" indent="-342900">
              <a:buFont typeface="Arial" panose="020B0604020202020204" pitchFamily="34" charset="0"/>
              <a:buChar char="•"/>
            </a:pPr>
            <a:r>
              <a:rPr lang="en-US" sz="2400" dirty="0"/>
              <a:t>Launch targeted social media and Google Ads campaigns.</a:t>
            </a:r>
          </a:p>
          <a:p>
            <a:pPr marL="342900" indent="-342900">
              <a:buFont typeface="Arial" panose="020B0604020202020204" pitchFamily="34" charset="0"/>
              <a:buChar char="•"/>
            </a:pPr>
            <a:r>
              <a:rPr lang="en-US" sz="2400" dirty="0"/>
              <a:t>Host a virtual launch event with influencer partnerships.</a:t>
            </a:r>
          </a:p>
          <a:p>
            <a:pPr marL="342900" indent="-342900">
              <a:buFont typeface="Arial" panose="020B0604020202020204" pitchFamily="34" charset="0"/>
              <a:buChar char="•"/>
            </a:pPr>
            <a:r>
              <a:rPr lang="en-US" sz="2400" dirty="0"/>
              <a:t>Offer a limited-time discount for first-time customers.</a:t>
            </a:r>
          </a:p>
          <a:p>
            <a:r>
              <a:rPr lang="en-US" sz="2400" b="1" dirty="0"/>
              <a:t>Q2:</a:t>
            </a:r>
          </a:p>
          <a:p>
            <a:pPr marL="342900" indent="-342900">
              <a:buFont typeface="Arial" panose="020B0604020202020204" pitchFamily="34" charset="0"/>
              <a:buChar char="•"/>
            </a:pPr>
            <a:r>
              <a:rPr lang="en-US" sz="2400" dirty="0"/>
              <a:t>Implement a referral program with discounts for referrals and referees.</a:t>
            </a:r>
          </a:p>
          <a:p>
            <a:pPr marL="342900" indent="-342900">
              <a:buFont typeface="Arial" panose="020B0604020202020204" pitchFamily="34" charset="0"/>
              <a:buChar char="•"/>
            </a:pPr>
            <a:r>
              <a:rPr lang="en-US" sz="2400" dirty="0"/>
              <a:t>Expand content marketing with blog posts and videos on fashion trends and customization tips.</a:t>
            </a:r>
          </a:p>
          <a:p>
            <a:pPr marL="342900" indent="-342900">
              <a:buFont typeface="Arial" panose="020B0604020202020204" pitchFamily="34" charset="0"/>
              <a:buChar char="•"/>
            </a:pPr>
            <a:r>
              <a:rPr lang="en-US" sz="2400" dirty="0"/>
              <a:t>Attend virtual fashion trade shows to increase brand visibility.</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971122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94247" y="1771809"/>
            <a:ext cx="1377754" cy="76041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15" name="Title 14"/>
          <p:cNvSpPr>
            <a:spLocks noGrp="1"/>
          </p:cNvSpPr>
          <p:nvPr>
            <p:ph type="title"/>
          </p:nvPr>
        </p:nvSpPr>
        <p:spPr>
          <a:xfrm>
            <a:off x="914400" y="478597"/>
            <a:ext cx="15773400" cy="652462"/>
          </a:xfrm>
          <a:noFill/>
        </p:spPr>
        <p:txBody>
          <a:bodyPr>
            <a:normAutofit fontScale="90000"/>
          </a:bodyPr>
          <a:lstStyle/>
          <a:p>
            <a:r>
              <a:rPr lang="en-US" sz="4000" dirty="0"/>
              <a:t>Go-to-Market Strategy</a:t>
            </a:r>
          </a:p>
        </p:txBody>
      </p:sp>
      <p:pic>
        <p:nvPicPr>
          <p:cNvPr id="3" name="Picture 2">
            <a:extLst>
              <a:ext uri="{FF2B5EF4-FFF2-40B4-BE49-F238E27FC236}">
                <a16:creationId xmlns:a16="http://schemas.microsoft.com/office/drawing/2014/main" id="{14656549-2282-C6BB-9CFC-4795DF6D4BFE}"/>
              </a:ext>
            </a:extLst>
          </p:cNvPr>
          <p:cNvPicPr>
            <a:picLocks noChangeAspect="1"/>
          </p:cNvPicPr>
          <p:nvPr/>
        </p:nvPicPr>
        <p:blipFill>
          <a:blip r:embed="rId3"/>
          <a:stretch>
            <a:fillRect/>
          </a:stretch>
        </p:blipFill>
        <p:spPr>
          <a:xfrm>
            <a:off x="16154401" y="190502"/>
            <a:ext cx="1499746" cy="1585097"/>
          </a:xfrm>
          <a:prstGeom prst="rect">
            <a:avLst/>
          </a:prstGeom>
        </p:spPr>
      </p:pic>
      <p:sp>
        <p:nvSpPr>
          <p:cNvPr id="9" name="TextBox 8">
            <a:extLst>
              <a:ext uri="{FF2B5EF4-FFF2-40B4-BE49-F238E27FC236}">
                <a16:creationId xmlns:a16="http://schemas.microsoft.com/office/drawing/2014/main" id="{0D2FA82A-7ABD-A30E-3225-4F7E0143D2C6}"/>
              </a:ext>
            </a:extLst>
          </p:cNvPr>
          <p:cNvSpPr txBox="1"/>
          <p:nvPr/>
        </p:nvSpPr>
        <p:spPr>
          <a:xfrm>
            <a:off x="663335" y="1255068"/>
            <a:ext cx="16357600" cy="3416320"/>
          </a:xfrm>
          <a:prstGeom prst="rect">
            <a:avLst/>
          </a:prstGeom>
          <a:noFill/>
        </p:spPr>
        <p:txBody>
          <a:bodyPr wrap="square" rtlCol="0" anchor="t">
            <a:spAutoFit/>
          </a:bodyPr>
          <a:lstStyle/>
          <a:p>
            <a:r>
              <a:rPr lang="en-US" sz="2400" b="1" dirty="0"/>
              <a:t>Q3:</a:t>
            </a:r>
          </a:p>
          <a:p>
            <a:pPr marL="342900" indent="-342900">
              <a:buFont typeface="Arial" panose="020B0604020202020204" pitchFamily="34" charset="0"/>
              <a:buChar char="•"/>
            </a:pPr>
            <a:r>
              <a:rPr lang="en-US" sz="2400" dirty="0"/>
              <a:t>Introduce a subscription service for exclusive designs and discounts.</a:t>
            </a:r>
          </a:p>
          <a:p>
            <a:pPr marL="342900" indent="-342900">
              <a:buFont typeface="Arial" panose="020B0604020202020204" pitchFamily="34" charset="0"/>
              <a:buChar char="•"/>
            </a:pPr>
            <a:r>
              <a:rPr lang="en-US" sz="2400" dirty="0"/>
              <a:t>Begin targeted email marketing campaigns to nurture leads and encourage repeat purchases.</a:t>
            </a:r>
          </a:p>
          <a:p>
            <a:pPr marL="342900" indent="-342900">
              <a:buFont typeface="Arial" panose="020B0604020202020204" pitchFamily="34" charset="0"/>
              <a:buChar char="•"/>
            </a:pPr>
            <a:r>
              <a:rPr lang="en-US" sz="2400" dirty="0"/>
              <a:t>Partner with corporate clients and event planners for bulk orders.</a:t>
            </a:r>
          </a:p>
          <a:p>
            <a:pPr marL="342900" indent="-342900">
              <a:buFont typeface="Arial" panose="020B0604020202020204" pitchFamily="34" charset="0"/>
              <a:buChar char="•"/>
            </a:pPr>
            <a:endParaRPr lang="en-US" sz="2400" dirty="0"/>
          </a:p>
          <a:p>
            <a:r>
              <a:rPr lang="en-US" sz="2400" b="1" dirty="0"/>
              <a:t>Q4:</a:t>
            </a:r>
          </a:p>
          <a:p>
            <a:pPr marL="342900" indent="-342900">
              <a:buFont typeface="Arial" panose="020B0604020202020204" pitchFamily="34" charset="0"/>
              <a:buChar char="•"/>
            </a:pPr>
            <a:r>
              <a:rPr lang="en-US" sz="2400" dirty="0"/>
              <a:t>Launch new customization options based on customer feedback.</a:t>
            </a:r>
          </a:p>
          <a:p>
            <a:pPr marL="342900" indent="-342900">
              <a:buFont typeface="Arial" panose="020B0604020202020204" pitchFamily="34" charset="0"/>
              <a:buChar char="•"/>
            </a:pPr>
            <a:r>
              <a:rPr lang="en-US" sz="2400" dirty="0"/>
              <a:t>Increase advertising spend for holiday promotions.</a:t>
            </a:r>
          </a:p>
          <a:p>
            <a:pPr marL="342900" indent="-342900">
              <a:buFont typeface="Arial" panose="020B0604020202020204" pitchFamily="34" charset="0"/>
              <a:buChar char="•"/>
            </a:pPr>
            <a:r>
              <a:rPr lang="en-US" sz="2400" dirty="0"/>
              <a:t>Host a customer appreciation event with special offers and giveaways.</a:t>
            </a:r>
            <a:endParaRPr lang="en-US" sz="2000" i="1" dirty="0">
              <a:cs typeface="Calibri" panose="020F0502020204030204"/>
            </a:endParaRPr>
          </a:p>
        </p:txBody>
      </p:sp>
      <p:sp>
        <p:nvSpPr>
          <p:cNvPr id="10" name="TextBox 9">
            <a:extLst>
              <a:ext uri="{FF2B5EF4-FFF2-40B4-BE49-F238E27FC236}">
                <a16:creationId xmlns:a16="http://schemas.microsoft.com/office/drawing/2014/main" id="{B7E70F05-4723-8A23-4B4A-479171E05F6C}"/>
              </a:ext>
            </a:extLst>
          </p:cNvPr>
          <p:cNvSpPr txBox="1"/>
          <p:nvPr/>
        </p:nvSpPr>
        <p:spPr>
          <a:xfrm>
            <a:off x="663335" y="4688638"/>
            <a:ext cx="12097344" cy="4832092"/>
          </a:xfrm>
          <a:prstGeom prst="rect">
            <a:avLst/>
          </a:prstGeom>
          <a:noFill/>
        </p:spPr>
        <p:txBody>
          <a:bodyPr wrap="square" rtlCol="0">
            <a:spAutoFit/>
          </a:bodyPr>
          <a:lstStyle/>
          <a:p>
            <a:r>
              <a:rPr lang="en-US" sz="2600" b="1" dirty="0"/>
              <a:t>Sales &amp; Distribution Model</a:t>
            </a:r>
            <a:r>
              <a:rPr lang="en-US" sz="2600" dirty="0"/>
              <a:t>:</a:t>
            </a:r>
          </a:p>
          <a:p>
            <a:endParaRPr lang="en-US" dirty="0"/>
          </a:p>
          <a:p>
            <a:r>
              <a:rPr lang="en-US" sz="2400" b="1" dirty="0"/>
              <a:t>Sales Channels:</a:t>
            </a:r>
          </a:p>
          <a:p>
            <a:endParaRPr lang="en-US" sz="2400" b="1" dirty="0"/>
          </a:p>
          <a:p>
            <a:r>
              <a:rPr lang="en-US" sz="2400" b="1" i="1" dirty="0"/>
              <a:t>Website: </a:t>
            </a:r>
            <a:r>
              <a:rPr lang="en-US" sz="2400" dirty="0"/>
              <a:t>Primary platform for ordering and customizing T-shirts.</a:t>
            </a:r>
          </a:p>
          <a:p>
            <a:r>
              <a:rPr lang="en-US" sz="2400" dirty="0"/>
              <a:t>Social Media Shops: Utilize Facebook and Instagram shops for direct sales.</a:t>
            </a:r>
          </a:p>
          <a:p>
            <a:r>
              <a:rPr lang="en-US" sz="2400" b="1" i="1" dirty="0"/>
              <a:t>Marketplaces: </a:t>
            </a:r>
            <a:r>
              <a:rPr lang="en-US" sz="2400" dirty="0"/>
              <a:t>List products on Etsy and Amazon for broader reach.</a:t>
            </a:r>
          </a:p>
          <a:p>
            <a:endParaRPr lang="en-US" sz="2400" dirty="0"/>
          </a:p>
          <a:p>
            <a:r>
              <a:rPr lang="en-US" sz="2400" b="1" dirty="0"/>
              <a:t>Distribution Channels:</a:t>
            </a:r>
          </a:p>
          <a:p>
            <a:endParaRPr lang="en-US" sz="2400" b="1" dirty="0"/>
          </a:p>
          <a:p>
            <a:r>
              <a:rPr lang="en-US" sz="2400" b="1" i="1" dirty="0"/>
              <a:t>Direct Shipping: </a:t>
            </a:r>
            <a:r>
              <a:rPr lang="en-US" sz="2400" dirty="0"/>
              <a:t>Partner with reliable courier services for direct-to-consumer deliveries.</a:t>
            </a:r>
          </a:p>
          <a:p>
            <a:r>
              <a:rPr lang="en-US" sz="2400" b="1" i="1" dirty="0"/>
              <a:t>Fulfillment Centers: </a:t>
            </a:r>
            <a:r>
              <a:rPr lang="en-US" sz="2400" dirty="0"/>
              <a:t>Use regional fulfillment centers to optimize shipping times and costs.</a:t>
            </a:r>
          </a:p>
          <a:p>
            <a:r>
              <a:rPr lang="en-US" sz="2400" b="1" i="1" dirty="0"/>
              <a:t>Bulk Distribution: </a:t>
            </a:r>
            <a:r>
              <a:rPr lang="en-US" sz="2400" dirty="0"/>
              <a:t>Provide bulk shipping options for corporate clients and event planners</a:t>
            </a:r>
            <a:r>
              <a:rPr lang="en-US" dirty="0"/>
              <a:t>.</a:t>
            </a:r>
          </a:p>
        </p:txBody>
      </p:sp>
    </p:spTree>
    <p:extLst>
      <p:ext uri="{BB962C8B-B14F-4D97-AF65-F5344CB8AC3E}">
        <p14:creationId xmlns:p14="http://schemas.microsoft.com/office/powerpoint/2010/main" val="1191535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8D3BFB5-F3EC-4B74-9DA7-84AA6BA58C5E}"/>
              </a:ext>
            </a:extLst>
          </p:cNvPr>
          <p:cNvSpPr txBox="1">
            <a:spLocks/>
          </p:cNvSpPr>
          <p:nvPr/>
        </p:nvSpPr>
        <p:spPr>
          <a:xfrm>
            <a:off x="-4953000" y="257385"/>
            <a:ext cx="15773400" cy="652462"/>
          </a:xfrm>
          <a:prstGeom prst="rect">
            <a:avLst/>
          </a:prstGeom>
        </p:spPr>
        <p:txBody>
          <a:bodyPr vert="horz" lIns="182880" tIns="91440" rIns="182880" bIns="91440" rtlCol="0" anchor="t">
            <a:noAutofit/>
          </a:bodyPr>
          <a:lstStyle>
            <a:lvl1pPr algn="ctr" defTabSz="914400" rtl="0" eaLnBrk="1" latinLnBrk="0" hangingPunct="1">
              <a:spcBef>
                <a:spcPct val="0"/>
              </a:spcBef>
              <a:buNone/>
              <a:defRPr sz="3000" b="1" kern="1200">
                <a:solidFill>
                  <a:srgbClr val="9E0D20"/>
                </a:solidFill>
                <a:latin typeface="Raleway" panose="020B0503030101060003" pitchFamily="34" charset="0"/>
                <a:ea typeface="+mj-ea"/>
                <a:cs typeface="+mj-cs"/>
              </a:defRPr>
            </a:lvl1pPr>
          </a:lstStyle>
          <a:p>
            <a:r>
              <a:rPr lang="en-US" sz="6000" dirty="0">
                <a:solidFill>
                  <a:srgbClr val="C00000"/>
                </a:solidFill>
                <a:latin typeface="Antonio Bold"/>
              </a:rPr>
              <a:t>FINANCIAL PLAN</a:t>
            </a:r>
          </a:p>
        </p:txBody>
      </p:sp>
      <p:sp>
        <p:nvSpPr>
          <p:cNvPr id="21" name="TextBox 20"/>
          <p:cNvSpPr txBox="1"/>
          <p:nvPr/>
        </p:nvSpPr>
        <p:spPr>
          <a:xfrm>
            <a:off x="1066800" y="1636383"/>
            <a:ext cx="5675839" cy="507831"/>
          </a:xfrm>
          <a:prstGeom prst="rect">
            <a:avLst/>
          </a:prstGeom>
          <a:noFill/>
        </p:spPr>
        <p:txBody>
          <a:bodyPr wrap="square" rtlCol="0">
            <a:spAutoFit/>
          </a:bodyPr>
          <a:lstStyle/>
          <a:p>
            <a:pPr defTabSz="685800"/>
            <a:r>
              <a:rPr lang="en-US" sz="2700" b="1" dirty="0">
                <a:solidFill>
                  <a:prstClr val="black">
                    <a:lumMod val="85000"/>
                    <a:lumOff val="15000"/>
                  </a:prstClr>
                </a:solidFill>
                <a:latin typeface="Montserrat"/>
              </a:rPr>
              <a:t>Start-up Costs </a:t>
            </a:r>
          </a:p>
        </p:txBody>
      </p:sp>
      <p:pic>
        <p:nvPicPr>
          <p:cNvPr id="2" name="Picture 1">
            <a:extLst>
              <a:ext uri="{FF2B5EF4-FFF2-40B4-BE49-F238E27FC236}">
                <a16:creationId xmlns:a16="http://schemas.microsoft.com/office/drawing/2014/main" id="{BDEA48E4-35DC-E5C5-A700-53065F0BCEFD}"/>
              </a:ext>
            </a:extLst>
          </p:cNvPr>
          <p:cNvPicPr>
            <a:picLocks noChangeAspect="1"/>
          </p:cNvPicPr>
          <p:nvPr/>
        </p:nvPicPr>
        <p:blipFill>
          <a:blip r:embed="rId3"/>
          <a:stretch>
            <a:fillRect/>
          </a:stretch>
        </p:blipFill>
        <p:spPr>
          <a:xfrm>
            <a:off x="16154401" y="190502"/>
            <a:ext cx="1499746" cy="1585097"/>
          </a:xfrm>
          <a:prstGeom prst="rect">
            <a:avLst/>
          </a:prstGeom>
        </p:spPr>
      </p:pic>
      <p:sp>
        <p:nvSpPr>
          <p:cNvPr id="3" name="TextBox 5">
            <a:extLst>
              <a:ext uri="{FF2B5EF4-FFF2-40B4-BE49-F238E27FC236}">
                <a16:creationId xmlns:a16="http://schemas.microsoft.com/office/drawing/2014/main" id="{D0E913DE-8E98-D256-C0C7-DA23F1E20035}"/>
              </a:ext>
            </a:extLst>
          </p:cNvPr>
          <p:cNvSpPr txBox="1"/>
          <p:nvPr/>
        </p:nvSpPr>
        <p:spPr>
          <a:xfrm>
            <a:off x="11592272" y="6079605"/>
            <a:ext cx="4016885" cy="2664296"/>
          </a:xfrm>
          <a:prstGeom prst="rect">
            <a:avLst/>
          </a:prstGeom>
        </p:spPr>
        <p:txBody>
          <a:bodyPr lIns="50800" tIns="50800" rIns="50800" bIns="50800" rtlCol="0" anchor="t"/>
          <a:lstStyle/>
          <a:p>
            <a:pPr algn="just">
              <a:lnSpc>
                <a:spcPts val="2520"/>
              </a:lnSpc>
            </a:pPr>
            <a:r>
              <a:rPr lang="en-US" sz="1800" spc="15" dirty="0">
                <a:solidFill>
                  <a:srgbClr val="000000"/>
                </a:solidFill>
                <a:latin typeface="TT Rounds Condensed"/>
              </a:rPr>
              <a:t>Explanation: </a:t>
            </a:r>
          </a:p>
          <a:p>
            <a:pPr algn="just">
              <a:lnSpc>
                <a:spcPts val="2520"/>
              </a:lnSpc>
            </a:pPr>
            <a:r>
              <a:rPr lang="en-US" sz="1800" spc="15" dirty="0">
                <a:solidFill>
                  <a:srgbClr val="000000"/>
                </a:solidFill>
                <a:latin typeface="TT Rounds Condensed"/>
              </a:rPr>
              <a:t>The cost of the Fabric Fusion is similar to traditional design printing shop. There's an initial investment for setting up (website, </a:t>
            </a:r>
            <a:r>
              <a:rPr lang="en-US" spc="15" dirty="0">
                <a:solidFill>
                  <a:srgbClr val="000000"/>
                </a:solidFill>
                <a:latin typeface="TT Rounds Condensed"/>
              </a:rPr>
              <a:t>machineries</a:t>
            </a:r>
            <a:r>
              <a:rPr lang="en-US" sz="1800" spc="15" dirty="0">
                <a:solidFill>
                  <a:srgbClr val="000000"/>
                </a:solidFill>
                <a:latin typeface="TT Rounds Condensed"/>
              </a:rPr>
              <a:t>).. Then there are ongoing costs (rent, supplies</a:t>
            </a:r>
            <a:r>
              <a:rPr lang="en-US" spc="15" dirty="0">
                <a:solidFill>
                  <a:srgbClr val="000000"/>
                </a:solidFill>
                <a:latin typeface="TT Rounds Condensed"/>
              </a:rPr>
              <a:t>)</a:t>
            </a:r>
            <a:endParaRPr lang="en-US" sz="1800" spc="15" dirty="0">
              <a:solidFill>
                <a:srgbClr val="000000"/>
              </a:solidFill>
              <a:latin typeface="TT Rounds Condensed"/>
            </a:endParaRPr>
          </a:p>
        </p:txBody>
      </p:sp>
      <p:pic>
        <p:nvPicPr>
          <p:cNvPr id="5" name="Picture 4">
            <a:extLst>
              <a:ext uri="{FF2B5EF4-FFF2-40B4-BE49-F238E27FC236}">
                <a16:creationId xmlns:a16="http://schemas.microsoft.com/office/drawing/2014/main" id="{3317708A-3987-BEB7-467F-40F38EBFBFAD}"/>
              </a:ext>
            </a:extLst>
          </p:cNvPr>
          <p:cNvPicPr>
            <a:picLocks noChangeAspect="1"/>
          </p:cNvPicPr>
          <p:nvPr/>
        </p:nvPicPr>
        <p:blipFill>
          <a:blip r:embed="rId4"/>
          <a:stretch>
            <a:fillRect/>
          </a:stretch>
        </p:blipFill>
        <p:spPr>
          <a:xfrm>
            <a:off x="1583160" y="2240480"/>
            <a:ext cx="7992888" cy="6410137"/>
          </a:xfrm>
          <a:prstGeom prst="rect">
            <a:avLst/>
          </a:prstGeom>
        </p:spPr>
      </p:pic>
    </p:spTree>
    <p:extLst>
      <p:ext uri="{BB962C8B-B14F-4D97-AF65-F5344CB8AC3E}">
        <p14:creationId xmlns:p14="http://schemas.microsoft.com/office/powerpoint/2010/main" val="142531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609600" y="485895"/>
            <a:ext cx="5675839" cy="646331"/>
          </a:xfrm>
          <a:prstGeom prst="rect">
            <a:avLst/>
          </a:prstGeom>
          <a:noFill/>
        </p:spPr>
        <p:txBody>
          <a:bodyPr wrap="square" rtlCol="0">
            <a:spAutoFit/>
          </a:bodyPr>
          <a:lstStyle/>
          <a:p>
            <a:pPr defTabSz="685800"/>
            <a:r>
              <a:rPr lang="en-US" sz="3600" b="1" dirty="0">
                <a:solidFill>
                  <a:prstClr val="black">
                    <a:lumMod val="85000"/>
                    <a:lumOff val="15000"/>
                  </a:prstClr>
                </a:solidFill>
                <a:latin typeface="Montserrat"/>
              </a:rPr>
              <a:t>Forecast P&amp;L </a:t>
            </a:r>
          </a:p>
        </p:txBody>
      </p:sp>
      <p:pic>
        <p:nvPicPr>
          <p:cNvPr id="2" name="Picture 1">
            <a:extLst>
              <a:ext uri="{FF2B5EF4-FFF2-40B4-BE49-F238E27FC236}">
                <a16:creationId xmlns:a16="http://schemas.microsoft.com/office/drawing/2014/main" id="{A6ABAB77-006D-3F67-3C46-DEBA61E87622}"/>
              </a:ext>
            </a:extLst>
          </p:cNvPr>
          <p:cNvPicPr>
            <a:picLocks noChangeAspect="1"/>
          </p:cNvPicPr>
          <p:nvPr/>
        </p:nvPicPr>
        <p:blipFill>
          <a:blip r:embed="rId3"/>
          <a:stretch>
            <a:fillRect/>
          </a:stretch>
        </p:blipFill>
        <p:spPr>
          <a:xfrm>
            <a:off x="16154401" y="190502"/>
            <a:ext cx="1499746" cy="1585097"/>
          </a:xfrm>
          <a:prstGeom prst="rect">
            <a:avLst/>
          </a:prstGeom>
        </p:spPr>
      </p:pic>
      <p:pic>
        <p:nvPicPr>
          <p:cNvPr id="4" name="Picture 3">
            <a:extLst>
              <a:ext uri="{FF2B5EF4-FFF2-40B4-BE49-F238E27FC236}">
                <a16:creationId xmlns:a16="http://schemas.microsoft.com/office/drawing/2014/main" id="{E37ACB2F-82CC-A1D3-0CD9-BCC373BF8D4F}"/>
              </a:ext>
            </a:extLst>
          </p:cNvPr>
          <p:cNvPicPr>
            <a:picLocks noChangeAspect="1"/>
          </p:cNvPicPr>
          <p:nvPr/>
        </p:nvPicPr>
        <p:blipFill>
          <a:blip r:embed="rId4"/>
          <a:stretch>
            <a:fillRect/>
          </a:stretch>
        </p:blipFill>
        <p:spPr>
          <a:xfrm>
            <a:off x="431032" y="1775599"/>
            <a:ext cx="15723369" cy="4448021"/>
          </a:xfrm>
          <a:prstGeom prst="rect">
            <a:avLst/>
          </a:prstGeom>
        </p:spPr>
      </p:pic>
      <p:sp>
        <p:nvSpPr>
          <p:cNvPr id="3" name="TextBox 5">
            <a:extLst>
              <a:ext uri="{FF2B5EF4-FFF2-40B4-BE49-F238E27FC236}">
                <a16:creationId xmlns:a16="http://schemas.microsoft.com/office/drawing/2014/main" id="{22AC1B91-C581-60D0-5862-EED4A7F44604}"/>
              </a:ext>
            </a:extLst>
          </p:cNvPr>
          <p:cNvSpPr txBox="1"/>
          <p:nvPr/>
        </p:nvSpPr>
        <p:spPr>
          <a:xfrm>
            <a:off x="1081651" y="7375748"/>
            <a:ext cx="14422129" cy="1528848"/>
          </a:xfrm>
          <a:prstGeom prst="rect">
            <a:avLst/>
          </a:prstGeom>
        </p:spPr>
        <p:txBody>
          <a:bodyPr lIns="50800" tIns="50800" rIns="50800" bIns="50800" rtlCol="0" anchor="t"/>
          <a:lstStyle/>
          <a:p>
            <a:pPr algn="l">
              <a:lnSpc>
                <a:spcPts val="3006"/>
              </a:lnSpc>
            </a:pPr>
            <a:r>
              <a:rPr lang="en-US" sz="1800" spc="15" dirty="0">
                <a:solidFill>
                  <a:srgbClr val="000000"/>
                </a:solidFill>
                <a:latin typeface="TT Rounds Condensed"/>
              </a:rPr>
              <a:t>Explanation: It details one-time investments  in the first month (Machineries, Inventory) and other ongoing expenses (rent, utilities) over eleven months.</a:t>
            </a:r>
          </a:p>
          <a:p>
            <a:pPr algn="l">
              <a:lnSpc>
                <a:spcPts val="2672"/>
              </a:lnSpc>
            </a:pPr>
            <a:r>
              <a:rPr lang="en-US" sz="1600" spc="13" dirty="0">
                <a:solidFill>
                  <a:srgbClr val="000000"/>
                </a:solidFill>
                <a:latin typeface="TT Rounds Condensed"/>
              </a:rPr>
              <a:t>   link: </a:t>
            </a:r>
            <a:r>
              <a:rPr lang="en-US" sz="1600" spc="13" dirty="0">
                <a:solidFill>
                  <a:srgbClr val="000000"/>
                </a:solidFill>
                <a:latin typeface="TT Rounds Condensed"/>
                <a:hlinkClick r:id="rId5"/>
              </a:rPr>
              <a:t>https://drive.google.com/drive/folders/1_j3z90IcKjYHptgEoDLx-gi1dm4k6P9C</a:t>
            </a:r>
            <a:endParaRPr lang="en-US" sz="1600" spc="13" dirty="0">
              <a:solidFill>
                <a:srgbClr val="000000"/>
              </a:solidFill>
              <a:latin typeface="TT Rounds Condensed"/>
            </a:endParaRPr>
          </a:p>
          <a:p>
            <a:pPr algn="l">
              <a:lnSpc>
                <a:spcPts val="2672"/>
              </a:lnSpc>
            </a:pPr>
            <a:endParaRPr lang="en-US" sz="1600" u="sng" spc="13" dirty="0">
              <a:solidFill>
                <a:srgbClr val="000000"/>
              </a:solidFill>
              <a:latin typeface="TT Rounds Condensed"/>
            </a:endParaRPr>
          </a:p>
          <a:p>
            <a:pPr algn="l">
              <a:lnSpc>
                <a:spcPts val="2672"/>
              </a:lnSpc>
            </a:pPr>
            <a:endParaRPr lang="en-US" sz="1600" u="sng" spc="13" dirty="0">
              <a:solidFill>
                <a:srgbClr val="000000"/>
              </a:solidFill>
              <a:latin typeface="TT Rounds Condensed"/>
            </a:endParaRPr>
          </a:p>
        </p:txBody>
      </p:sp>
    </p:spTree>
    <p:extLst>
      <p:ext uri="{BB962C8B-B14F-4D97-AF65-F5344CB8AC3E}">
        <p14:creationId xmlns:p14="http://schemas.microsoft.com/office/powerpoint/2010/main" val="159477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609600" y="485895"/>
            <a:ext cx="5675839" cy="646331"/>
          </a:xfrm>
          <a:prstGeom prst="rect">
            <a:avLst/>
          </a:prstGeom>
          <a:noFill/>
        </p:spPr>
        <p:txBody>
          <a:bodyPr wrap="square" rtlCol="0">
            <a:spAutoFit/>
          </a:bodyPr>
          <a:lstStyle/>
          <a:p>
            <a:pPr defTabSz="685800"/>
            <a:r>
              <a:rPr lang="en-US" sz="3600" b="1" dirty="0">
                <a:solidFill>
                  <a:prstClr val="black">
                    <a:lumMod val="85000"/>
                    <a:lumOff val="15000"/>
                  </a:prstClr>
                </a:solidFill>
              </a:rPr>
              <a:t>Financial Projections</a:t>
            </a:r>
          </a:p>
        </p:txBody>
      </p:sp>
      <p:pic>
        <p:nvPicPr>
          <p:cNvPr id="2" name="Picture 1">
            <a:extLst>
              <a:ext uri="{FF2B5EF4-FFF2-40B4-BE49-F238E27FC236}">
                <a16:creationId xmlns:a16="http://schemas.microsoft.com/office/drawing/2014/main" id="{A6ABAB77-006D-3F67-3C46-DEBA61E87622}"/>
              </a:ext>
            </a:extLst>
          </p:cNvPr>
          <p:cNvPicPr>
            <a:picLocks noChangeAspect="1"/>
          </p:cNvPicPr>
          <p:nvPr/>
        </p:nvPicPr>
        <p:blipFill>
          <a:blip r:embed="rId3"/>
          <a:stretch>
            <a:fillRect/>
          </a:stretch>
        </p:blipFill>
        <p:spPr>
          <a:xfrm>
            <a:off x="16154401" y="190502"/>
            <a:ext cx="1499746" cy="1585097"/>
          </a:xfrm>
          <a:prstGeom prst="rect">
            <a:avLst/>
          </a:prstGeom>
        </p:spPr>
      </p:pic>
      <p:pic>
        <p:nvPicPr>
          <p:cNvPr id="8" name="Picture 7">
            <a:extLst>
              <a:ext uri="{FF2B5EF4-FFF2-40B4-BE49-F238E27FC236}">
                <a16:creationId xmlns:a16="http://schemas.microsoft.com/office/drawing/2014/main" id="{3AC94A03-6AC5-5B6A-D980-58202FF8840B}"/>
              </a:ext>
            </a:extLst>
          </p:cNvPr>
          <p:cNvPicPr>
            <a:picLocks noChangeAspect="1"/>
          </p:cNvPicPr>
          <p:nvPr/>
        </p:nvPicPr>
        <p:blipFill>
          <a:blip r:embed="rId4"/>
          <a:stretch>
            <a:fillRect/>
          </a:stretch>
        </p:blipFill>
        <p:spPr>
          <a:xfrm>
            <a:off x="2087216" y="1459757"/>
            <a:ext cx="10153128" cy="7367486"/>
          </a:xfrm>
          <a:prstGeom prst="rect">
            <a:avLst/>
          </a:prstGeom>
        </p:spPr>
      </p:pic>
    </p:spTree>
    <p:extLst>
      <p:ext uri="{BB962C8B-B14F-4D97-AF65-F5344CB8AC3E}">
        <p14:creationId xmlns:p14="http://schemas.microsoft.com/office/powerpoint/2010/main" val="2991623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843" y="214657"/>
            <a:ext cx="15304106" cy="729948"/>
          </a:xfrm>
        </p:spPr>
        <p:txBody>
          <a:bodyPr/>
          <a:lstStyle/>
          <a:p>
            <a:r>
              <a:rPr lang="en-US" sz="6000" dirty="0">
                <a:solidFill>
                  <a:schemeClr val="tx1"/>
                </a:solidFill>
                <a:latin typeface="Antonio Bold"/>
              </a:rPr>
              <a:t>Unit</a:t>
            </a:r>
            <a:r>
              <a:rPr lang="en-US" sz="6000" dirty="0">
                <a:latin typeface="Antonio Bold"/>
              </a:rPr>
              <a:t> </a:t>
            </a:r>
            <a:r>
              <a:rPr lang="en-US" sz="6000" dirty="0">
                <a:solidFill>
                  <a:schemeClr val="tx1"/>
                </a:solidFill>
                <a:latin typeface="Antonio Bold"/>
              </a:rPr>
              <a:t>Economics</a:t>
            </a:r>
          </a:p>
        </p:txBody>
      </p:sp>
      <p:sp>
        <p:nvSpPr>
          <p:cNvPr id="8" name="Rectangle 7"/>
          <p:cNvSpPr/>
          <p:nvPr/>
        </p:nvSpPr>
        <p:spPr>
          <a:xfrm>
            <a:off x="845802" y="1010950"/>
            <a:ext cx="763192" cy="84888"/>
          </a:xfrm>
          <a:prstGeom prst="rect">
            <a:avLst/>
          </a:prstGeom>
          <a:solidFill>
            <a:srgbClr val="FABE00"/>
          </a:solidFill>
          <a:ln w="12700" cap="flat" cmpd="sng" algn="ctr">
            <a:noFill/>
            <a:prstDash val="solid"/>
            <a:miter lim="800000"/>
          </a:ln>
          <a:effectLst/>
        </p:spPr>
        <p:txBody>
          <a:bodyPr rtlCol="0" anchor="ctr"/>
          <a:lstStyle/>
          <a:p>
            <a:pPr algn="ctr" defTabSz="1371600">
              <a:defRPr/>
            </a:pPr>
            <a:endParaRPr lang="en-US" sz="2700" kern="0" dirty="0">
              <a:solidFill>
                <a:prstClr val="white"/>
              </a:solidFill>
              <a:latin typeface="Open Sans"/>
            </a:endParaRPr>
          </a:p>
        </p:txBody>
      </p:sp>
      <p:graphicFrame>
        <p:nvGraphicFramePr>
          <p:cNvPr id="4" name="Table 3"/>
          <p:cNvGraphicFramePr>
            <a:graphicFrameLocks noGrp="1"/>
          </p:cNvGraphicFramePr>
          <p:nvPr>
            <p:extLst>
              <p:ext uri="{D42A27DB-BD31-4B8C-83A1-F6EECF244321}">
                <p14:modId xmlns:p14="http://schemas.microsoft.com/office/powerpoint/2010/main" val="2569824362"/>
              </p:ext>
            </p:extLst>
          </p:nvPr>
        </p:nvGraphicFramePr>
        <p:xfrm>
          <a:off x="1227398" y="3556586"/>
          <a:ext cx="7556562" cy="4107196"/>
        </p:xfrm>
        <a:graphic>
          <a:graphicData uri="http://schemas.openxmlformats.org/drawingml/2006/table">
            <a:tbl>
              <a:tblPr>
                <a:tableStyleId>{616DA210-FB5B-4158-B5E0-FEB733F419BA}</a:tableStyleId>
              </a:tblPr>
              <a:tblGrid>
                <a:gridCol w="4759652">
                  <a:extLst>
                    <a:ext uri="{9D8B030D-6E8A-4147-A177-3AD203B41FA5}">
                      <a16:colId xmlns:a16="http://schemas.microsoft.com/office/drawing/2014/main" val="20000"/>
                    </a:ext>
                  </a:extLst>
                </a:gridCol>
                <a:gridCol w="2796910">
                  <a:extLst>
                    <a:ext uri="{9D8B030D-6E8A-4147-A177-3AD203B41FA5}">
                      <a16:colId xmlns:a16="http://schemas.microsoft.com/office/drawing/2014/main" val="20001"/>
                    </a:ext>
                  </a:extLst>
                </a:gridCol>
              </a:tblGrid>
              <a:tr h="791941">
                <a:tc>
                  <a:txBody>
                    <a:bodyPr/>
                    <a:lstStyle/>
                    <a:p>
                      <a:pPr algn="ctr" fontAlgn="b"/>
                      <a:r>
                        <a:rPr lang="en-IN" sz="2400" b="1" u="none" strike="noStrike" dirty="0">
                          <a:effectLst/>
                        </a:rPr>
                        <a:t>P &amp; L/ unit</a:t>
                      </a:r>
                      <a:endParaRPr lang="en-IN" sz="2400" b="1" i="0" u="none" strike="noStrike" dirty="0">
                        <a:effectLst/>
                        <a:latin typeface="Arial" panose="020B0604020202020204" pitchFamily="34" charset="0"/>
                        <a:cs typeface="Arial" panose="020B0604020202020204" pitchFamily="34" charset="0"/>
                      </a:endParaRPr>
                    </a:p>
                  </a:txBody>
                  <a:tcPr marL="0" marR="0" marT="0" marB="0" anchor="b">
                    <a:solidFill>
                      <a:schemeClr val="accent3">
                        <a:lumMod val="60000"/>
                        <a:lumOff val="40000"/>
                      </a:schemeClr>
                    </a:solidFill>
                  </a:tcPr>
                </a:tc>
                <a:tc>
                  <a:txBody>
                    <a:bodyPr/>
                    <a:lstStyle/>
                    <a:p>
                      <a:pPr algn="ctr" fontAlgn="ctr"/>
                      <a:endParaRPr lang="en-IN" sz="2400" b="1" u="none" strike="noStrike" dirty="0">
                        <a:solidFill>
                          <a:srgbClr val="000000"/>
                        </a:solidFill>
                        <a:effectLst/>
                      </a:endParaRPr>
                    </a:p>
                    <a:p>
                      <a:pPr algn="ctr" fontAlgn="ctr"/>
                      <a:r>
                        <a:rPr lang="en-IN" sz="2400" b="1" u="none" strike="noStrike" dirty="0">
                          <a:solidFill>
                            <a:srgbClr val="000000"/>
                          </a:solidFill>
                          <a:effectLst/>
                        </a:rPr>
                        <a:t>Year 1</a:t>
                      </a:r>
                      <a:endParaRPr lang="en-IN" sz="24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solidFill>
                      <a:schemeClr val="accent3">
                        <a:lumMod val="60000"/>
                        <a:lumOff val="40000"/>
                      </a:schemeClr>
                    </a:solidFill>
                  </a:tcPr>
                </a:tc>
                <a:extLst>
                  <a:ext uri="{0D108BD9-81ED-4DB2-BD59-A6C34878D82A}">
                    <a16:rowId xmlns:a16="http://schemas.microsoft.com/office/drawing/2014/main" val="10000"/>
                  </a:ext>
                </a:extLst>
              </a:tr>
              <a:tr h="696305">
                <a:tc>
                  <a:txBody>
                    <a:bodyPr/>
                    <a:lstStyle/>
                    <a:p>
                      <a:pPr algn="l" fontAlgn="ctr"/>
                      <a:r>
                        <a:rPr lang="en-IN" sz="2000" b="0" u="none" strike="noStrike" dirty="0">
                          <a:solidFill>
                            <a:srgbClr val="000000"/>
                          </a:solidFill>
                          <a:effectLst/>
                        </a:rPr>
                        <a:t>Revenue</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IN" sz="2000" b="0" u="none" strike="noStrike" dirty="0">
                          <a:solidFill>
                            <a:srgbClr val="000000"/>
                          </a:solidFill>
                          <a:effectLst/>
                        </a:rPr>
                        <a:t>450</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0001"/>
                  </a:ext>
                </a:extLst>
              </a:tr>
              <a:tr h="523790">
                <a:tc>
                  <a:txBody>
                    <a:bodyPr/>
                    <a:lstStyle/>
                    <a:p>
                      <a:pPr algn="l" fontAlgn="ctr"/>
                      <a:r>
                        <a:rPr lang="en-IN" sz="2000" b="0" u="none" strike="noStrike" dirty="0">
                          <a:solidFill>
                            <a:srgbClr val="000000"/>
                          </a:solidFill>
                          <a:effectLst/>
                        </a:rPr>
                        <a:t>COGS</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IN" sz="2000" b="0" u="none" strike="noStrike" dirty="0">
                          <a:solidFill>
                            <a:srgbClr val="000000"/>
                          </a:solidFill>
                          <a:effectLst/>
                        </a:rPr>
                        <a:t>200</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2"/>
                  </a:ext>
                </a:extLst>
              </a:tr>
              <a:tr h="523790">
                <a:tc>
                  <a:txBody>
                    <a:bodyPr/>
                    <a:lstStyle/>
                    <a:p>
                      <a:pPr algn="l" fontAlgn="ctr"/>
                      <a:r>
                        <a:rPr lang="en-IN" sz="2000" b="0" u="none" strike="noStrike">
                          <a:solidFill>
                            <a:srgbClr val="000000"/>
                          </a:solidFill>
                          <a:effectLst/>
                        </a:rPr>
                        <a:t>Gross Profit</a:t>
                      </a:r>
                      <a:endParaRPr lang="en-IN" sz="20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IN" sz="2000" b="0" u="none" strike="noStrike" dirty="0">
                          <a:solidFill>
                            <a:srgbClr val="000000"/>
                          </a:solidFill>
                          <a:effectLst/>
                        </a:rPr>
                        <a:t>250</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3"/>
                  </a:ext>
                </a:extLst>
              </a:tr>
              <a:tr h="523790">
                <a:tc>
                  <a:txBody>
                    <a:bodyPr/>
                    <a:lstStyle/>
                    <a:p>
                      <a:pPr algn="l" fontAlgn="ctr"/>
                      <a:r>
                        <a:rPr lang="en-IN" sz="2000" b="0" u="none" strike="noStrike">
                          <a:solidFill>
                            <a:srgbClr val="000000"/>
                          </a:solidFill>
                          <a:effectLst/>
                        </a:rPr>
                        <a:t>Gross Profit Margin</a:t>
                      </a:r>
                      <a:endParaRPr lang="en-IN" sz="20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IN" sz="2000" b="0" u="none" strike="noStrike" dirty="0">
                          <a:effectLst/>
                        </a:rPr>
                        <a:t>55%</a:t>
                      </a:r>
                      <a:endParaRPr lang="en-IN" sz="2000" b="0" i="0" u="none" strike="noStrike" dirty="0">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0004"/>
                  </a:ext>
                </a:extLst>
              </a:tr>
              <a:tr h="523790">
                <a:tc>
                  <a:txBody>
                    <a:bodyPr/>
                    <a:lstStyle/>
                    <a:p>
                      <a:pPr algn="l" fontAlgn="ctr"/>
                      <a:r>
                        <a:rPr lang="en-IN" sz="2000" b="0" u="none" strike="noStrike">
                          <a:solidFill>
                            <a:srgbClr val="000000"/>
                          </a:solidFill>
                          <a:effectLst/>
                        </a:rPr>
                        <a:t>Operating Costs</a:t>
                      </a:r>
                      <a:endParaRPr lang="en-IN" sz="20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IN" sz="2000" b="0" u="none" strike="noStrike" dirty="0">
                          <a:effectLst/>
                        </a:rPr>
                        <a:t>50</a:t>
                      </a:r>
                      <a:endParaRPr lang="en-IN" sz="2000" b="0" i="0" u="none" strike="noStrike" dirty="0">
                        <a:effectLst/>
                        <a:latin typeface="Arial" panose="020B0604020202020204" pitchFamily="34" charset="0"/>
                      </a:endParaRPr>
                    </a:p>
                  </a:txBody>
                  <a:tcPr marL="0" marR="0" marT="0" marB="0" anchor="b"/>
                </a:tc>
                <a:extLst>
                  <a:ext uri="{0D108BD9-81ED-4DB2-BD59-A6C34878D82A}">
                    <a16:rowId xmlns:a16="http://schemas.microsoft.com/office/drawing/2014/main" val="10005"/>
                  </a:ext>
                </a:extLst>
              </a:tr>
              <a:tr h="523790">
                <a:tc>
                  <a:txBody>
                    <a:bodyPr/>
                    <a:lstStyle/>
                    <a:p>
                      <a:pPr algn="l" fontAlgn="ctr"/>
                      <a:r>
                        <a:rPr lang="en-IN" sz="2000" b="0" u="none" strike="noStrike" dirty="0">
                          <a:solidFill>
                            <a:srgbClr val="000000"/>
                          </a:solidFill>
                          <a:effectLst/>
                        </a:rPr>
                        <a:t>Operating Profit</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IN" sz="2000" b="0" u="none" strike="noStrike" dirty="0">
                          <a:effectLst/>
                        </a:rPr>
                        <a:t>100</a:t>
                      </a:r>
                      <a:endParaRPr lang="en-IN" sz="2000" b="0" i="0" u="none" strike="noStrike" dirty="0">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95916880"/>
              </p:ext>
            </p:extLst>
          </p:nvPr>
        </p:nvGraphicFramePr>
        <p:xfrm>
          <a:off x="10152112" y="3556586"/>
          <a:ext cx="6908488" cy="4107194"/>
        </p:xfrm>
        <a:graphic>
          <a:graphicData uri="http://schemas.openxmlformats.org/drawingml/2006/table">
            <a:tbl>
              <a:tblPr>
                <a:tableStyleId>{616DA210-FB5B-4158-B5E0-FEB733F419BA}</a:tableStyleId>
              </a:tblPr>
              <a:tblGrid>
                <a:gridCol w="5217984">
                  <a:extLst>
                    <a:ext uri="{9D8B030D-6E8A-4147-A177-3AD203B41FA5}">
                      <a16:colId xmlns:a16="http://schemas.microsoft.com/office/drawing/2014/main" val="20000"/>
                    </a:ext>
                  </a:extLst>
                </a:gridCol>
                <a:gridCol w="1690504">
                  <a:extLst>
                    <a:ext uri="{9D8B030D-6E8A-4147-A177-3AD203B41FA5}">
                      <a16:colId xmlns:a16="http://schemas.microsoft.com/office/drawing/2014/main" val="20001"/>
                    </a:ext>
                  </a:extLst>
                </a:gridCol>
              </a:tblGrid>
              <a:tr h="734519">
                <a:tc>
                  <a:txBody>
                    <a:bodyPr/>
                    <a:lstStyle/>
                    <a:p>
                      <a:pPr algn="ctr" fontAlgn="b"/>
                      <a:r>
                        <a:rPr lang="en-IN" sz="2400" b="1" u="none" strike="noStrike" dirty="0">
                          <a:effectLst/>
                        </a:rPr>
                        <a:t>Unit Economics</a:t>
                      </a:r>
                      <a:endParaRPr lang="en-IN" sz="2400" b="1" i="0" u="none" strike="noStrike" dirty="0">
                        <a:effectLst/>
                        <a:latin typeface="Arial" panose="020B0604020202020204" pitchFamily="34" charset="0"/>
                        <a:cs typeface="Arial" panose="020B0604020202020204" pitchFamily="34" charset="0"/>
                      </a:endParaRPr>
                    </a:p>
                  </a:txBody>
                  <a:tcPr marL="0" marR="0" marT="0" marB="0" anchor="b">
                    <a:solidFill>
                      <a:schemeClr val="accent3">
                        <a:lumMod val="60000"/>
                        <a:lumOff val="40000"/>
                      </a:schemeClr>
                    </a:solidFill>
                  </a:tcPr>
                </a:tc>
                <a:tc>
                  <a:txBody>
                    <a:bodyPr/>
                    <a:lstStyle/>
                    <a:p>
                      <a:pPr algn="ctr" fontAlgn="b"/>
                      <a:r>
                        <a:rPr lang="en-IN" sz="2400" b="1" u="none" strike="noStrike" dirty="0">
                          <a:effectLst/>
                        </a:rPr>
                        <a:t>Year 1</a:t>
                      </a:r>
                      <a:endParaRPr lang="en-IN" sz="2400" b="1" i="0" u="none" strike="noStrike" dirty="0">
                        <a:effectLst/>
                        <a:latin typeface="Arial" panose="020B0604020202020204" pitchFamily="34" charset="0"/>
                        <a:cs typeface="Arial" panose="020B0604020202020204" pitchFamily="34" charset="0"/>
                      </a:endParaRPr>
                    </a:p>
                  </a:txBody>
                  <a:tcPr marL="0" marR="0" marT="0" marB="0" anchor="b">
                    <a:solidFill>
                      <a:schemeClr val="accent3">
                        <a:lumMod val="60000"/>
                        <a:lumOff val="40000"/>
                      </a:schemeClr>
                    </a:solidFill>
                  </a:tcPr>
                </a:tc>
                <a:extLst>
                  <a:ext uri="{0D108BD9-81ED-4DB2-BD59-A6C34878D82A}">
                    <a16:rowId xmlns:a16="http://schemas.microsoft.com/office/drawing/2014/main" val="10000"/>
                  </a:ext>
                </a:extLst>
              </a:tr>
              <a:tr h="917395">
                <a:tc>
                  <a:txBody>
                    <a:bodyPr/>
                    <a:lstStyle/>
                    <a:p>
                      <a:pPr algn="l" fontAlgn="b"/>
                      <a:r>
                        <a:rPr lang="en-IN" sz="2000" b="0" u="none" strike="noStrike" dirty="0">
                          <a:effectLst/>
                        </a:rPr>
                        <a:t>CAC(Customer acquisition Cost)</a:t>
                      </a:r>
                    </a:p>
                    <a:p>
                      <a:pPr algn="l" fontAlgn="b"/>
                      <a:endParaRPr lang="en-IN" sz="2000" b="0" i="0" u="none" strike="noStrike" dirty="0">
                        <a:effectLst/>
                        <a:latin typeface="Arial" panose="020B0604020202020204" pitchFamily="34" charset="0"/>
                        <a:cs typeface="Arial" panose="020B0604020202020204" pitchFamily="34" charset="0"/>
                      </a:endParaRPr>
                    </a:p>
                  </a:txBody>
                  <a:tcPr marL="0" marR="0" marT="0" marB="0" anchor="b"/>
                </a:tc>
                <a:tc>
                  <a:txBody>
                    <a:bodyPr/>
                    <a:lstStyle/>
                    <a:p>
                      <a:pPr algn="ctr" fontAlgn="b"/>
                      <a:endParaRPr lang="en-IN" sz="2000" b="0" u="none" strike="noStrike" dirty="0">
                        <a:effectLst/>
                      </a:endParaRPr>
                    </a:p>
                    <a:p>
                      <a:pPr algn="ctr" fontAlgn="b"/>
                      <a:r>
                        <a:rPr lang="en-IN" sz="2000" b="0" u="none" strike="noStrike" dirty="0">
                          <a:effectLst/>
                        </a:rPr>
                        <a:t>200</a:t>
                      </a:r>
                      <a:endParaRPr lang="en-IN" sz="2000" b="0" i="0" u="none" strike="noStrike" dirty="0">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0001"/>
                  </a:ext>
                </a:extLst>
              </a:tr>
              <a:tr h="1344078">
                <a:tc>
                  <a:txBody>
                    <a:bodyPr/>
                    <a:lstStyle/>
                    <a:p>
                      <a:pPr algn="l" fontAlgn="ctr"/>
                      <a:r>
                        <a:rPr lang="en-IN" sz="2000" b="0" u="none" strike="noStrike" dirty="0">
                          <a:solidFill>
                            <a:srgbClr val="000000"/>
                          </a:solidFill>
                          <a:effectLst/>
                        </a:rPr>
                        <a:t>CLV(Customer Lifetime Value)</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IN" sz="2000" b="0" u="none" strike="noStrike" dirty="0">
                          <a:solidFill>
                            <a:srgbClr val="000000"/>
                          </a:solidFill>
                          <a:effectLst/>
                        </a:rPr>
                        <a:t>500</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2"/>
                  </a:ext>
                </a:extLst>
              </a:tr>
              <a:tr h="1111202">
                <a:tc>
                  <a:txBody>
                    <a:bodyPr/>
                    <a:lstStyle/>
                    <a:p>
                      <a:pPr algn="l" fontAlgn="b"/>
                      <a:r>
                        <a:rPr lang="en-IN" sz="2000" b="0" u="none" strike="noStrike" dirty="0">
                          <a:solidFill>
                            <a:srgbClr val="000000"/>
                          </a:solidFill>
                          <a:effectLst/>
                        </a:rPr>
                        <a:t> ARPU(average Revenue Per User)</a:t>
                      </a:r>
                    </a:p>
                    <a:p>
                      <a:pPr algn="l" fontAlgn="b"/>
                      <a:r>
                        <a:rPr lang="en-IN" sz="2000" b="0" u="none" strike="noStrike" dirty="0">
                          <a:solidFill>
                            <a:srgbClr val="000000"/>
                          </a:solidFill>
                          <a:effectLst/>
                        </a:rPr>
                        <a:t> </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IN" sz="2000" b="0" u="none" strike="noStrike" dirty="0">
                          <a:solidFill>
                            <a:srgbClr val="000000"/>
                          </a:solidFill>
                          <a:effectLst/>
                        </a:rPr>
                        <a:t>200</a:t>
                      </a:r>
                      <a:endParaRPr lang="en-IN" sz="20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0003"/>
                  </a:ext>
                </a:extLst>
              </a:tr>
            </a:tbl>
          </a:graphicData>
        </a:graphic>
      </p:graphicFrame>
      <p:sp>
        <p:nvSpPr>
          <p:cNvPr id="11" name="Rectangle 1"/>
          <p:cNvSpPr>
            <a:spLocks noChangeArrowheads="1"/>
          </p:cNvSpPr>
          <p:nvPr/>
        </p:nvSpPr>
        <p:spPr bwMode="auto">
          <a:xfrm>
            <a:off x="1227400" y="6608369"/>
            <a:ext cx="2478061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1828800"/>
            <a:r>
              <a:rPr lang="en-US" altLang="en-US" sz="2200">
                <a:solidFill>
                  <a:srgbClr val="000000"/>
                </a:solidFill>
                <a:latin typeface="Times New Roman" panose="02020603050405020304" pitchFamily="18" charset="0"/>
                <a:cs typeface="Times New Roman" panose="02020603050405020304" pitchFamily="18" charset="0"/>
              </a:rPr>
              <a:t> </a:t>
            </a:r>
            <a:endParaRPr lang="en-US" altLang="en-US" sz="2200"/>
          </a:p>
          <a:p>
            <a:pPr defTabSz="1828800"/>
            <a:endParaRPr lang="en-US" altLang="en-US" sz="2200"/>
          </a:p>
        </p:txBody>
      </p:sp>
      <p:graphicFrame>
        <p:nvGraphicFramePr>
          <p:cNvPr id="12" name="Table 11"/>
          <p:cNvGraphicFramePr>
            <a:graphicFrameLocks noGrp="1"/>
          </p:cNvGraphicFramePr>
          <p:nvPr>
            <p:extLst>
              <p:ext uri="{D42A27DB-BD31-4B8C-83A1-F6EECF244321}">
                <p14:modId xmlns:p14="http://schemas.microsoft.com/office/powerpoint/2010/main" val="191406197"/>
              </p:ext>
            </p:extLst>
          </p:nvPr>
        </p:nvGraphicFramePr>
        <p:xfrm>
          <a:off x="649985" y="1322348"/>
          <a:ext cx="4463970" cy="1371600"/>
        </p:xfrm>
        <a:graphic>
          <a:graphicData uri="http://schemas.openxmlformats.org/drawingml/2006/table">
            <a:tbl>
              <a:tblPr firstRow="1" bandRow="1">
                <a:tableStyleId>{5C22544A-7EE6-4342-B048-85BDC9FD1C3A}</a:tableStyleId>
              </a:tblPr>
              <a:tblGrid>
                <a:gridCol w="4463970">
                  <a:extLst>
                    <a:ext uri="{9D8B030D-6E8A-4147-A177-3AD203B41FA5}">
                      <a16:colId xmlns:a16="http://schemas.microsoft.com/office/drawing/2014/main" val="20000"/>
                    </a:ext>
                  </a:extLst>
                </a:gridCol>
              </a:tblGrid>
              <a:tr h="0">
                <a:tc>
                  <a:txBody>
                    <a:bodyPr/>
                    <a:lstStyle/>
                    <a:p>
                      <a:pPr algn="just"/>
                      <a:r>
                        <a:rPr lang="en-IN" sz="1800" dirty="0">
                          <a:solidFill>
                            <a:schemeClr val="tx1"/>
                          </a:solidFill>
                          <a:latin typeface="Arial" panose="020B0604020202020204" pitchFamily="34" charset="0"/>
                          <a:cs typeface="Arial" panose="020B0604020202020204" pitchFamily="34" charset="0"/>
                        </a:rPr>
                        <a:t>Assumptions (Year 2024)</a:t>
                      </a:r>
                    </a:p>
                  </a:txBody>
                  <a:tcPr marL="182880" marR="182880" marT="91440" marB="91440">
                    <a:noFill/>
                  </a:tcPr>
                </a:tc>
                <a:extLst>
                  <a:ext uri="{0D108BD9-81ED-4DB2-BD59-A6C34878D82A}">
                    <a16:rowId xmlns:a16="http://schemas.microsoft.com/office/drawing/2014/main" val="10000"/>
                  </a:ext>
                </a:extLst>
              </a:tr>
              <a:tr h="0">
                <a:tc>
                  <a:txBody>
                    <a:bodyPr/>
                    <a:lstStyle/>
                    <a:p>
                      <a:endParaRPr lang="en-IN" sz="1800" dirty="0">
                        <a:latin typeface="Arial" panose="020B0604020202020204" pitchFamily="34" charset="0"/>
                        <a:cs typeface="Arial" panose="020B0604020202020204" pitchFamily="34" charset="0"/>
                      </a:endParaRPr>
                    </a:p>
                  </a:txBody>
                  <a:tcPr marL="182880" marR="182880" marT="91440" marB="91440">
                    <a:noFill/>
                  </a:tcPr>
                </a:tc>
                <a:extLst>
                  <a:ext uri="{0D108BD9-81ED-4DB2-BD59-A6C34878D82A}">
                    <a16:rowId xmlns:a16="http://schemas.microsoft.com/office/drawing/2014/main" val="10001"/>
                  </a:ext>
                </a:extLst>
              </a:tr>
              <a:tr h="0">
                <a:tc>
                  <a:txBody>
                    <a:bodyPr/>
                    <a:lstStyle/>
                    <a:p>
                      <a:endParaRPr lang="en-IN" sz="1800" baseline="0" dirty="0">
                        <a:latin typeface="Arial"/>
                        <a:cs typeface="Arial"/>
                      </a:endParaRPr>
                    </a:p>
                  </a:txBody>
                  <a:tcPr marL="182880" marR="182880" marT="91440" marB="91440">
                    <a:noFill/>
                  </a:tcPr>
                </a:tc>
                <a:extLst>
                  <a:ext uri="{0D108BD9-81ED-4DB2-BD59-A6C34878D82A}">
                    <a16:rowId xmlns:a16="http://schemas.microsoft.com/office/drawing/2014/main" val="10002"/>
                  </a:ext>
                </a:extLst>
              </a:tr>
            </a:tbl>
          </a:graphicData>
        </a:graphic>
      </p:graphicFrame>
      <p:pic>
        <p:nvPicPr>
          <p:cNvPr id="3" name="Picture 2">
            <a:extLst>
              <a:ext uri="{FF2B5EF4-FFF2-40B4-BE49-F238E27FC236}">
                <a16:creationId xmlns:a16="http://schemas.microsoft.com/office/drawing/2014/main" id="{6FD7BD3A-59BF-64AA-9B17-69F59B575123}"/>
              </a:ext>
            </a:extLst>
          </p:cNvPr>
          <p:cNvPicPr>
            <a:picLocks noChangeAspect="1"/>
          </p:cNvPicPr>
          <p:nvPr/>
        </p:nvPicPr>
        <p:blipFill>
          <a:blip r:embed="rId2"/>
          <a:stretch>
            <a:fillRect/>
          </a:stretch>
        </p:blipFill>
        <p:spPr>
          <a:xfrm>
            <a:off x="16154401" y="190502"/>
            <a:ext cx="1499746" cy="1585097"/>
          </a:xfrm>
          <a:prstGeom prst="rect">
            <a:avLst/>
          </a:prstGeom>
        </p:spPr>
      </p:pic>
    </p:spTree>
    <p:extLst>
      <p:ext uri="{BB962C8B-B14F-4D97-AF65-F5344CB8AC3E}">
        <p14:creationId xmlns:p14="http://schemas.microsoft.com/office/powerpoint/2010/main" val="1232098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539" y="410253"/>
            <a:ext cx="15304106" cy="729948"/>
          </a:xfrm>
        </p:spPr>
        <p:txBody>
          <a:bodyPr/>
          <a:lstStyle/>
          <a:p>
            <a:r>
              <a:rPr lang="en-US" sz="5400" b="1" dirty="0">
                <a:solidFill>
                  <a:schemeClr val="tx1"/>
                </a:solidFill>
              </a:rPr>
              <a:t>Funding</a:t>
            </a:r>
            <a:r>
              <a:rPr lang="en-US" sz="5400" b="1" dirty="0">
                <a:solidFill>
                  <a:srgbClr val="C00000"/>
                </a:solidFill>
              </a:rPr>
              <a:t> </a:t>
            </a:r>
            <a:r>
              <a:rPr lang="en-US" sz="6000" b="1" dirty="0">
                <a:solidFill>
                  <a:schemeClr val="tx1"/>
                </a:solidFill>
              </a:rPr>
              <a:t>Plan</a:t>
            </a:r>
            <a:r>
              <a:rPr lang="en-US" sz="5400" b="1" dirty="0">
                <a:solidFill>
                  <a:srgbClr val="C00000"/>
                </a:solidFill>
              </a:rPr>
              <a:t> </a:t>
            </a:r>
            <a:endParaRPr lang="en-US" sz="5400" b="1" dirty="0">
              <a:solidFill>
                <a:schemeClr val="tx1"/>
              </a:solidFill>
            </a:endParaRPr>
          </a:p>
        </p:txBody>
      </p:sp>
      <p:sp>
        <p:nvSpPr>
          <p:cNvPr id="8" name="Rectangle 7"/>
          <p:cNvSpPr/>
          <p:nvPr/>
        </p:nvSpPr>
        <p:spPr>
          <a:xfrm>
            <a:off x="845802" y="1194575"/>
            <a:ext cx="763192" cy="84888"/>
          </a:xfrm>
          <a:prstGeom prst="rect">
            <a:avLst/>
          </a:prstGeom>
          <a:solidFill>
            <a:srgbClr val="FABE00"/>
          </a:solidFill>
          <a:ln w="12700" cap="flat" cmpd="sng" algn="ctr">
            <a:noFill/>
            <a:prstDash val="solid"/>
            <a:miter lim="800000"/>
          </a:ln>
          <a:effectLst/>
        </p:spPr>
        <p:txBody>
          <a:bodyPr rtlCol="0" anchor="ctr"/>
          <a:lstStyle/>
          <a:p>
            <a:pPr algn="ctr" defTabSz="1371600">
              <a:defRPr/>
            </a:pPr>
            <a:endParaRPr lang="en-US" sz="2700" kern="0" dirty="0">
              <a:solidFill>
                <a:prstClr val="white"/>
              </a:solidFill>
              <a:latin typeface="Open Sans"/>
            </a:endParaRPr>
          </a:p>
        </p:txBody>
      </p:sp>
      <p:sp>
        <p:nvSpPr>
          <p:cNvPr id="11" name="Rectangle 1"/>
          <p:cNvSpPr>
            <a:spLocks noChangeArrowheads="1"/>
          </p:cNvSpPr>
          <p:nvPr/>
        </p:nvSpPr>
        <p:spPr bwMode="auto">
          <a:xfrm>
            <a:off x="1227400" y="6608369"/>
            <a:ext cx="2478061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1828800"/>
            <a:r>
              <a:rPr lang="en-US" altLang="en-US" sz="2200">
                <a:solidFill>
                  <a:srgbClr val="000000"/>
                </a:solidFill>
                <a:latin typeface="Times New Roman" panose="02020603050405020304" pitchFamily="18" charset="0"/>
                <a:cs typeface="Times New Roman" panose="02020603050405020304" pitchFamily="18" charset="0"/>
              </a:rPr>
              <a:t> </a:t>
            </a:r>
            <a:endParaRPr lang="en-US" altLang="en-US" sz="2200"/>
          </a:p>
          <a:p>
            <a:pPr defTabSz="1828800"/>
            <a:endParaRPr lang="en-US" altLang="en-US" sz="2200"/>
          </a:p>
        </p:txBody>
      </p:sp>
      <p:pic>
        <p:nvPicPr>
          <p:cNvPr id="3" name="Picture 2">
            <a:extLst>
              <a:ext uri="{FF2B5EF4-FFF2-40B4-BE49-F238E27FC236}">
                <a16:creationId xmlns:a16="http://schemas.microsoft.com/office/drawing/2014/main" id="{6FD7BD3A-59BF-64AA-9B17-69F59B575123}"/>
              </a:ext>
            </a:extLst>
          </p:cNvPr>
          <p:cNvPicPr>
            <a:picLocks noChangeAspect="1"/>
          </p:cNvPicPr>
          <p:nvPr/>
        </p:nvPicPr>
        <p:blipFill>
          <a:blip r:embed="rId2"/>
          <a:stretch>
            <a:fillRect/>
          </a:stretch>
        </p:blipFill>
        <p:spPr>
          <a:xfrm>
            <a:off x="16154401" y="190502"/>
            <a:ext cx="1499746" cy="1585097"/>
          </a:xfrm>
          <a:prstGeom prst="rect">
            <a:avLst/>
          </a:prstGeom>
        </p:spPr>
      </p:pic>
      <p:sp>
        <p:nvSpPr>
          <p:cNvPr id="13" name="TextBox 12">
            <a:extLst>
              <a:ext uri="{FF2B5EF4-FFF2-40B4-BE49-F238E27FC236}">
                <a16:creationId xmlns:a16="http://schemas.microsoft.com/office/drawing/2014/main" id="{C3F16AA8-23C6-EA92-EA5F-B07DB5A91D35}"/>
              </a:ext>
            </a:extLst>
          </p:cNvPr>
          <p:cNvSpPr txBox="1"/>
          <p:nvPr/>
        </p:nvSpPr>
        <p:spPr>
          <a:xfrm>
            <a:off x="9862893" y="2551212"/>
            <a:ext cx="7791254" cy="5909310"/>
          </a:xfrm>
          <a:prstGeom prst="rect">
            <a:avLst/>
          </a:prstGeom>
          <a:noFill/>
          <a:ln>
            <a:solidFill>
              <a:schemeClr val="bg2">
                <a:lumMod val="50000"/>
              </a:schemeClr>
            </a:solidFill>
          </a:ln>
        </p:spPr>
        <p:txBody>
          <a:bodyPr wrap="square" rtlCol="0">
            <a:spAutoFit/>
          </a:bodyPr>
          <a:lstStyle/>
          <a:p>
            <a:r>
              <a:rPr lang="en-IN" sz="2700" b="1" dirty="0"/>
              <a:t>How much funds required to reach to the next level of the venture?</a:t>
            </a:r>
          </a:p>
          <a:p>
            <a:pPr marL="428625" indent="-428625">
              <a:buFont typeface="Arial" panose="020B0604020202020204" pitchFamily="34" charset="0"/>
              <a:buChar char="•"/>
            </a:pPr>
            <a:r>
              <a:rPr lang="en-IN" sz="2700" dirty="0"/>
              <a:t>10  lakhs</a:t>
            </a:r>
          </a:p>
          <a:p>
            <a:endParaRPr lang="en-IN" sz="2700" dirty="0"/>
          </a:p>
          <a:p>
            <a:r>
              <a:rPr lang="en-IN" sz="2700" b="1" dirty="0"/>
              <a:t>How much have been bootstrapped? If not, why ?</a:t>
            </a:r>
            <a:endParaRPr lang="en-IN" sz="2700" dirty="0"/>
          </a:p>
          <a:p>
            <a:pPr marL="428625" indent="-428625">
              <a:buFont typeface="Arial" panose="020B0604020202020204" pitchFamily="34" charset="0"/>
              <a:buChar char="•"/>
            </a:pPr>
            <a:r>
              <a:rPr lang="en-IN" sz="2700" dirty="0"/>
              <a:t>250000</a:t>
            </a:r>
          </a:p>
          <a:p>
            <a:pPr marL="428625" indent="-428625">
              <a:buFont typeface="Arial" panose="020B0604020202020204" pitchFamily="34" charset="0"/>
              <a:buChar char="•"/>
            </a:pPr>
            <a:endParaRPr lang="en-IN" sz="2700" dirty="0"/>
          </a:p>
          <a:p>
            <a:r>
              <a:rPr lang="en-IN" sz="2700" b="1" dirty="0"/>
              <a:t>How much can be bootstrapped?</a:t>
            </a:r>
          </a:p>
          <a:p>
            <a:pPr marL="428625" indent="-428625">
              <a:buFont typeface="Arial" panose="020B0604020202020204" pitchFamily="34" charset="0"/>
              <a:buChar char="•"/>
            </a:pPr>
            <a:r>
              <a:rPr lang="en-IN" sz="2700" dirty="0"/>
              <a:t>5 lakhs</a:t>
            </a:r>
          </a:p>
          <a:p>
            <a:endParaRPr lang="en-IN" sz="2700" dirty="0"/>
          </a:p>
          <a:p>
            <a:r>
              <a:rPr lang="en-IN" sz="2700" b="1" dirty="0"/>
              <a:t>How much external funding required? If not, why?</a:t>
            </a:r>
          </a:p>
          <a:p>
            <a:pPr marL="428625" indent="-428625">
              <a:buFont typeface="Arial" panose="020B0604020202020204" pitchFamily="34" charset="0"/>
              <a:buChar char="•"/>
            </a:pPr>
            <a:r>
              <a:rPr lang="en-IN" sz="2700" dirty="0"/>
              <a:t>5 lakhs</a:t>
            </a:r>
          </a:p>
          <a:p>
            <a:pPr marL="428625" indent="-428625">
              <a:buFont typeface="Arial" panose="020B0604020202020204" pitchFamily="34" charset="0"/>
              <a:buChar char="•"/>
            </a:pPr>
            <a:endParaRPr lang="en-IN" sz="2700" dirty="0"/>
          </a:p>
          <a:p>
            <a:pPr marL="428625" indent="-428625">
              <a:buFont typeface="Arial" panose="020B0604020202020204" pitchFamily="34" charset="0"/>
              <a:buChar char="•"/>
            </a:pPr>
            <a:endParaRPr lang="en-IN" sz="2700" dirty="0"/>
          </a:p>
        </p:txBody>
      </p:sp>
      <p:sp>
        <p:nvSpPr>
          <p:cNvPr id="14" name="TextBox 13">
            <a:extLst>
              <a:ext uri="{FF2B5EF4-FFF2-40B4-BE49-F238E27FC236}">
                <a16:creationId xmlns:a16="http://schemas.microsoft.com/office/drawing/2014/main" id="{CC54A83D-A062-9FFE-1EF0-4AAE1A88DEC5}"/>
              </a:ext>
            </a:extLst>
          </p:cNvPr>
          <p:cNvSpPr txBox="1"/>
          <p:nvPr/>
        </p:nvSpPr>
        <p:spPr>
          <a:xfrm>
            <a:off x="431032" y="1615108"/>
            <a:ext cx="9184780" cy="8402300"/>
          </a:xfrm>
          <a:prstGeom prst="rect">
            <a:avLst/>
          </a:prstGeom>
          <a:noFill/>
          <a:ln>
            <a:solidFill>
              <a:schemeClr val="bg2">
                <a:lumMod val="50000"/>
              </a:schemeClr>
            </a:solidFill>
          </a:ln>
        </p:spPr>
        <p:txBody>
          <a:bodyPr wrap="square" rtlCol="0">
            <a:spAutoFit/>
          </a:bodyPr>
          <a:lstStyle/>
          <a:p>
            <a:r>
              <a:rPr lang="en-US" sz="2700" b="1" dirty="0"/>
              <a:t>1. Product Development (30%):</a:t>
            </a:r>
          </a:p>
          <a:p>
            <a:pPr marL="457200" indent="-457200">
              <a:buFont typeface="Arial" panose="020B0604020202020204" pitchFamily="34" charset="0"/>
              <a:buChar char="•"/>
            </a:pPr>
            <a:r>
              <a:rPr lang="en-US" sz="2700" dirty="0"/>
              <a:t>Enhance AI design tools and product quality.</a:t>
            </a:r>
          </a:p>
          <a:p>
            <a:pPr marL="457200" indent="-457200">
              <a:buFont typeface="Arial" panose="020B0604020202020204" pitchFamily="34" charset="0"/>
              <a:buChar char="•"/>
            </a:pPr>
            <a:r>
              <a:rPr lang="en-US" sz="2700" dirty="0"/>
              <a:t>Continuous R&amp;D for new features.</a:t>
            </a:r>
          </a:p>
          <a:p>
            <a:pPr marL="457200" indent="-457200">
              <a:buFont typeface="Arial" panose="020B0604020202020204" pitchFamily="34" charset="0"/>
              <a:buChar char="•"/>
            </a:pPr>
            <a:endParaRPr lang="en-US" sz="2700" dirty="0"/>
          </a:p>
          <a:p>
            <a:r>
              <a:rPr lang="en-US" sz="2700" b="1" dirty="0"/>
              <a:t>2. Marketing and Sales (40%):</a:t>
            </a:r>
          </a:p>
          <a:p>
            <a:pPr marL="457200" indent="-457200">
              <a:buFont typeface="Arial" panose="020B0604020202020204" pitchFamily="34" charset="0"/>
              <a:buChar char="•"/>
            </a:pPr>
            <a:r>
              <a:rPr lang="en-US" sz="2700" dirty="0"/>
              <a:t>Targeted digital marketing and social media ads.</a:t>
            </a:r>
          </a:p>
          <a:p>
            <a:pPr marL="457200" indent="-457200">
              <a:buFont typeface="Arial" panose="020B0604020202020204" pitchFamily="34" charset="0"/>
              <a:buChar char="•"/>
            </a:pPr>
            <a:r>
              <a:rPr lang="en-US" sz="2700" dirty="0"/>
              <a:t>Collaborations with influencers and engaging content creation.</a:t>
            </a:r>
          </a:p>
          <a:p>
            <a:pPr marL="457200" indent="-457200">
              <a:buFont typeface="Arial" panose="020B0604020202020204" pitchFamily="34" charset="0"/>
              <a:buChar char="•"/>
            </a:pPr>
            <a:endParaRPr lang="en-US" sz="2700" dirty="0"/>
          </a:p>
          <a:p>
            <a:r>
              <a:rPr lang="en-US" sz="2700" b="1" dirty="0"/>
              <a:t>3. Operations and Logistics (15%):</a:t>
            </a:r>
            <a:endParaRPr lang="en-US" sz="2700" dirty="0"/>
          </a:p>
          <a:p>
            <a:pPr marL="457200" indent="-457200">
              <a:buFont typeface="Arial" panose="020B0604020202020204" pitchFamily="34" charset="0"/>
              <a:buChar char="•"/>
            </a:pPr>
            <a:r>
              <a:rPr lang="en-US" sz="2700" dirty="0"/>
              <a:t>Partner with fulfillment centers for efficient shipping.</a:t>
            </a:r>
          </a:p>
          <a:p>
            <a:pPr marL="457200" indent="-457200">
              <a:buFont typeface="Arial" panose="020B0604020202020204" pitchFamily="34" charset="0"/>
              <a:buChar char="•"/>
            </a:pPr>
            <a:r>
              <a:rPr lang="en-US" sz="2700" dirty="0"/>
              <a:t>Implement inventory management and customer support.</a:t>
            </a:r>
          </a:p>
          <a:p>
            <a:pPr marL="457200" indent="-457200">
              <a:buFont typeface="Arial" panose="020B0604020202020204" pitchFamily="34" charset="0"/>
              <a:buChar char="•"/>
            </a:pPr>
            <a:endParaRPr lang="en-US" sz="2700" dirty="0"/>
          </a:p>
          <a:p>
            <a:r>
              <a:rPr lang="en-US" sz="2700" b="1" dirty="0"/>
              <a:t>4. Website and Technology (10%):</a:t>
            </a:r>
          </a:p>
          <a:p>
            <a:pPr marL="457200" indent="-457200">
              <a:buFont typeface="Arial" panose="020B0604020202020204" pitchFamily="34" charset="0"/>
              <a:buChar char="•"/>
            </a:pPr>
            <a:r>
              <a:rPr lang="en-US" sz="2700" dirty="0"/>
              <a:t>Improve website functionality and develop a mobile app.</a:t>
            </a:r>
          </a:p>
          <a:p>
            <a:pPr marL="457200" indent="-457200">
              <a:buFont typeface="Arial" panose="020B0604020202020204" pitchFamily="34" charset="0"/>
              <a:buChar char="•"/>
            </a:pPr>
            <a:r>
              <a:rPr lang="en-US" sz="2700" dirty="0"/>
              <a:t>Invest in IT infrastructure for scalability.</a:t>
            </a:r>
          </a:p>
          <a:p>
            <a:pPr marL="457200" indent="-457200">
              <a:buFont typeface="Arial" panose="020B0604020202020204" pitchFamily="34" charset="0"/>
              <a:buChar char="•"/>
            </a:pPr>
            <a:endParaRPr lang="en-US" sz="2700" dirty="0"/>
          </a:p>
          <a:p>
            <a:r>
              <a:rPr lang="en-US" sz="2700" b="1" dirty="0"/>
              <a:t>5. Miscellaneous and Contingency (5%):</a:t>
            </a:r>
          </a:p>
          <a:p>
            <a:pPr marL="457200" indent="-457200">
              <a:buFont typeface="Arial" panose="020B0604020202020204" pitchFamily="34" charset="0"/>
              <a:buChar char="•"/>
            </a:pPr>
            <a:r>
              <a:rPr lang="en-US" sz="2700" dirty="0"/>
              <a:t>Cover legal, administrative costs, and reserve for emergencies.</a:t>
            </a:r>
            <a:endParaRPr lang="en-IN" sz="2700" dirty="0"/>
          </a:p>
        </p:txBody>
      </p:sp>
    </p:spTree>
    <p:extLst>
      <p:ext uri="{BB962C8B-B14F-4D97-AF65-F5344CB8AC3E}">
        <p14:creationId xmlns:p14="http://schemas.microsoft.com/office/powerpoint/2010/main" val="2437385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204200" y="-13647"/>
            <a:ext cx="12338484" cy="1115690"/>
          </a:xfrm>
          <a:prstGeom prst="rect">
            <a:avLst/>
          </a:prstGeom>
        </p:spPr>
        <p:txBody>
          <a:bodyPr wrap="square" lIns="0" tIns="0" rIns="0" bIns="0" rtlCol="0" anchor="t">
            <a:spAutoFit/>
          </a:bodyPr>
          <a:lstStyle/>
          <a:p>
            <a:pPr>
              <a:lnSpc>
                <a:spcPts val="8746"/>
              </a:lnSpc>
            </a:pPr>
            <a:r>
              <a:rPr lang="en-US" sz="5400" b="1" dirty="0">
                <a:cs typeface="Times New Roman" panose="02020603050405020304" pitchFamily="18" charset="0"/>
              </a:rPr>
              <a:t>Team Composition</a:t>
            </a:r>
          </a:p>
        </p:txBody>
      </p:sp>
      <p:sp>
        <p:nvSpPr>
          <p:cNvPr id="7" name="Rectangle 6"/>
          <p:cNvSpPr/>
          <p:nvPr/>
        </p:nvSpPr>
        <p:spPr>
          <a:xfrm>
            <a:off x="857192" y="2071667"/>
            <a:ext cx="1763942" cy="369330"/>
          </a:xfrm>
          <a:prstGeom prst="rect">
            <a:avLst/>
          </a:prstGeom>
        </p:spPr>
        <p:txBody>
          <a:bodyPr wrap="none" lIns="91439" tIns="45719" rIns="91439" bIns="45719">
            <a:spAutoFit/>
          </a:bodyPr>
          <a:lstStyle/>
          <a:p>
            <a:r>
              <a:rPr lang="en-US" dirty="0"/>
              <a:t>Team member 1 </a:t>
            </a:r>
          </a:p>
        </p:txBody>
      </p:sp>
      <p:sp>
        <p:nvSpPr>
          <p:cNvPr id="24" name="Rectangle 23"/>
          <p:cNvSpPr/>
          <p:nvPr/>
        </p:nvSpPr>
        <p:spPr>
          <a:xfrm>
            <a:off x="4422856" y="2098215"/>
            <a:ext cx="2052536" cy="369330"/>
          </a:xfrm>
          <a:prstGeom prst="rect">
            <a:avLst/>
          </a:prstGeom>
        </p:spPr>
        <p:txBody>
          <a:bodyPr wrap="square" lIns="91439" tIns="45719" rIns="91439" bIns="45719">
            <a:spAutoFit/>
          </a:bodyPr>
          <a:lstStyle/>
          <a:p>
            <a:r>
              <a:rPr lang="en-US" dirty="0"/>
              <a:t>Team  member 2 </a:t>
            </a:r>
          </a:p>
        </p:txBody>
      </p:sp>
      <p:sp>
        <p:nvSpPr>
          <p:cNvPr id="25" name="Rectangle 24"/>
          <p:cNvSpPr/>
          <p:nvPr/>
        </p:nvSpPr>
        <p:spPr>
          <a:xfrm>
            <a:off x="7059550" y="2058048"/>
            <a:ext cx="2389252" cy="369330"/>
          </a:xfrm>
          <a:prstGeom prst="rect">
            <a:avLst/>
          </a:prstGeom>
        </p:spPr>
        <p:txBody>
          <a:bodyPr wrap="square" lIns="91439" tIns="45719" rIns="91439" bIns="45719">
            <a:spAutoFit/>
          </a:bodyPr>
          <a:lstStyle/>
          <a:p>
            <a:pPr algn="ctr"/>
            <a:r>
              <a:rPr lang="en-US" dirty="0"/>
              <a:t>Team member 3 </a:t>
            </a:r>
          </a:p>
        </p:txBody>
      </p:sp>
      <p:sp>
        <p:nvSpPr>
          <p:cNvPr id="8" name="Rectangle 7"/>
          <p:cNvSpPr/>
          <p:nvPr/>
        </p:nvSpPr>
        <p:spPr>
          <a:xfrm>
            <a:off x="811197" y="5121770"/>
            <a:ext cx="1552281" cy="646329"/>
          </a:xfrm>
          <a:prstGeom prst="rect">
            <a:avLst/>
          </a:prstGeom>
          <a:ln/>
        </p:spPr>
        <p:style>
          <a:lnRef idx="1">
            <a:schemeClr val="accent6"/>
          </a:lnRef>
          <a:fillRef idx="2">
            <a:schemeClr val="accent6"/>
          </a:fillRef>
          <a:effectRef idx="1">
            <a:schemeClr val="accent6"/>
          </a:effectRef>
          <a:fontRef idx="minor">
            <a:schemeClr val="dk1"/>
          </a:fontRef>
        </p:style>
        <p:txBody>
          <a:bodyPr wrap="none" lIns="91439" tIns="45719" rIns="91439" bIns="45719">
            <a:spAutoFit/>
          </a:bodyPr>
          <a:lstStyle/>
          <a:p>
            <a:pPr algn="ctr"/>
            <a:r>
              <a:rPr lang="en-US" dirty="0"/>
              <a:t>Role/Position: </a:t>
            </a:r>
          </a:p>
          <a:p>
            <a:pPr algn="ctr"/>
            <a:r>
              <a:rPr lang="en-US" dirty="0"/>
              <a:t>CEO</a:t>
            </a:r>
          </a:p>
        </p:txBody>
      </p:sp>
      <p:sp>
        <p:nvSpPr>
          <p:cNvPr id="29" name="Rectangle 28"/>
          <p:cNvSpPr/>
          <p:nvPr/>
        </p:nvSpPr>
        <p:spPr>
          <a:xfrm>
            <a:off x="4469188" y="5160610"/>
            <a:ext cx="1552282" cy="646329"/>
          </a:xfrm>
          <a:prstGeom prst="rect">
            <a:avLst/>
          </a:prstGeom>
          <a:ln/>
        </p:spPr>
        <p:style>
          <a:lnRef idx="1">
            <a:schemeClr val="accent6"/>
          </a:lnRef>
          <a:fillRef idx="2">
            <a:schemeClr val="accent6"/>
          </a:fillRef>
          <a:effectRef idx="1">
            <a:schemeClr val="accent6"/>
          </a:effectRef>
          <a:fontRef idx="minor">
            <a:schemeClr val="dk1"/>
          </a:fontRef>
        </p:style>
        <p:txBody>
          <a:bodyPr wrap="none" lIns="91439" tIns="45719" rIns="91439" bIns="45719">
            <a:spAutoFit/>
          </a:bodyPr>
          <a:lstStyle/>
          <a:p>
            <a:r>
              <a:rPr lang="en-US" dirty="0"/>
              <a:t>Role/Position: </a:t>
            </a:r>
          </a:p>
          <a:p>
            <a:pPr algn="ctr"/>
            <a:r>
              <a:rPr lang="en-US" dirty="0"/>
              <a:t>CTO</a:t>
            </a:r>
          </a:p>
        </p:txBody>
      </p:sp>
      <p:sp>
        <p:nvSpPr>
          <p:cNvPr id="30" name="Rectangle 29"/>
          <p:cNvSpPr/>
          <p:nvPr/>
        </p:nvSpPr>
        <p:spPr>
          <a:xfrm>
            <a:off x="7672549" y="5149466"/>
            <a:ext cx="1552281" cy="646329"/>
          </a:xfrm>
          <a:prstGeom prst="rect">
            <a:avLst/>
          </a:prstGeom>
          <a:ln/>
        </p:spPr>
        <p:style>
          <a:lnRef idx="1">
            <a:schemeClr val="accent6"/>
          </a:lnRef>
          <a:fillRef idx="2">
            <a:schemeClr val="accent6"/>
          </a:fillRef>
          <a:effectRef idx="1">
            <a:schemeClr val="accent6"/>
          </a:effectRef>
          <a:fontRef idx="minor">
            <a:schemeClr val="dk1"/>
          </a:fontRef>
        </p:style>
        <p:txBody>
          <a:bodyPr wrap="none" lIns="91439" tIns="45719" rIns="91439" bIns="45719">
            <a:spAutoFit/>
          </a:bodyPr>
          <a:lstStyle/>
          <a:p>
            <a:pPr algn="ctr"/>
            <a:r>
              <a:rPr lang="en-US" dirty="0"/>
              <a:t>Role/Position: </a:t>
            </a:r>
          </a:p>
          <a:p>
            <a:pPr algn="ctr"/>
            <a:r>
              <a:rPr lang="en-US" dirty="0"/>
              <a:t>CMO</a:t>
            </a:r>
          </a:p>
        </p:txBody>
      </p:sp>
      <p:sp>
        <p:nvSpPr>
          <p:cNvPr id="31" name="Rectangle 30"/>
          <p:cNvSpPr/>
          <p:nvPr/>
        </p:nvSpPr>
        <p:spPr>
          <a:xfrm>
            <a:off x="204201" y="6515101"/>
            <a:ext cx="2884998" cy="3016208"/>
          </a:xfrm>
          <a:prstGeom prst="rect">
            <a:avLst/>
          </a:prstGeom>
          <a:ln/>
        </p:spPr>
        <p:style>
          <a:lnRef idx="1">
            <a:schemeClr val="accent4"/>
          </a:lnRef>
          <a:fillRef idx="2">
            <a:schemeClr val="accent4"/>
          </a:fillRef>
          <a:effectRef idx="1">
            <a:schemeClr val="accent4"/>
          </a:effectRef>
          <a:fontRef idx="minor">
            <a:schemeClr val="dk1"/>
          </a:fontRef>
        </p:style>
        <p:txBody>
          <a:bodyPr wrap="square" lIns="91439" tIns="45719" rIns="91439" bIns="45719">
            <a:spAutoFit/>
          </a:bodyPr>
          <a:lstStyle/>
          <a:p>
            <a:r>
              <a:rPr lang="en-US" dirty="0"/>
              <a:t>Key Strengths and abilities </a:t>
            </a:r>
          </a:p>
          <a:p>
            <a:endParaRPr lang="en-US" dirty="0"/>
          </a:p>
          <a:p>
            <a:endParaRPr lang="en-US" dirty="0"/>
          </a:p>
          <a:p>
            <a:pPr marL="285750" indent="-285750">
              <a:buFont typeface="Arial" panose="020B0604020202020204" pitchFamily="34" charset="0"/>
              <a:buChar char="•"/>
            </a:pPr>
            <a:r>
              <a:rPr lang="en-US" sz="2000" dirty="0"/>
              <a:t>Leadership qualities</a:t>
            </a:r>
          </a:p>
          <a:p>
            <a:pPr marL="285750" indent="-285750">
              <a:buFont typeface="Arial" panose="020B0604020202020204" pitchFamily="34" charset="0"/>
              <a:buChar char="•"/>
            </a:pPr>
            <a:r>
              <a:rPr lang="en-US" sz="2000" dirty="0"/>
              <a:t>Situation handling</a:t>
            </a:r>
          </a:p>
          <a:p>
            <a:pPr marL="285750" indent="-285750">
              <a:buFont typeface="Arial" panose="020B0604020202020204" pitchFamily="34" charset="0"/>
              <a:buChar char="•"/>
            </a:pPr>
            <a:r>
              <a:rPr lang="en-US" sz="2000" dirty="0"/>
              <a:t>Work Optimization</a:t>
            </a:r>
          </a:p>
          <a:p>
            <a:pPr marL="285750" indent="-285750">
              <a:buFont typeface="Arial" panose="020B0604020202020204" pitchFamily="34" charset="0"/>
              <a:buChar char="•"/>
            </a:pPr>
            <a:r>
              <a:rPr lang="en-US" sz="2000" dirty="0"/>
              <a:t>Time management and organization</a:t>
            </a:r>
          </a:p>
          <a:p>
            <a:endParaRPr lang="en-US" dirty="0"/>
          </a:p>
          <a:p>
            <a:endParaRPr lang="en-US" dirty="0"/>
          </a:p>
        </p:txBody>
      </p:sp>
      <p:sp>
        <p:nvSpPr>
          <p:cNvPr id="32" name="Rectangle 31"/>
          <p:cNvSpPr/>
          <p:nvPr/>
        </p:nvSpPr>
        <p:spPr>
          <a:xfrm>
            <a:off x="3784372" y="6515101"/>
            <a:ext cx="2845028" cy="3046986"/>
          </a:xfrm>
          <a:prstGeom prst="rect">
            <a:avLst/>
          </a:prstGeom>
          <a:ln/>
        </p:spPr>
        <p:style>
          <a:lnRef idx="1">
            <a:schemeClr val="accent1"/>
          </a:lnRef>
          <a:fillRef idx="2">
            <a:schemeClr val="accent1"/>
          </a:fillRef>
          <a:effectRef idx="1">
            <a:schemeClr val="accent1"/>
          </a:effectRef>
          <a:fontRef idx="minor">
            <a:schemeClr val="dk1"/>
          </a:fontRef>
        </p:style>
        <p:txBody>
          <a:bodyPr wrap="square" lIns="91439" tIns="45719" rIns="91439" bIns="45719">
            <a:spAutoFit/>
          </a:bodyPr>
          <a:lstStyle/>
          <a:p>
            <a:r>
              <a:rPr lang="en-US" dirty="0"/>
              <a:t>Key Strengths and abilities </a:t>
            </a:r>
          </a:p>
          <a:p>
            <a:endParaRPr lang="en-US" sz="2000" dirty="0"/>
          </a:p>
          <a:p>
            <a:pPr marL="285750" indent="-285750">
              <a:buFont typeface="Arial" panose="020B0604020202020204" pitchFamily="34" charset="0"/>
              <a:buChar char="•"/>
            </a:pPr>
            <a:r>
              <a:rPr lang="en-US" sz="2000" dirty="0"/>
              <a:t>Designing </a:t>
            </a:r>
          </a:p>
          <a:p>
            <a:pPr marL="285750" indent="-285750">
              <a:buFont typeface="Arial" panose="020B0604020202020204" pitchFamily="34" charset="0"/>
              <a:buChar char="•"/>
            </a:pPr>
            <a:r>
              <a:rPr lang="en-US" sz="2000" dirty="0"/>
              <a:t>Creative Thinking</a:t>
            </a:r>
          </a:p>
          <a:p>
            <a:pPr marL="285750" indent="-285750">
              <a:buFont typeface="Arial" panose="020B0604020202020204" pitchFamily="34" charset="0"/>
              <a:buChar char="•"/>
            </a:pPr>
            <a:r>
              <a:rPr lang="en-US" sz="2000" dirty="0"/>
              <a:t>Knowledge in New Technology</a:t>
            </a:r>
          </a:p>
          <a:p>
            <a:pPr marL="285750" indent="-285750">
              <a:buFont typeface="Arial" panose="020B0604020202020204" pitchFamily="34" charset="0"/>
              <a:buChar char="•"/>
            </a:pPr>
            <a:r>
              <a:rPr lang="en-US" sz="2000" dirty="0"/>
              <a:t>Attention to detail</a:t>
            </a:r>
          </a:p>
          <a:p>
            <a:pPr marL="285750" indent="-285750">
              <a:buFont typeface="Arial" panose="020B0604020202020204" pitchFamily="34" charset="0"/>
              <a:buChar char="•"/>
            </a:pPr>
            <a:endParaRPr lang="en-US" dirty="0"/>
          </a:p>
          <a:p>
            <a:endParaRPr lang="en-US" dirty="0"/>
          </a:p>
          <a:p>
            <a:endParaRPr lang="en-US" dirty="0"/>
          </a:p>
        </p:txBody>
      </p:sp>
      <p:sp>
        <p:nvSpPr>
          <p:cNvPr id="33" name="Rectangle 32"/>
          <p:cNvSpPr/>
          <p:nvPr/>
        </p:nvSpPr>
        <p:spPr>
          <a:xfrm>
            <a:off x="7286867" y="6535300"/>
            <a:ext cx="2628546" cy="3046986"/>
          </a:xfrm>
          <a:prstGeom prst="rect">
            <a:avLst/>
          </a:prstGeom>
          <a:ln/>
        </p:spPr>
        <p:style>
          <a:lnRef idx="1">
            <a:schemeClr val="dk1"/>
          </a:lnRef>
          <a:fillRef idx="2">
            <a:schemeClr val="dk1"/>
          </a:fillRef>
          <a:effectRef idx="1">
            <a:schemeClr val="dk1"/>
          </a:effectRef>
          <a:fontRef idx="minor">
            <a:schemeClr val="dk1"/>
          </a:fontRef>
        </p:style>
        <p:txBody>
          <a:bodyPr wrap="square" lIns="91439" tIns="45719" rIns="91439" bIns="45719">
            <a:spAutoFit/>
          </a:bodyPr>
          <a:lstStyle/>
          <a:p>
            <a:r>
              <a:rPr lang="en-US" dirty="0"/>
              <a:t>Key Strengths and abilities </a:t>
            </a:r>
          </a:p>
          <a:p>
            <a:endParaRPr lang="en-US" dirty="0"/>
          </a:p>
          <a:p>
            <a:pPr marL="285750" indent="-285750">
              <a:buFont typeface="Arial" panose="020B0604020202020204" pitchFamily="34" charset="0"/>
              <a:buChar char="•"/>
            </a:pPr>
            <a:r>
              <a:rPr lang="en-US" sz="2000" dirty="0"/>
              <a:t>Networking</a:t>
            </a:r>
          </a:p>
          <a:p>
            <a:pPr marL="285750" indent="-285750">
              <a:buFont typeface="Arial" panose="020B0604020202020204" pitchFamily="34" charset="0"/>
              <a:buChar char="•"/>
            </a:pPr>
            <a:r>
              <a:rPr lang="en-US" sz="2000" dirty="0"/>
              <a:t>Handling Customers</a:t>
            </a:r>
          </a:p>
          <a:p>
            <a:pPr marL="285750" indent="-285750">
              <a:buFont typeface="Arial" panose="020B0604020202020204" pitchFamily="34" charset="0"/>
              <a:buChar char="•"/>
            </a:pPr>
            <a:r>
              <a:rPr lang="en-US" sz="2000" dirty="0"/>
              <a:t>Teamwork and collaboration</a:t>
            </a:r>
          </a:p>
          <a:p>
            <a:pPr marL="285750" indent="-285750">
              <a:buFont typeface="Arial" panose="020B0604020202020204" pitchFamily="34" charset="0"/>
              <a:buChar char="•"/>
            </a:pPr>
            <a:r>
              <a:rPr lang="en-US" sz="2000" dirty="0"/>
              <a:t>Creativity and innovation</a:t>
            </a:r>
          </a:p>
          <a:p>
            <a:endParaRPr lang="en-US" dirty="0"/>
          </a:p>
          <a:p>
            <a:endParaRPr lang="en-US" dirty="0"/>
          </a:p>
        </p:txBody>
      </p:sp>
      <p:sp>
        <p:nvSpPr>
          <p:cNvPr id="15" name="Rectangle 14"/>
          <p:cNvSpPr/>
          <p:nvPr/>
        </p:nvSpPr>
        <p:spPr>
          <a:xfrm>
            <a:off x="10696364" y="3592686"/>
            <a:ext cx="6853156" cy="4748990"/>
          </a:xfrm>
          <a:prstGeom prst="rect">
            <a:avLst/>
          </a:prstGeom>
          <a:ln/>
        </p:spPr>
        <p:style>
          <a:lnRef idx="1">
            <a:schemeClr val="accent5"/>
          </a:lnRef>
          <a:fillRef idx="2">
            <a:schemeClr val="accent5"/>
          </a:fillRef>
          <a:effectRef idx="1">
            <a:schemeClr val="accent5"/>
          </a:effectRef>
          <a:fontRef idx="minor">
            <a:schemeClr val="dk1"/>
          </a:fontRef>
        </p:style>
        <p:txBody>
          <a:bodyPr wrap="square" lIns="91439" tIns="45719" rIns="91439" bIns="45719">
            <a:spAutoFit/>
          </a:bodyPr>
          <a:lstStyle/>
          <a:p>
            <a:pPr>
              <a:lnSpc>
                <a:spcPct val="90000"/>
              </a:lnSpc>
              <a:spcBef>
                <a:spcPts val="750"/>
              </a:spcBef>
              <a:buClr>
                <a:srgbClr val="000000"/>
              </a:buClr>
            </a:pPr>
            <a:r>
              <a:rPr lang="en-GB" b="1" kern="0" dirty="0">
                <a:solidFill>
                  <a:srgbClr val="000000"/>
                </a:solidFill>
                <a:latin typeface="Arial"/>
                <a:ea typeface="+mn-lt"/>
                <a:cs typeface="Arial"/>
                <a:sym typeface="Arial"/>
              </a:rPr>
              <a:t>What makes us a good team to solve the problem we chose?</a:t>
            </a:r>
          </a:p>
          <a:p>
            <a:pPr>
              <a:lnSpc>
                <a:spcPct val="90000"/>
              </a:lnSpc>
              <a:spcBef>
                <a:spcPts val="750"/>
              </a:spcBef>
              <a:buClr>
                <a:srgbClr val="000000"/>
              </a:buClr>
            </a:pPr>
            <a:endParaRPr lang="en-GB" kern="0" dirty="0">
              <a:solidFill>
                <a:srgbClr val="000000"/>
              </a:solidFill>
              <a:latin typeface="Arial"/>
              <a:ea typeface="+mn-lt"/>
              <a:cs typeface="Arial"/>
              <a:sym typeface="Arial"/>
            </a:endParaRPr>
          </a:p>
          <a:p>
            <a:pPr algn="just">
              <a:lnSpc>
                <a:spcPct val="90000"/>
              </a:lnSpc>
              <a:spcBef>
                <a:spcPts val="750"/>
              </a:spcBef>
              <a:buClr>
                <a:srgbClr val="000000"/>
              </a:buClr>
            </a:pPr>
            <a:r>
              <a:rPr lang="en-US" sz="2000" kern="0" dirty="0">
                <a:solidFill>
                  <a:srgbClr val="000000"/>
                </a:solidFill>
                <a:latin typeface="Arial"/>
                <a:ea typeface="+mn-lt"/>
                <a:cs typeface="Arial"/>
                <a:sym typeface="Arial"/>
              </a:rPr>
              <a:t>Our team is uniquely positioned to tackle the challenges in the T-shirt venture. With a blend of diverse skills encompassing design, marketing, and logistics, we offer comprehensive problem-solving capabilities. Fueled by a genuine passion for fashion and backed by extensive market research, we possess a deep understanding of customer preferences and emerging trends. Our collaborative approach fosters innovation, allowing us to leverage each member's strengths effectively. Drawing from past successes, we are adaptable and resilient in navigating uncertainties. Above all, our unwavering commitment to customer satisfaction drives us to create T-shirt designs that truly resonate with our target audience.</a:t>
            </a:r>
            <a:endParaRPr lang="en-GB" sz="2000" kern="0" dirty="0">
              <a:solidFill>
                <a:srgbClr val="000000"/>
              </a:solidFill>
              <a:latin typeface="Arial"/>
              <a:ea typeface="+mn-lt"/>
              <a:cs typeface="Arial"/>
              <a:sym typeface="Arial"/>
            </a:endParaRPr>
          </a:p>
          <a:p>
            <a:pPr>
              <a:lnSpc>
                <a:spcPct val="90000"/>
              </a:lnSpc>
              <a:spcBef>
                <a:spcPts val="750"/>
              </a:spcBef>
              <a:buClr>
                <a:srgbClr val="000000"/>
              </a:buClr>
            </a:pPr>
            <a:endParaRPr lang="en-GB" b="1" kern="0" dirty="0">
              <a:solidFill>
                <a:srgbClr val="000000"/>
              </a:solidFill>
              <a:latin typeface="Arial"/>
              <a:ea typeface="+mn-lt"/>
              <a:cs typeface="Arial"/>
              <a:sym typeface="Arial"/>
            </a:endParaRPr>
          </a:p>
        </p:txBody>
      </p:sp>
      <p:pic>
        <p:nvPicPr>
          <p:cNvPr id="2" name="Picture 1">
            <a:extLst>
              <a:ext uri="{FF2B5EF4-FFF2-40B4-BE49-F238E27FC236}">
                <a16:creationId xmlns:a16="http://schemas.microsoft.com/office/drawing/2014/main" id="{E55353CA-7887-5DD0-A2A7-A0E1BB91A803}"/>
              </a:ext>
            </a:extLst>
          </p:cNvPr>
          <p:cNvPicPr>
            <a:picLocks noChangeAspect="1"/>
          </p:cNvPicPr>
          <p:nvPr/>
        </p:nvPicPr>
        <p:blipFill>
          <a:blip r:embed="rId3"/>
          <a:stretch>
            <a:fillRect/>
          </a:stretch>
        </p:blipFill>
        <p:spPr>
          <a:xfrm>
            <a:off x="16306801" y="342902"/>
            <a:ext cx="1499746" cy="1585097"/>
          </a:xfrm>
          <a:prstGeom prst="rect">
            <a:avLst/>
          </a:prstGeom>
        </p:spPr>
      </p:pic>
      <p:sp>
        <p:nvSpPr>
          <p:cNvPr id="22" name="Oval 21"/>
          <p:cNvSpPr/>
          <p:nvPr/>
        </p:nvSpPr>
        <p:spPr>
          <a:xfrm>
            <a:off x="857192" y="2786047"/>
            <a:ext cx="1714512" cy="1643075"/>
          </a:xfrm>
          <a:prstGeom prst="ellipse">
            <a:avLst/>
          </a:prstGeom>
          <a:blipFill>
            <a:blip r:embed="rId4"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rtlCol="0" anchor="ctr"/>
          <a:lstStyle/>
          <a:p>
            <a:pPr algn="ctr"/>
            <a:endParaRPr lang="en-US"/>
          </a:p>
        </p:txBody>
      </p:sp>
      <p:sp>
        <p:nvSpPr>
          <p:cNvPr id="23" name="Oval 22"/>
          <p:cNvSpPr/>
          <p:nvPr/>
        </p:nvSpPr>
        <p:spPr>
          <a:xfrm>
            <a:off x="4571968" y="2786047"/>
            <a:ext cx="1714512" cy="1643075"/>
          </a:xfrm>
          <a:prstGeom prst="ellipse">
            <a:avLst/>
          </a:prstGeom>
          <a:blipFill>
            <a:blip r:embed="rId5"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rtlCol="0" anchor="ctr"/>
          <a:lstStyle/>
          <a:p>
            <a:pPr algn="ctr"/>
            <a:endParaRPr lang="en-US"/>
          </a:p>
        </p:txBody>
      </p:sp>
      <p:sp>
        <p:nvSpPr>
          <p:cNvPr id="26" name="Oval 25"/>
          <p:cNvSpPr/>
          <p:nvPr/>
        </p:nvSpPr>
        <p:spPr>
          <a:xfrm>
            <a:off x="7572364" y="2714609"/>
            <a:ext cx="1714512" cy="1643075"/>
          </a:xfrm>
          <a:prstGeom prst="ellipse">
            <a:avLst/>
          </a:prstGeom>
          <a:blipFill>
            <a:blip r:embed="rId6"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rtlCol="0" anchor="ctr"/>
          <a:lstStyle/>
          <a:p>
            <a:pPr algn="ctr"/>
            <a:endParaRPr lang="en-US"/>
          </a:p>
        </p:txBody>
      </p:sp>
    </p:spTree>
    <p:extLst>
      <p:ext uri="{BB962C8B-B14F-4D97-AF65-F5344CB8AC3E}">
        <p14:creationId xmlns:p14="http://schemas.microsoft.com/office/powerpoint/2010/main" val="3057889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 y="-41076"/>
            <a:ext cx="18310194" cy="10287000"/>
          </a:xfrm>
          <a:prstGeom prst="rect">
            <a:avLst/>
          </a:prstGeom>
        </p:spPr>
      </p:pic>
      <p:pic>
        <p:nvPicPr>
          <p:cNvPr id="4" name="Picture 4"/>
          <p:cNvPicPr>
            <a:picLocks noChangeAspect="1"/>
          </p:cNvPicPr>
          <p:nvPr/>
        </p:nvPicPr>
        <p:blipFill>
          <a:blip r:embed="rId4"/>
          <a:srcRect/>
          <a:stretch>
            <a:fillRect/>
          </a:stretch>
        </p:blipFill>
        <p:spPr>
          <a:xfrm>
            <a:off x="15544800" y="419100"/>
            <a:ext cx="2278600" cy="1131276"/>
          </a:xfrm>
          <a:prstGeom prst="rect">
            <a:avLst/>
          </a:prstGeom>
        </p:spPr>
      </p:pic>
      <p:sp>
        <p:nvSpPr>
          <p:cNvPr id="6" name="TextBox 6"/>
          <p:cNvSpPr txBox="1"/>
          <p:nvPr/>
        </p:nvSpPr>
        <p:spPr>
          <a:xfrm>
            <a:off x="3581400" y="3898620"/>
            <a:ext cx="9147308" cy="3847207"/>
          </a:xfrm>
          <a:prstGeom prst="rect">
            <a:avLst/>
          </a:prstGeom>
        </p:spPr>
        <p:txBody>
          <a:bodyPr lIns="0" tIns="0" rIns="0" bIns="0" rtlCol="0" anchor="t">
            <a:spAutoFit/>
          </a:bodyPr>
          <a:lstStyle/>
          <a:p>
            <a:pPr algn="ctr">
              <a:lnSpc>
                <a:spcPts val="15000"/>
              </a:lnSpc>
            </a:pPr>
            <a:r>
              <a:rPr lang="en-US" sz="15000" dirty="0">
                <a:solidFill>
                  <a:srgbClr val="FFFFFF"/>
                </a:solidFill>
                <a:latin typeface="Agrandir Wide Black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13831</TotalTime>
  <Words>3636</Words>
  <Application>Microsoft Office PowerPoint</Application>
  <PresentationFormat>Custom</PresentationFormat>
  <Paragraphs>569</Paragraphs>
  <Slides>26</Slides>
  <Notes>10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26</vt:i4>
      </vt:variant>
    </vt:vector>
  </HeadingPairs>
  <TitlesOfParts>
    <vt:vector size="45" baseType="lpstr">
      <vt:lpstr>charter</vt:lpstr>
      <vt:lpstr>TT Rounds Condensed</vt:lpstr>
      <vt:lpstr>Agrandir Wide Black Bold</vt:lpstr>
      <vt:lpstr>Raleway</vt:lpstr>
      <vt:lpstr>Antonio Bold</vt:lpstr>
      <vt:lpstr>Arimo</vt:lpstr>
      <vt:lpstr>Wingdings</vt:lpstr>
      <vt:lpstr>Open Sans</vt:lpstr>
      <vt:lpstr>Calibri</vt:lpstr>
      <vt:lpstr>Gill Sans</vt:lpstr>
      <vt:lpstr>Barlow</vt:lpstr>
      <vt:lpstr>Montserrat</vt:lpstr>
      <vt:lpstr>Verdana</vt:lpstr>
      <vt:lpstr>Avenir</vt:lpstr>
      <vt:lpstr>Arial</vt:lpstr>
      <vt:lpstr>Nunito</vt:lpstr>
      <vt:lpstr>Lexend Deca</vt:lpstr>
      <vt:lpstr>Times New Roman</vt:lpstr>
      <vt:lpstr>Office Theme</vt:lpstr>
      <vt:lpstr>PowerPoint Presentation</vt:lpstr>
      <vt:lpstr>PowerPoint Presentation</vt:lpstr>
      <vt:lpstr>Problem/Opportunity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MVP</vt:lpstr>
      <vt:lpstr>Venture Website</vt:lpstr>
      <vt:lpstr>Ai generated Sample Designs </vt:lpstr>
      <vt:lpstr>Ai tool(copilot)</vt:lpstr>
      <vt:lpstr>Social Media</vt:lpstr>
      <vt:lpstr>PowerPoint Presentation</vt:lpstr>
      <vt:lpstr>PowerPoint Presentation</vt:lpstr>
      <vt:lpstr>Go-to-Market Strategy</vt:lpstr>
      <vt:lpstr>Go-to-Market Strategy</vt:lpstr>
      <vt:lpstr>PowerPoint Presentation</vt:lpstr>
      <vt:lpstr>PowerPoint Presentation</vt:lpstr>
      <vt:lpstr>PowerPoint Presentation</vt:lpstr>
      <vt:lpstr>Unit Economics</vt:lpstr>
      <vt:lpstr>Funding Plan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Next-Gen 2021: Global Program Overview Editable Deck</dc:title>
  <dc:creator>R.Sujatha</dc:creator>
  <cp:lastModifiedBy>NOORUL HASSAN</cp:lastModifiedBy>
  <cp:revision>241</cp:revision>
  <dcterms:created xsi:type="dcterms:W3CDTF">2006-08-16T00:00:00Z</dcterms:created>
  <dcterms:modified xsi:type="dcterms:W3CDTF">2024-05-20T07:49:34Z</dcterms:modified>
  <dc:identifier>DAEgz1I4riU</dc:identifier>
</cp:coreProperties>
</file>